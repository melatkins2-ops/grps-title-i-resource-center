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4"/>
  </p:sldMasterIdLst>
  <p:notesMasterIdLst>
    <p:notesMasterId r:id="rId47"/>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93" r:id="rId17"/>
    <p:sldId id="268" r:id="rId18"/>
    <p:sldId id="269" r:id="rId19"/>
    <p:sldId id="270" r:id="rId20"/>
    <p:sldId id="285" r:id="rId21"/>
    <p:sldId id="286" r:id="rId22"/>
    <p:sldId id="271" r:id="rId23"/>
    <p:sldId id="272" r:id="rId24"/>
    <p:sldId id="297" r:id="rId25"/>
    <p:sldId id="273" r:id="rId26"/>
    <p:sldId id="274" r:id="rId27"/>
    <p:sldId id="275" r:id="rId28"/>
    <p:sldId id="276" r:id="rId29"/>
    <p:sldId id="277" r:id="rId30"/>
    <p:sldId id="278" r:id="rId31"/>
    <p:sldId id="295" r:id="rId32"/>
    <p:sldId id="279" r:id="rId33"/>
    <p:sldId id="280" r:id="rId34"/>
    <p:sldId id="281" r:id="rId35"/>
    <p:sldId id="282" r:id="rId36"/>
    <p:sldId id="288" r:id="rId37"/>
    <p:sldId id="287" r:id="rId38"/>
    <p:sldId id="289" r:id="rId39"/>
    <p:sldId id="290" r:id="rId40"/>
    <p:sldId id="294" r:id="rId41"/>
    <p:sldId id="291" r:id="rId42"/>
    <p:sldId id="292" r:id="rId43"/>
    <p:sldId id="283" r:id="rId44"/>
    <p:sldId id="284" r:id="rId45"/>
    <p:sldId id="296" r:id="rId46"/>
  </p:sldIdLst>
  <p:sldSz cx="12192000" cy="6858000"/>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hX53e2nBuiLQx0MTgtY3Iw57Ds/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9FD73B-6FD3-4E54-9FBB-6FAA2DBB643F}" v="6" dt="2025-09-30T16:15:39.3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202" autoAdjust="0"/>
  </p:normalViewPr>
  <p:slideViewPr>
    <p:cSldViewPr snapToGrid="0">
      <p:cViewPr varScale="1">
        <p:scale>
          <a:sx n="65" d="100"/>
          <a:sy n="65" d="100"/>
        </p:scale>
        <p:origin x="133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customschemas.google.com/relationships/presentationmetadata" Target="metadata"/><Relationship Id="rId8" Type="http://schemas.openxmlformats.org/officeDocument/2006/relationships/slide" Target="slides/slide4.xml"/><Relationship Id="rId5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gers, Andrea (MDE)" userId="c22e0cfb-b6a1-4299-bb45-976d4050087a" providerId="ADAL" clId="{53C0F991-AB70-4DAC-A6F7-5F3EB00469B9}"/>
    <pc:docChg chg="undo custSel addSld modSld modNotesMaster">
      <pc:chgData name="Rogers, Andrea (MDE)" userId="c22e0cfb-b6a1-4299-bb45-976d4050087a" providerId="ADAL" clId="{53C0F991-AB70-4DAC-A6F7-5F3EB00469B9}" dt="2025-06-30T17:35:32.907" v="2074"/>
      <pc:docMkLst>
        <pc:docMk/>
      </pc:docMkLst>
      <pc:sldChg chg="modSp mod modNotes">
        <pc:chgData name="Rogers, Andrea (MDE)" userId="c22e0cfb-b6a1-4299-bb45-976d4050087a" providerId="ADAL" clId="{53C0F991-AB70-4DAC-A6F7-5F3EB00469B9}" dt="2025-06-30T17:35:32.907" v="2074"/>
        <pc:sldMkLst>
          <pc:docMk/>
          <pc:sldMk cId="0" sldId="256"/>
        </pc:sldMkLst>
      </pc:sldChg>
      <pc:sldChg chg="modNotes">
        <pc:chgData name="Rogers, Andrea (MDE)" userId="c22e0cfb-b6a1-4299-bb45-976d4050087a" providerId="ADAL" clId="{53C0F991-AB70-4DAC-A6F7-5F3EB00469B9}" dt="2025-06-30T17:35:32.907" v="2074"/>
        <pc:sldMkLst>
          <pc:docMk/>
          <pc:sldMk cId="0" sldId="257"/>
        </pc:sldMkLst>
      </pc:sldChg>
      <pc:sldChg chg="modNotes">
        <pc:chgData name="Rogers, Andrea (MDE)" userId="c22e0cfb-b6a1-4299-bb45-976d4050087a" providerId="ADAL" clId="{53C0F991-AB70-4DAC-A6F7-5F3EB00469B9}" dt="2025-06-30T17:35:32.907" v="2074"/>
        <pc:sldMkLst>
          <pc:docMk/>
          <pc:sldMk cId="0" sldId="258"/>
        </pc:sldMkLst>
      </pc:sldChg>
      <pc:sldChg chg="modNotes">
        <pc:chgData name="Rogers, Andrea (MDE)" userId="c22e0cfb-b6a1-4299-bb45-976d4050087a" providerId="ADAL" clId="{53C0F991-AB70-4DAC-A6F7-5F3EB00469B9}" dt="2025-06-30T17:35:32.907" v="2074"/>
        <pc:sldMkLst>
          <pc:docMk/>
          <pc:sldMk cId="0" sldId="259"/>
        </pc:sldMkLst>
      </pc:sldChg>
      <pc:sldChg chg="modNotes">
        <pc:chgData name="Rogers, Andrea (MDE)" userId="c22e0cfb-b6a1-4299-bb45-976d4050087a" providerId="ADAL" clId="{53C0F991-AB70-4DAC-A6F7-5F3EB00469B9}" dt="2025-06-30T17:35:32.907" v="2074"/>
        <pc:sldMkLst>
          <pc:docMk/>
          <pc:sldMk cId="0" sldId="260"/>
        </pc:sldMkLst>
      </pc:sldChg>
      <pc:sldChg chg="modNotes">
        <pc:chgData name="Rogers, Andrea (MDE)" userId="c22e0cfb-b6a1-4299-bb45-976d4050087a" providerId="ADAL" clId="{53C0F991-AB70-4DAC-A6F7-5F3EB00469B9}" dt="2025-06-30T17:35:32.907" v="2074"/>
        <pc:sldMkLst>
          <pc:docMk/>
          <pc:sldMk cId="0" sldId="261"/>
        </pc:sldMkLst>
      </pc:sldChg>
      <pc:sldChg chg="modNotes">
        <pc:chgData name="Rogers, Andrea (MDE)" userId="c22e0cfb-b6a1-4299-bb45-976d4050087a" providerId="ADAL" clId="{53C0F991-AB70-4DAC-A6F7-5F3EB00469B9}" dt="2025-06-30T17:35:32.907" v="2074"/>
        <pc:sldMkLst>
          <pc:docMk/>
          <pc:sldMk cId="0" sldId="262"/>
        </pc:sldMkLst>
      </pc:sldChg>
      <pc:sldChg chg="modNotes">
        <pc:chgData name="Rogers, Andrea (MDE)" userId="c22e0cfb-b6a1-4299-bb45-976d4050087a" providerId="ADAL" clId="{53C0F991-AB70-4DAC-A6F7-5F3EB00469B9}" dt="2025-06-30T17:35:32.907" v="2074"/>
        <pc:sldMkLst>
          <pc:docMk/>
          <pc:sldMk cId="0" sldId="263"/>
        </pc:sldMkLst>
      </pc:sldChg>
      <pc:sldChg chg="modNotes">
        <pc:chgData name="Rogers, Andrea (MDE)" userId="c22e0cfb-b6a1-4299-bb45-976d4050087a" providerId="ADAL" clId="{53C0F991-AB70-4DAC-A6F7-5F3EB00469B9}" dt="2025-06-30T17:35:32.907" v="2074"/>
        <pc:sldMkLst>
          <pc:docMk/>
          <pc:sldMk cId="0" sldId="264"/>
        </pc:sldMkLst>
      </pc:sldChg>
      <pc:sldChg chg="modNotes">
        <pc:chgData name="Rogers, Andrea (MDE)" userId="c22e0cfb-b6a1-4299-bb45-976d4050087a" providerId="ADAL" clId="{53C0F991-AB70-4DAC-A6F7-5F3EB00469B9}" dt="2025-06-30T17:35:32.907" v="2074"/>
        <pc:sldMkLst>
          <pc:docMk/>
          <pc:sldMk cId="0" sldId="265"/>
        </pc:sldMkLst>
      </pc:sldChg>
      <pc:sldChg chg="modNotes">
        <pc:chgData name="Rogers, Andrea (MDE)" userId="c22e0cfb-b6a1-4299-bb45-976d4050087a" providerId="ADAL" clId="{53C0F991-AB70-4DAC-A6F7-5F3EB00469B9}" dt="2025-06-30T17:35:32.907" v="2074"/>
        <pc:sldMkLst>
          <pc:docMk/>
          <pc:sldMk cId="0" sldId="266"/>
        </pc:sldMkLst>
      </pc:sldChg>
      <pc:sldChg chg="modNotes">
        <pc:chgData name="Rogers, Andrea (MDE)" userId="c22e0cfb-b6a1-4299-bb45-976d4050087a" providerId="ADAL" clId="{53C0F991-AB70-4DAC-A6F7-5F3EB00469B9}" dt="2025-06-30T17:35:32.907" v="2074"/>
        <pc:sldMkLst>
          <pc:docMk/>
          <pc:sldMk cId="0" sldId="267"/>
        </pc:sldMkLst>
      </pc:sldChg>
      <pc:sldChg chg="modNotes">
        <pc:chgData name="Rogers, Andrea (MDE)" userId="c22e0cfb-b6a1-4299-bb45-976d4050087a" providerId="ADAL" clId="{53C0F991-AB70-4DAC-A6F7-5F3EB00469B9}" dt="2025-06-30T17:35:32.907" v="2074"/>
        <pc:sldMkLst>
          <pc:docMk/>
          <pc:sldMk cId="0" sldId="268"/>
        </pc:sldMkLst>
      </pc:sldChg>
      <pc:sldChg chg="modNotes">
        <pc:chgData name="Rogers, Andrea (MDE)" userId="c22e0cfb-b6a1-4299-bb45-976d4050087a" providerId="ADAL" clId="{53C0F991-AB70-4DAC-A6F7-5F3EB00469B9}" dt="2025-06-30T17:35:32.907" v="2074"/>
        <pc:sldMkLst>
          <pc:docMk/>
          <pc:sldMk cId="0" sldId="269"/>
        </pc:sldMkLst>
      </pc:sldChg>
      <pc:sldChg chg="modSp mod modNotes">
        <pc:chgData name="Rogers, Andrea (MDE)" userId="c22e0cfb-b6a1-4299-bb45-976d4050087a" providerId="ADAL" clId="{53C0F991-AB70-4DAC-A6F7-5F3EB00469B9}" dt="2025-06-30T17:35:32.907" v="2074"/>
        <pc:sldMkLst>
          <pc:docMk/>
          <pc:sldMk cId="0" sldId="270"/>
        </pc:sldMkLst>
      </pc:sldChg>
      <pc:sldChg chg="modNotes">
        <pc:chgData name="Rogers, Andrea (MDE)" userId="c22e0cfb-b6a1-4299-bb45-976d4050087a" providerId="ADAL" clId="{53C0F991-AB70-4DAC-A6F7-5F3EB00469B9}" dt="2025-06-30T17:35:32.907" v="2074"/>
        <pc:sldMkLst>
          <pc:docMk/>
          <pc:sldMk cId="0" sldId="271"/>
        </pc:sldMkLst>
      </pc:sldChg>
      <pc:sldChg chg="modNotes">
        <pc:chgData name="Rogers, Andrea (MDE)" userId="c22e0cfb-b6a1-4299-bb45-976d4050087a" providerId="ADAL" clId="{53C0F991-AB70-4DAC-A6F7-5F3EB00469B9}" dt="2025-06-30T17:35:32.907" v="2074"/>
        <pc:sldMkLst>
          <pc:docMk/>
          <pc:sldMk cId="0" sldId="272"/>
        </pc:sldMkLst>
      </pc:sldChg>
      <pc:sldChg chg="modNotes">
        <pc:chgData name="Rogers, Andrea (MDE)" userId="c22e0cfb-b6a1-4299-bb45-976d4050087a" providerId="ADAL" clId="{53C0F991-AB70-4DAC-A6F7-5F3EB00469B9}" dt="2025-06-30T17:35:32.907" v="2074"/>
        <pc:sldMkLst>
          <pc:docMk/>
          <pc:sldMk cId="0" sldId="273"/>
        </pc:sldMkLst>
      </pc:sldChg>
      <pc:sldChg chg="modNotes">
        <pc:chgData name="Rogers, Andrea (MDE)" userId="c22e0cfb-b6a1-4299-bb45-976d4050087a" providerId="ADAL" clId="{53C0F991-AB70-4DAC-A6F7-5F3EB00469B9}" dt="2025-06-30T17:35:32.907" v="2074"/>
        <pc:sldMkLst>
          <pc:docMk/>
          <pc:sldMk cId="0" sldId="274"/>
        </pc:sldMkLst>
      </pc:sldChg>
      <pc:sldChg chg="modNotes">
        <pc:chgData name="Rogers, Andrea (MDE)" userId="c22e0cfb-b6a1-4299-bb45-976d4050087a" providerId="ADAL" clId="{53C0F991-AB70-4DAC-A6F7-5F3EB00469B9}" dt="2025-06-30T17:35:32.907" v="2074"/>
        <pc:sldMkLst>
          <pc:docMk/>
          <pc:sldMk cId="0" sldId="275"/>
        </pc:sldMkLst>
      </pc:sldChg>
      <pc:sldChg chg="modNotes">
        <pc:chgData name="Rogers, Andrea (MDE)" userId="c22e0cfb-b6a1-4299-bb45-976d4050087a" providerId="ADAL" clId="{53C0F991-AB70-4DAC-A6F7-5F3EB00469B9}" dt="2025-06-30T17:35:32.907" v="2074"/>
        <pc:sldMkLst>
          <pc:docMk/>
          <pc:sldMk cId="0" sldId="276"/>
        </pc:sldMkLst>
      </pc:sldChg>
      <pc:sldChg chg="modNotes">
        <pc:chgData name="Rogers, Andrea (MDE)" userId="c22e0cfb-b6a1-4299-bb45-976d4050087a" providerId="ADAL" clId="{53C0F991-AB70-4DAC-A6F7-5F3EB00469B9}" dt="2025-06-30T17:35:32.907" v="2074"/>
        <pc:sldMkLst>
          <pc:docMk/>
          <pc:sldMk cId="0" sldId="277"/>
        </pc:sldMkLst>
      </pc:sldChg>
      <pc:sldChg chg="modNotes">
        <pc:chgData name="Rogers, Andrea (MDE)" userId="c22e0cfb-b6a1-4299-bb45-976d4050087a" providerId="ADAL" clId="{53C0F991-AB70-4DAC-A6F7-5F3EB00469B9}" dt="2025-06-30T17:35:32.907" v="2074"/>
        <pc:sldMkLst>
          <pc:docMk/>
          <pc:sldMk cId="0" sldId="278"/>
        </pc:sldMkLst>
      </pc:sldChg>
      <pc:sldChg chg="modNotes">
        <pc:chgData name="Rogers, Andrea (MDE)" userId="c22e0cfb-b6a1-4299-bb45-976d4050087a" providerId="ADAL" clId="{53C0F991-AB70-4DAC-A6F7-5F3EB00469B9}" dt="2025-06-30T17:35:32.907" v="2074"/>
        <pc:sldMkLst>
          <pc:docMk/>
          <pc:sldMk cId="0" sldId="279"/>
        </pc:sldMkLst>
      </pc:sldChg>
      <pc:sldChg chg="modNotes">
        <pc:chgData name="Rogers, Andrea (MDE)" userId="c22e0cfb-b6a1-4299-bb45-976d4050087a" providerId="ADAL" clId="{53C0F991-AB70-4DAC-A6F7-5F3EB00469B9}" dt="2025-06-30T17:35:32.907" v="2074"/>
        <pc:sldMkLst>
          <pc:docMk/>
          <pc:sldMk cId="0" sldId="280"/>
        </pc:sldMkLst>
      </pc:sldChg>
      <pc:sldChg chg="modNotes">
        <pc:chgData name="Rogers, Andrea (MDE)" userId="c22e0cfb-b6a1-4299-bb45-976d4050087a" providerId="ADAL" clId="{53C0F991-AB70-4DAC-A6F7-5F3EB00469B9}" dt="2025-06-30T17:35:32.907" v="2074"/>
        <pc:sldMkLst>
          <pc:docMk/>
          <pc:sldMk cId="0" sldId="281"/>
        </pc:sldMkLst>
      </pc:sldChg>
      <pc:sldChg chg="modSp mod modNotes">
        <pc:chgData name="Rogers, Andrea (MDE)" userId="c22e0cfb-b6a1-4299-bb45-976d4050087a" providerId="ADAL" clId="{53C0F991-AB70-4DAC-A6F7-5F3EB00469B9}" dt="2025-06-30T17:35:32.907" v="2074"/>
        <pc:sldMkLst>
          <pc:docMk/>
          <pc:sldMk cId="0" sldId="282"/>
        </pc:sldMkLst>
      </pc:sldChg>
      <pc:sldChg chg="modNotes">
        <pc:chgData name="Rogers, Andrea (MDE)" userId="c22e0cfb-b6a1-4299-bb45-976d4050087a" providerId="ADAL" clId="{53C0F991-AB70-4DAC-A6F7-5F3EB00469B9}" dt="2025-06-30T17:35:32.907" v="2074"/>
        <pc:sldMkLst>
          <pc:docMk/>
          <pc:sldMk cId="0" sldId="283"/>
        </pc:sldMkLst>
      </pc:sldChg>
      <pc:sldChg chg="modNotes">
        <pc:chgData name="Rogers, Andrea (MDE)" userId="c22e0cfb-b6a1-4299-bb45-976d4050087a" providerId="ADAL" clId="{53C0F991-AB70-4DAC-A6F7-5F3EB00469B9}" dt="2025-06-30T17:35:32.907" v="2074"/>
        <pc:sldMkLst>
          <pc:docMk/>
          <pc:sldMk cId="0" sldId="284"/>
        </pc:sldMkLst>
      </pc:sldChg>
      <pc:sldChg chg="modSp new mod">
        <pc:chgData name="Rogers, Andrea (MDE)" userId="c22e0cfb-b6a1-4299-bb45-976d4050087a" providerId="ADAL" clId="{53C0F991-AB70-4DAC-A6F7-5F3EB00469B9}" dt="2025-06-30T17:33:40.619" v="2067" actId="20577"/>
        <pc:sldMkLst>
          <pc:docMk/>
          <pc:sldMk cId="2251573882" sldId="287"/>
        </pc:sldMkLst>
      </pc:sldChg>
      <pc:sldChg chg="modSp new mod">
        <pc:chgData name="Rogers, Andrea (MDE)" userId="c22e0cfb-b6a1-4299-bb45-976d4050087a" providerId="ADAL" clId="{53C0F991-AB70-4DAC-A6F7-5F3EB00469B9}" dt="2025-06-30T17:20:25.792" v="114" actId="20577"/>
        <pc:sldMkLst>
          <pc:docMk/>
          <pc:sldMk cId="1116232948" sldId="288"/>
        </pc:sldMkLst>
      </pc:sldChg>
      <pc:sldChg chg="modSp new mod">
        <pc:chgData name="Rogers, Andrea (MDE)" userId="c22e0cfb-b6a1-4299-bb45-976d4050087a" providerId="ADAL" clId="{53C0F991-AB70-4DAC-A6F7-5F3EB00469B9}" dt="2025-06-30T17:33:50.152" v="2068"/>
        <pc:sldMkLst>
          <pc:docMk/>
          <pc:sldMk cId="3446249234" sldId="289"/>
        </pc:sldMkLst>
      </pc:sldChg>
      <pc:sldChg chg="addSp delSp modSp new mod">
        <pc:chgData name="Rogers, Andrea (MDE)" userId="c22e0cfb-b6a1-4299-bb45-976d4050087a" providerId="ADAL" clId="{53C0F991-AB70-4DAC-A6F7-5F3EB00469B9}" dt="2025-06-30T17:27:44.371" v="1057" actId="22"/>
        <pc:sldMkLst>
          <pc:docMk/>
          <pc:sldMk cId="2135009165" sldId="290"/>
        </pc:sldMkLst>
      </pc:sldChg>
      <pc:sldChg chg="addSp delSp modSp new mod modNotesTx">
        <pc:chgData name="Rogers, Andrea (MDE)" userId="c22e0cfb-b6a1-4299-bb45-976d4050087a" providerId="ADAL" clId="{53C0F991-AB70-4DAC-A6F7-5F3EB00469B9}" dt="2025-06-30T17:29:58.085" v="1449" actId="22"/>
        <pc:sldMkLst>
          <pc:docMk/>
          <pc:sldMk cId="749521126" sldId="291"/>
        </pc:sldMkLst>
      </pc:sldChg>
      <pc:sldChg chg="modSp new mod">
        <pc:chgData name="Rogers, Andrea (MDE)" userId="c22e0cfb-b6a1-4299-bb45-976d4050087a" providerId="ADAL" clId="{53C0F991-AB70-4DAC-A6F7-5F3EB00469B9}" dt="2025-06-30T17:31:59.780" v="1974" actId="33524"/>
        <pc:sldMkLst>
          <pc:docMk/>
          <pc:sldMk cId="1229864963" sldId="292"/>
        </pc:sldMkLst>
      </pc:sldChg>
    </pc:docChg>
  </pc:docChgLst>
  <pc:docChgLst>
    <pc:chgData name="Rogers, Andrea (MDE)" userId="c22e0cfb-b6a1-4299-bb45-976d4050087a" providerId="ADAL" clId="{FA9FD73B-6FD3-4E54-9FBB-6FAA2DBB643F}"/>
    <pc:docChg chg="undo custSel addSld modSld sldOrd">
      <pc:chgData name="Rogers, Andrea (MDE)" userId="c22e0cfb-b6a1-4299-bb45-976d4050087a" providerId="ADAL" clId="{FA9FD73B-6FD3-4E54-9FBB-6FAA2DBB643F}" dt="2025-09-30T16:15:15.474" v="4387" actId="33524"/>
      <pc:docMkLst>
        <pc:docMk/>
      </pc:docMkLst>
      <pc:sldChg chg="modSp mod">
        <pc:chgData name="Rogers, Andrea (MDE)" userId="c22e0cfb-b6a1-4299-bb45-976d4050087a" providerId="ADAL" clId="{FA9FD73B-6FD3-4E54-9FBB-6FAA2DBB643F}" dt="2025-09-25T15:26:23.269" v="15" actId="20577"/>
        <pc:sldMkLst>
          <pc:docMk/>
          <pc:sldMk cId="0" sldId="256"/>
        </pc:sldMkLst>
        <pc:spChg chg="mod">
          <ac:chgData name="Rogers, Andrea (MDE)" userId="c22e0cfb-b6a1-4299-bb45-976d4050087a" providerId="ADAL" clId="{FA9FD73B-6FD3-4E54-9FBB-6FAA2DBB643F}" dt="2025-09-25T15:26:23.269" v="15" actId="20577"/>
          <ac:spMkLst>
            <pc:docMk/>
            <pc:sldMk cId="0" sldId="256"/>
            <ac:spMk id="112" creationId="{00000000-0000-0000-0000-000000000000}"/>
          </ac:spMkLst>
        </pc:spChg>
      </pc:sldChg>
      <pc:sldChg chg="modSp mod">
        <pc:chgData name="Rogers, Andrea (MDE)" userId="c22e0cfb-b6a1-4299-bb45-976d4050087a" providerId="ADAL" clId="{FA9FD73B-6FD3-4E54-9FBB-6FAA2DBB643F}" dt="2025-09-25T15:26:33.681" v="16" actId="255"/>
        <pc:sldMkLst>
          <pc:docMk/>
          <pc:sldMk cId="0" sldId="257"/>
        </pc:sldMkLst>
        <pc:spChg chg="mod">
          <ac:chgData name="Rogers, Andrea (MDE)" userId="c22e0cfb-b6a1-4299-bb45-976d4050087a" providerId="ADAL" clId="{FA9FD73B-6FD3-4E54-9FBB-6FAA2DBB643F}" dt="2025-09-25T15:26:33.681" v="16" actId="255"/>
          <ac:spMkLst>
            <pc:docMk/>
            <pc:sldMk cId="0" sldId="257"/>
            <ac:spMk id="118" creationId="{00000000-0000-0000-0000-000000000000}"/>
          </ac:spMkLst>
        </pc:spChg>
      </pc:sldChg>
      <pc:sldChg chg="modSp mod">
        <pc:chgData name="Rogers, Andrea (MDE)" userId="c22e0cfb-b6a1-4299-bb45-976d4050087a" providerId="ADAL" clId="{FA9FD73B-6FD3-4E54-9FBB-6FAA2DBB643F}" dt="2025-09-30T16:02:31.520" v="2361" actId="14100"/>
        <pc:sldMkLst>
          <pc:docMk/>
          <pc:sldMk cId="0" sldId="260"/>
        </pc:sldMkLst>
        <pc:spChg chg="mod">
          <ac:chgData name="Rogers, Andrea (MDE)" userId="c22e0cfb-b6a1-4299-bb45-976d4050087a" providerId="ADAL" clId="{FA9FD73B-6FD3-4E54-9FBB-6FAA2DBB643F}" dt="2025-09-30T16:02:31.520" v="2361" actId="14100"/>
          <ac:spMkLst>
            <pc:docMk/>
            <pc:sldMk cId="0" sldId="260"/>
            <ac:spMk id="147" creationId="{00000000-0000-0000-0000-000000000000}"/>
          </ac:spMkLst>
        </pc:spChg>
      </pc:sldChg>
      <pc:sldChg chg="modNotesTx">
        <pc:chgData name="Rogers, Andrea (MDE)" userId="c22e0cfb-b6a1-4299-bb45-976d4050087a" providerId="ADAL" clId="{FA9FD73B-6FD3-4E54-9FBB-6FAA2DBB643F}" dt="2025-09-30T16:03:11.247" v="2460" actId="20577"/>
        <pc:sldMkLst>
          <pc:docMk/>
          <pc:sldMk cId="0" sldId="261"/>
        </pc:sldMkLst>
      </pc:sldChg>
      <pc:sldChg chg="modSp">
        <pc:chgData name="Rogers, Andrea (MDE)" userId="c22e0cfb-b6a1-4299-bb45-976d4050087a" providerId="ADAL" clId="{FA9FD73B-6FD3-4E54-9FBB-6FAA2DBB643F}" dt="2025-09-30T15:31:22.275" v="2359"/>
        <pc:sldMkLst>
          <pc:docMk/>
          <pc:sldMk cId="0" sldId="262"/>
        </pc:sldMkLst>
        <pc:spChg chg="mod">
          <ac:chgData name="Rogers, Andrea (MDE)" userId="c22e0cfb-b6a1-4299-bb45-976d4050087a" providerId="ADAL" clId="{FA9FD73B-6FD3-4E54-9FBB-6FAA2DBB643F}" dt="2025-09-30T15:31:22.275" v="2359"/>
          <ac:spMkLst>
            <pc:docMk/>
            <pc:sldMk cId="0" sldId="262"/>
            <ac:spMk id="164" creationId="{00000000-0000-0000-0000-000000000000}"/>
          </ac:spMkLst>
        </pc:spChg>
      </pc:sldChg>
      <pc:sldChg chg="modSp mod">
        <pc:chgData name="Rogers, Andrea (MDE)" userId="c22e0cfb-b6a1-4299-bb45-976d4050087a" providerId="ADAL" clId="{FA9FD73B-6FD3-4E54-9FBB-6FAA2DBB643F}" dt="2025-09-30T16:03:50.777" v="2471" actId="20577"/>
        <pc:sldMkLst>
          <pc:docMk/>
          <pc:sldMk cId="0" sldId="263"/>
        </pc:sldMkLst>
        <pc:spChg chg="mod">
          <ac:chgData name="Rogers, Andrea (MDE)" userId="c22e0cfb-b6a1-4299-bb45-976d4050087a" providerId="ADAL" clId="{FA9FD73B-6FD3-4E54-9FBB-6FAA2DBB643F}" dt="2025-09-30T16:03:50.777" v="2471" actId="20577"/>
          <ac:spMkLst>
            <pc:docMk/>
            <pc:sldMk cId="0" sldId="263"/>
            <ac:spMk id="173" creationId="{00000000-0000-0000-0000-000000000000}"/>
          </ac:spMkLst>
        </pc:spChg>
      </pc:sldChg>
      <pc:sldChg chg="modSp mod">
        <pc:chgData name="Rogers, Andrea (MDE)" userId="c22e0cfb-b6a1-4299-bb45-976d4050087a" providerId="ADAL" clId="{FA9FD73B-6FD3-4E54-9FBB-6FAA2DBB643F}" dt="2025-09-30T14:18:34.373" v="2108" actId="113"/>
        <pc:sldMkLst>
          <pc:docMk/>
          <pc:sldMk cId="0" sldId="265"/>
        </pc:sldMkLst>
        <pc:spChg chg="mod">
          <ac:chgData name="Rogers, Andrea (MDE)" userId="c22e0cfb-b6a1-4299-bb45-976d4050087a" providerId="ADAL" clId="{FA9FD73B-6FD3-4E54-9FBB-6FAA2DBB643F}" dt="2025-09-30T14:18:34.373" v="2108" actId="113"/>
          <ac:spMkLst>
            <pc:docMk/>
            <pc:sldMk cId="0" sldId="265"/>
            <ac:spMk id="193" creationId="{00000000-0000-0000-0000-000000000000}"/>
          </ac:spMkLst>
        </pc:spChg>
      </pc:sldChg>
      <pc:sldChg chg="modSp mod modNotesTx">
        <pc:chgData name="Rogers, Andrea (MDE)" userId="c22e0cfb-b6a1-4299-bb45-976d4050087a" providerId="ADAL" clId="{FA9FD73B-6FD3-4E54-9FBB-6FAA2DBB643F}" dt="2025-09-30T16:05:26.507" v="2983" actId="20577"/>
        <pc:sldMkLst>
          <pc:docMk/>
          <pc:sldMk cId="0" sldId="266"/>
        </pc:sldMkLst>
        <pc:spChg chg="mod">
          <ac:chgData name="Rogers, Andrea (MDE)" userId="c22e0cfb-b6a1-4299-bb45-976d4050087a" providerId="ADAL" clId="{FA9FD73B-6FD3-4E54-9FBB-6FAA2DBB643F}" dt="2025-09-30T16:04:35.381" v="2591" actId="20577"/>
          <ac:spMkLst>
            <pc:docMk/>
            <pc:sldMk cId="0" sldId="266"/>
            <ac:spMk id="202" creationId="{00000000-0000-0000-0000-000000000000}"/>
          </ac:spMkLst>
        </pc:spChg>
      </pc:sldChg>
      <pc:sldChg chg="modSp mod modNotesTx">
        <pc:chgData name="Rogers, Andrea (MDE)" userId="c22e0cfb-b6a1-4299-bb45-976d4050087a" providerId="ADAL" clId="{FA9FD73B-6FD3-4E54-9FBB-6FAA2DBB643F}" dt="2025-09-30T16:06:23.950" v="3183" actId="27636"/>
        <pc:sldMkLst>
          <pc:docMk/>
          <pc:sldMk cId="0" sldId="267"/>
        </pc:sldMkLst>
        <pc:spChg chg="mod">
          <ac:chgData name="Rogers, Andrea (MDE)" userId="c22e0cfb-b6a1-4299-bb45-976d4050087a" providerId="ADAL" clId="{FA9FD73B-6FD3-4E54-9FBB-6FAA2DBB643F}" dt="2025-09-30T16:06:23.950" v="3183" actId="27636"/>
          <ac:spMkLst>
            <pc:docMk/>
            <pc:sldMk cId="0" sldId="267"/>
            <ac:spMk id="212" creationId="{00000000-0000-0000-0000-000000000000}"/>
          </ac:spMkLst>
        </pc:spChg>
      </pc:sldChg>
      <pc:sldChg chg="modSp mod">
        <pc:chgData name="Rogers, Andrea (MDE)" userId="c22e0cfb-b6a1-4299-bb45-976d4050087a" providerId="ADAL" clId="{FA9FD73B-6FD3-4E54-9FBB-6FAA2DBB643F}" dt="2025-09-30T16:07:07.401" v="3187" actId="113"/>
        <pc:sldMkLst>
          <pc:docMk/>
          <pc:sldMk cId="0" sldId="269"/>
        </pc:sldMkLst>
        <pc:spChg chg="mod">
          <ac:chgData name="Rogers, Andrea (MDE)" userId="c22e0cfb-b6a1-4299-bb45-976d4050087a" providerId="ADAL" clId="{FA9FD73B-6FD3-4E54-9FBB-6FAA2DBB643F}" dt="2025-09-30T16:07:07.401" v="3187" actId="113"/>
          <ac:spMkLst>
            <pc:docMk/>
            <pc:sldMk cId="0" sldId="269"/>
            <ac:spMk id="234" creationId="{00000000-0000-0000-0000-000000000000}"/>
          </ac:spMkLst>
        </pc:spChg>
      </pc:sldChg>
      <pc:sldChg chg="modSp mod">
        <pc:chgData name="Rogers, Andrea (MDE)" userId="c22e0cfb-b6a1-4299-bb45-976d4050087a" providerId="ADAL" clId="{FA9FD73B-6FD3-4E54-9FBB-6FAA2DBB643F}" dt="2025-09-30T16:09:04.136" v="3190" actId="113"/>
        <pc:sldMkLst>
          <pc:docMk/>
          <pc:sldMk cId="0" sldId="271"/>
        </pc:sldMkLst>
        <pc:spChg chg="mod">
          <ac:chgData name="Rogers, Andrea (MDE)" userId="c22e0cfb-b6a1-4299-bb45-976d4050087a" providerId="ADAL" clId="{FA9FD73B-6FD3-4E54-9FBB-6FAA2DBB643F}" dt="2025-09-30T16:08:51.841" v="3189" actId="113"/>
          <ac:spMkLst>
            <pc:docMk/>
            <pc:sldMk cId="0" sldId="271"/>
            <ac:spMk id="252" creationId="{00000000-0000-0000-0000-000000000000}"/>
          </ac:spMkLst>
        </pc:spChg>
        <pc:spChg chg="mod">
          <ac:chgData name="Rogers, Andrea (MDE)" userId="c22e0cfb-b6a1-4299-bb45-976d4050087a" providerId="ADAL" clId="{FA9FD73B-6FD3-4E54-9FBB-6FAA2DBB643F}" dt="2025-09-30T16:09:04.136" v="3190" actId="113"/>
          <ac:spMkLst>
            <pc:docMk/>
            <pc:sldMk cId="0" sldId="271"/>
            <ac:spMk id="253" creationId="{00000000-0000-0000-0000-000000000000}"/>
          </ac:spMkLst>
        </pc:spChg>
      </pc:sldChg>
      <pc:sldChg chg="modNotesTx">
        <pc:chgData name="Rogers, Andrea (MDE)" userId="c22e0cfb-b6a1-4299-bb45-976d4050087a" providerId="ADAL" clId="{FA9FD73B-6FD3-4E54-9FBB-6FAA2DBB643F}" dt="2025-09-30T16:10:10.739" v="3340" actId="20577"/>
        <pc:sldMkLst>
          <pc:docMk/>
          <pc:sldMk cId="0" sldId="272"/>
        </pc:sldMkLst>
      </pc:sldChg>
      <pc:sldChg chg="modNotesTx">
        <pc:chgData name="Rogers, Andrea (MDE)" userId="c22e0cfb-b6a1-4299-bb45-976d4050087a" providerId="ADAL" clId="{FA9FD73B-6FD3-4E54-9FBB-6FAA2DBB643F}" dt="2025-09-30T16:13:51.646" v="4380" actId="6549"/>
        <pc:sldMkLst>
          <pc:docMk/>
          <pc:sldMk cId="0" sldId="274"/>
        </pc:sldMkLst>
      </pc:sldChg>
      <pc:sldChg chg="modSp mod">
        <pc:chgData name="Rogers, Andrea (MDE)" userId="c22e0cfb-b6a1-4299-bb45-976d4050087a" providerId="ADAL" clId="{FA9FD73B-6FD3-4E54-9FBB-6FAA2DBB643F}" dt="2025-09-30T16:15:15.474" v="4387" actId="33524"/>
        <pc:sldMkLst>
          <pc:docMk/>
          <pc:sldMk cId="2135009165" sldId="290"/>
        </pc:sldMkLst>
        <pc:spChg chg="mod">
          <ac:chgData name="Rogers, Andrea (MDE)" userId="c22e0cfb-b6a1-4299-bb45-976d4050087a" providerId="ADAL" clId="{FA9FD73B-6FD3-4E54-9FBB-6FAA2DBB643F}" dt="2025-09-30T16:15:15.474" v="4387" actId="33524"/>
          <ac:spMkLst>
            <pc:docMk/>
            <pc:sldMk cId="2135009165" sldId="290"/>
            <ac:spMk id="3" creationId="{AE4907B2-6557-06D0-5CFC-653E991C064E}"/>
          </ac:spMkLst>
        </pc:spChg>
      </pc:sldChg>
      <pc:sldChg chg="modSp mod">
        <pc:chgData name="Rogers, Andrea (MDE)" userId="c22e0cfb-b6a1-4299-bb45-976d4050087a" providerId="ADAL" clId="{FA9FD73B-6FD3-4E54-9FBB-6FAA2DBB643F}" dt="2025-09-25T15:40:46.120" v="1524" actId="20577"/>
        <pc:sldMkLst>
          <pc:docMk/>
          <pc:sldMk cId="749521126" sldId="291"/>
        </pc:sldMkLst>
        <pc:spChg chg="mod">
          <ac:chgData name="Rogers, Andrea (MDE)" userId="c22e0cfb-b6a1-4299-bb45-976d4050087a" providerId="ADAL" clId="{FA9FD73B-6FD3-4E54-9FBB-6FAA2DBB643F}" dt="2025-09-25T15:40:46.120" v="1524" actId="20577"/>
          <ac:spMkLst>
            <pc:docMk/>
            <pc:sldMk cId="749521126" sldId="291"/>
            <ac:spMk id="3" creationId="{B6DE55BD-50C0-1389-6D28-7D065864E968}"/>
          </ac:spMkLst>
        </pc:spChg>
      </pc:sldChg>
      <pc:sldChg chg="modSp new mod">
        <pc:chgData name="Rogers, Andrea (MDE)" userId="c22e0cfb-b6a1-4299-bb45-976d4050087a" providerId="ADAL" clId="{FA9FD73B-6FD3-4E54-9FBB-6FAA2DBB643F}" dt="2025-09-30T16:06:36.317" v="3184" actId="113"/>
        <pc:sldMkLst>
          <pc:docMk/>
          <pc:sldMk cId="1437697783" sldId="293"/>
        </pc:sldMkLst>
        <pc:spChg chg="mod">
          <ac:chgData name="Rogers, Andrea (MDE)" userId="c22e0cfb-b6a1-4299-bb45-976d4050087a" providerId="ADAL" clId="{FA9FD73B-6FD3-4E54-9FBB-6FAA2DBB643F}" dt="2025-09-30T15:30:25.543" v="2341" actId="20577"/>
          <ac:spMkLst>
            <pc:docMk/>
            <pc:sldMk cId="1437697783" sldId="293"/>
            <ac:spMk id="2" creationId="{4F9A87EE-3599-B145-4363-C9E797750F7F}"/>
          </ac:spMkLst>
        </pc:spChg>
        <pc:spChg chg="mod">
          <ac:chgData name="Rogers, Andrea (MDE)" userId="c22e0cfb-b6a1-4299-bb45-976d4050087a" providerId="ADAL" clId="{FA9FD73B-6FD3-4E54-9FBB-6FAA2DBB643F}" dt="2025-09-30T16:06:36.317" v="3184" actId="113"/>
          <ac:spMkLst>
            <pc:docMk/>
            <pc:sldMk cId="1437697783" sldId="293"/>
            <ac:spMk id="3" creationId="{0B33A32B-FE56-EC31-1DFC-7540197B7081}"/>
          </ac:spMkLst>
        </pc:spChg>
      </pc:sldChg>
      <pc:sldChg chg="modSp new mod">
        <pc:chgData name="Rogers, Andrea (MDE)" userId="c22e0cfb-b6a1-4299-bb45-976d4050087a" providerId="ADAL" clId="{FA9FD73B-6FD3-4E54-9FBB-6FAA2DBB643F}" dt="2025-09-25T15:40:01.667" v="1371" actId="27636"/>
        <pc:sldMkLst>
          <pc:docMk/>
          <pc:sldMk cId="2216897151" sldId="294"/>
        </pc:sldMkLst>
        <pc:spChg chg="mod">
          <ac:chgData name="Rogers, Andrea (MDE)" userId="c22e0cfb-b6a1-4299-bb45-976d4050087a" providerId="ADAL" clId="{FA9FD73B-6FD3-4E54-9FBB-6FAA2DBB643F}" dt="2025-09-25T15:37:48.636" v="675" actId="20577"/>
          <ac:spMkLst>
            <pc:docMk/>
            <pc:sldMk cId="2216897151" sldId="294"/>
            <ac:spMk id="2" creationId="{B37DE8B7-7893-0D34-9DF9-6FFF571F39EC}"/>
          </ac:spMkLst>
        </pc:spChg>
        <pc:spChg chg="mod">
          <ac:chgData name="Rogers, Andrea (MDE)" userId="c22e0cfb-b6a1-4299-bb45-976d4050087a" providerId="ADAL" clId="{FA9FD73B-6FD3-4E54-9FBB-6FAA2DBB643F}" dt="2025-09-25T15:40:01.667" v="1371" actId="27636"/>
          <ac:spMkLst>
            <pc:docMk/>
            <pc:sldMk cId="2216897151" sldId="294"/>
            <ac:spMk id="3" creationId="{8CFD9184-4D59-F3F8-35B2-DD400993234B}"/>
          </ac:spMkLst>
        </pc:spChg>
      </pc:sldChg>
      <pc:sldChg chg="modSp new mod">
        <pc:chgData name="Rogers, Andrea (MDE)" userId="c22e0cfb-b6a1-4299-bb45-976d4050087a" providerId="ADAL" clId="{FA9FD73B-6FD3-4E54-9FBB-6FAA2DBB643F}" dt="2025-09-30T14:22:14.462" v="2185" actId="5793"/>
        <pc:sldMkLst>
          <pc:docMk/>
          <pc:sldMk cId="405645299" sldId="295"/>
        </pc:sldMkLst>
        <pc:spChg chg="mod">
          <ac:chgData name="Rogers, Andrea (MDE)" userId="c22e0cfb-b6a1-4299-bb45-976d4050087a" providerId="ADAL" clId="{FA9FD73B-6FD3-4E54-9FBB-6FAA2DBB643F}" dt="2025-09-30T14:21:50.982" v="2173" actId="27636"/>
          <ac:spMkLst>
            <pc:docMk/>
            <pc:sldMk cId="405645299" sldId="295"/>
            <ac:spMk id="2" creationId="{9C7EFC62-D340-12FF-2C58-D24D5EBD1EA2}"/>
          </ac:spMkLst>
        </pc:spChg>
        <pc:spChg chg="mod">
          <ac:chgData name="Rogers, Andrea (MDE)" userId="c22e0cfb-b6a1-4299-bb45-976d4050087a" providerId="ADAL" clId="{FA9FD73B-6FD3-4E54-9FBB-6FAA2DBB643F}" dt="2025-09-30T14:22:14.462" v="2185" actId="5793"/>
          <ac:spMkLst>
            <pc:docMk/>
            <pc:sldMk cId="405645299" sldId="295"/>
            <ac:spMk id="3" creationId="{389F75F4-BD93-1532-F18B-2CAF366DF0AE}"/>
          </ac:spMkLst>
        </pc:spChg>
      </pc:sldChg>
      <pc:sldChg chg="modSp new mod ord">
        <pc:chgData name="Rogers, Andrea (MDE)" userId="c22e0cfb-b6a1-4299-bb45-976d4050087a" providerId="ADAL" clId="{FA9FD73B-6FD3-4E54-9FBB-6FAA2DBB643F}" dt="2025-09-30T14:23:44.856" v="2340" actId="20577"/>
        <pc:sldMkLst>
          <pc:docMk/>
          <pc:sldMk cId="912265660" sldId="296"/>
        </pc:sldMkLst>
        <pc:spChg chg="mod">
          <ac:chgData name="Rogers, Andrea (MDE)" userId="c22e0cfb-b6a1-4299-bb45-976d4050087a" providerId="ADAL" clId="{FA9FD73B-6FD3-4E54-9FBB-6FAA2DBB643F}" dt="2025-09-30T14:22:34.674" v="2211" actId="20577"/>
          <ac:spMkLst>
            <pc:docMk/>
            <pc:sldMk cId="912265660" sldId="296"/>
            <ac:spMk id="2" creationId="{17A0E16C-602F-073E-1FC1-981E09B50D95}"/>
          </ac:spMkLst>
        </pc:spChg>
        <pc:spChg chg="mod">
          <ac:chgData name="Rogers, Andrea (MDE)" userId="c22e0cfb-b6a1-4299-bb45-976d4050087a" providerId="ADAL" clId="{FA9FD73B-6FD3-4E54-9FBB-6FAA2DBB643F}" dt="2025-09-30T14:23:44.856" v="2340" actId="20577"/>
          <ac:spMkLst>
            <pc:docMk/>
            <pc:sldMk cId="912265660" sldId="296"/>
            <ac:spMk id="3" creationId="{3C803222-04F3-FABE-7F15-ECFE929D1FAA}"/>
          </ac:spMkLst>
        </pc:spChg>
      </pc:sldChg>
      <pc:sldChg chg="modSp new mod modNotesTx">
        <pc:chgData name="Rogers, Andrea (MDE)" userId="c22e0cfb-b6a1-4299-bb45-976d4050087a" providerId="ADAL" clId="{FA9FD73B-6FD3-4E54-9FBB-6FAA2DBB643F}" dt="2025-09-30T16:13:01.224" v="4126" actId="20577"/>
        <pc:sldMkLst>
          <pc:docMk/>
          <pc:sldMk cId="308282596" sldId="297"/>
        </pc:sldMkLst>
        <pc:spChg chg="mod">
          <ac:chgData name="Rogers, Andrea (MDE)" userId="c22e0cfb-b6a1-4299-bb45-976d4050087a" providerId="ADAL" clId="{FA9FD73B-6FD3-4E54-9FBB-6FAA2DBB643F}" dt="2025-09-30T16:10:28.917" v="3395" actId="20577"/>
          <ac:spMkLst>
            <pc:docMk/>
            <pc:sldMk cId="308282596" sldId="297"/>
            <ac:spMk id="2" creationId="{7107D6CD-D196-C27A-EE80-2CB385189206}"/>
          </ac:spMkLst>
        </pc:spChg>
        <pc:spChg chg="mod">
          <ac:chgData name="Rogers, Andrea (MDE)" userId="c22e0cfb-b6a1-4299-bb45-976d4050087a" providerId="ADAL" clId="{FA9FD73B-6FD3-4E54-9FBB-6FAA2DBB643F}" dt="2025-09-30T16:12:23.816" v="3877" actId="20577"/>
          <ac:spMkLst>
            <pc:docMk/>
            <pc:sldMk cId="308282596" sldId="297"/>
            <ac:spMk id="3" creationId="{907FF270-5D10-9050-EDF2-B2BC67F969D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1727"/>
          </a:xfrm>
          <a:prstGeom prst="rect">
            <a:avLst/>
          </a:prstGeom>
          <a:noFill/>
          <a:ln>
            <a:noFill/>
          </a:ln>
        </p:spPr>
        <p:txBody>
          <a:bodyPr spcFirstLastPara="1" wrap="square" lIns="96645" tIns="48309" rIns="96645" bIns="48309"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1727"/>
          </a:xfrm>
          <a:prstGeom prst="rect">
            <a:avLst/>
          </a:prstGeom>
          <a:noFill/>
          <a:ln>
            <a:noFill/>
          </a:ln>
        </p:spPr>
        <p:txBody>
          <a:bodyPr spcFirstLastPara="1" wrap="square" lIns="96645" tIns="48309" rIns="96645" bIns="48309"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620577"/>
            <a:ext cx="5852160" cy="3780473"/>
          </a:xfrm>
          <a:prstGeom prst="rect">
            <a:avLst/>
          </a:prstGeom>
          <a:noFill/>
          <a:ln>
            <a:noFill/>
          </a:ln>
        </p:spPr>
        <p:txBody>
          <a:bodyPr spcFirstLastPara="1" wrap="square" lIns="96645" tIns="48309" rIns="96645" bIns="48309"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1726"/>
          </a:xfrm>
          <a:prstGeom prst="rect">
            <a:avLst/>
          </a:prstGeom>
          <a:noFill/>
          <a:ln>
            <a:noFill/>
          </a:ln>
        </p:spPr>
        <p:txBody>
          <a:bodyPr spcFirstLastPara="1" wrap="square" lIns="96645" tIns="48309" rIns="96645" bIns="48309"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1726"/>
          </a:xfrm>
          <a:prstGeom prst="rect">
            <a:avLst/>
          </a:prstGeom>
          <a:noFill/>
          <a:ln>
            <a:noFill/>
          </a:ln>
        </p:spPr>
        <p:txBody>
          <a:bodyPr spcFirstLastPara="1" wrap="square" lIns="96645" tIns="48309" rIns="96645" bIns="48309" anchor="b" anchorCtr="0">
            <a:noAutofit/>
          </a:bodyPr>
          <a:lstStyle/>
          <a:p>
            <a:pPr algn="r"/>
            <a:fld id="{00000000-1234-1234-1234-123412341234}" type="slidenum">
              <a:rPr lang="en-US" sz="1300" smtClean="0">
                <a:solidFill>
                  <a:schemeClr val="dk1"/>
                </a:solidFill>
                <a:latin typeface="Calibri"/>
                <a:ea typeface="Calibri"/>
                <a:cs typeface="Calibri"/>
                <a:sym typeface="Calibri"/>
              </a:rPr>
              <a:pPr algn="r"/>
              <a:t>‹#›</a:t>
            </a:fld>
            <a:endParaRPr lang="en-US" sz="13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1:notes"/>
          <p:cNvSpPr txBox="1">
            <a:spLocks noGrp="1"/>
          </p:cNvSpPr>
          <p:nvPr>
            <p:ph type="body" idx="1"/>
          </p:nvPr>
        </p:nvSpPr>
        <p:spPr>
          <a:xfrm>
            <a:off x="731520" y="4620577"/>
            <a:ext cx="5852160" cy="3780473"/>
          </a:xfrm>
          <a:prstGeom prst="rect">
            <a:avLst/>
          </a:prstGeom>
        </p:spPr>
        <p:txBody>
          <a:bodyPr spcFirstLastPara="1" wrap="square" lIns="96645" tIns="48309" rIns="96645" bIns="48309" anchor="t" anchorCtr="0">
            <a:noAutofit/>
          </a:bodyPr>
          <a:lstStyle/>
          <a:p>
            <a:pPr marL="0" indent="0"/>
            <a:endParaRPr/>
          </a:p>
        </p:txBody>
      </p:sp>
      <p:sp>
        <p:nvSpPr>
          <p:cNvPr id="109" name="Google Shape;109;p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2: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 name="Google Shape;115;p2:notes"/>
          <p:cNvSpPr txBox="1">
            <a:spLocks noGrp="1"/>
          </p:cNvSpPr>
          <p:nvPr>
            <p:ph type="body" idx="1"/>
          </p:nvPr>
        </p:nvSpPr>
        <p:spPr>
          <a:xfrm>
            <a:off x="731520" y="4620577"/>
            <a:ext cx="5852160" cy="3780473"/>
          </a:xfrm>
          <a:prstGeom prst="rect">
            <a:avLst/>
          </a:prstGeom>
          <a:noFill/>
          <a:ln>
            <a:noFill/>
          </a:ln>
        </p:spPr>
        <p:txBody>
          <a:bodyPr spcFirstLastPara="1" wrap="square" lIns="96645" tIns="48309" rIns="96645" bIns="48309" anchor="t" anchorCtr="0">
            <a:noAutofit/>
          </a:bodyPr>
          <a:lstStyle/>
          <a:p>
            <a:pPr marL="0" indent="0"/>
            <a:r>
              <a:rPr lang="en-US" dirty="0"/>
              <a:t>Some private school students return to the local LEA after a number of years in private school, some private school teachers eventually get positions with the public schools.  Private school students, teachers, and families can also be invited to events at the public schools (summer school, PD, Title nights, family engagement)  When private school students, teachers, and families can take advantage of programming through federal funds, the entire educational community benefits.</a:t>
            </a:r>
            <a:endParaRPr dirty="0"/>
          </a:p>
          <a:p>
            <a:pPr marL="0" indent="0"/>
            <a:endParaRPr dirty="0"/>
          </a:p>
        </p:txBody>
      </p:sp>
      <p:sp>
        <p:nvSpPr>
          <p:cNvPr id="116" name="Google Shape;116;p2:notes"/>
          <p:cNvSpPr txBox="1">
            <a:spLocks noGrp="1"/>
          </p:cNvSpPr>
          <p:nvPr>
            <p:ph type="sldNum" idx="12"/>
          </p:nvPr>
        </p:nvSpPr>
        <p:spPr>
          <a:xfrm>
            <a:off x="4143587" y="9119474"/>
            <a:ext cx="3169920" cy="481726"/>
          </a:xfrm>
          <a:prstGeom prst="rect">
            <a:avLst/>
          </a:prstGeom>
          <a:noFill/>
          <a:ln>
            <a:noFill/>
          </a:ln>
        </p:spPr>
        <p:txBody>
          <a:bodyPr spcFirstLastPara="1" wrap="square" lIns="96645" tIns="48309" rIns="96645" bIns="48309" anchor="b" anchorCtr="0">
            <a:noAutofit/>
          </a:bodyPr>
          <a:lstStyle/>
          <a:p>
            <a:pPr algn="r"/>
            <a:fld id="{00000000-1234-1234-1234-123412341234}" type="slidenum">
              <a:rPr lang="en-US"/>
              <a:pPr algn="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notes"/>
          <p:cNvSpPr txBox="1">
            <a:spLocks noGrp="1"/>
          </p:cNvSpPr>
          <p:nvPr>
            <p:ph type="body" idx="1"/>
          </p:nvPr>
        </p:nvSpPr>
        <p:spPr>
          <a:xfrm>
            <a:off x="731520" y="4620577"/>
            <a:ext cx="5852160" cy="3780473"/>
          </a:xfrm>
          <a:prstGeom prst="rect">
            <a:avLst/>
          </a:prstGeom>
        </p:spPr>
        <p:txBody>
          <a:bodyPr spcFirstLastPara="1" wrap="square" lIns="96645" tIns="48309" rIns="96645" bIns="48309" anchor="t" anchorCtr="0">
            <a:noAutofit/>
          </a:bodyPr>
          <a:lstStyle/>
          <a:p>
            <a:pPr marL="0" indent="0"/>
            <a:endParaRPr/>
          </a:p>
        </p:txBody>
      </p:sp>
      <p:sp>
        <p:nvSpPr>
          <p:cNvPr id="125" name="Google Shape;125;p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4:notes"/>
          <p:cNvSpPr txBox="1">
            <a:spLocks noGrp="1"/>
          </p:cNvSpPr>
          <p:nvPr>
            <p:ph type="body" idx="1"/>
          </p:nvPr>
        </p:nvSpPr>
        <p:spPr>
          <a:xfrm>
            <a:off x="731520" y="4620577"/>
            <a:ext cx="5852160" cy="3780473"/>
          </a:xfrm>
          <a:prstGeom prst="rect">
            <a:avLst/>
          </a:prstGeom>
        </p:spPr>
        <p:txBody>
          <a:bodyPr spcFirstLastPara="1" wrap="square" lIns="96645" tIns="48309" rIns="96645" bIns="48309" anchor="t" anchorCtr="0">
            <a:noAutofit/>
          </a:bodyPr>
          <a:lstStyle/>
          <a:p>
            <a:pPr marL="0" indent="0"/>
            <a:endParaRPr/>
          </a:p>
        </p:txBody>
      </p:sp>
      <p:sp>
        <p:nvSpPr>
          <p:cNvPr id="134" name="Google Shape;134;p4: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2a2819eb4e_2_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2a2819eb4e_2_0:notes"/>
          <p:cNvSpPr txBox="1">
            <a:spLocks noGrp="1"/>
          </p:cNvSpPr>
          <p:nvPr>
            <p:ph type="body" idx="1"/>
          </p:nvPr>
        </p:nvSpPr>
        <p:spPr>
          <a:xfrm>
            <a:off x="731520" y="4620578"/>
            <a:ext cx="5852160" cy="3780630"/>
          </a:xfrm>
          <a:prstGeom prst="rect">
            <a:avLst/>
          </a:prstGeom>
        </p:spPr>
        <p:txBody>
          <a:bodyPr spcFirstLastPara="1" wrap="square" lIns="96645" tIns="48309" rIns="96645" bIns="48309" anchor="t" anchorCtr="0">
            <a:noAutofit/>
          </a:bodyPr>
          <a:lstStyle/>
          <a:p>
            <a:pPr marL="0" indent="0">
              <a:lnSpc>
                <a:spcPct val="115000"/>
              </a:lnSpc>
              <a:buClr>
                <a:schemeClr val="dk1"/>
              </a:buClr>
              <a:buSzPts val="1100"/>
            </a:pPr>
            <a:r>
              <a:rPr lang="en-US" dirty="0"/>
              <a:t>The Title I program ensures that all children have a fair, equal, and significant opportunity to obtain a high-quality education and to provide services to improve the achievement of students who are failing or most at risk of failing to meet challenging academic achievement standards and who reside in public school attendance areas with high concentrations of students from low-income families.</a:t>
            </a:r>
            <a:endParaRPr dirty="0"/>
          </a:p>
          <a:p>
            <a:pPr marL="0" indent="0">
              <a:lnSpc>
                <a:spcPct val="115000"/>
              </a:lnSpc>
              <a:buClr>
                <a:schemeClr val="dk1"/>
              </a:buClr>
              <a:buSzPts val="1100"/>
            </a:pPr>
            <a:r>
              <a:rPr lang="en-US" dirty="0"/>
              <a:t>Title I, Part A has its own equitable services governing provisions which are found at ESEA section 1117.</a:t>
            </a:r>
            <a:endParaRPr dirty="0"/>
          </a:p>
          <a:p>
            <a:pPr marL="0" indent="0">
              <a:lnSpc>
                <a:spcPct val="115000"/>
              </a:lnSpc>
              <a:buClr>
                <a:schemeClr val="dk1"/>
              </a:buClr>
              <a:buSzPts val="1100"/>
            </a:pPr>
            <a:r>
              <a:rPr lang="en-US" dirty="0"/>
              <a:t>Under Title I, LEAs must provide eligible private school students, their teachers, and their families with Title I services that are equitable to those services provided to eligible public school students, their teachers, and their families. </a:t>
            </a:r>
            <a:endParaRPr dirty="0"/>
          </a:p>
          <a:p>
            <a:pPr marL="0" indent="0">
              <a:lnSpc>
                <a:spcPct val="115000"/>
              </a:lnSpc>
              <a:buClr>
                <a:schemeClr val="dk1"/>
              </a:buClr>
              <a:buSzPts val="1100"/>
            </a:pPr>
            <a:r>
              <a:rPr lang="en-US" dirty="0"/>
              <a:t>Eligible private school students must reside in a participating public school Title I attendance area and be failing or most at risk of failing to meet high academic standards.</a:t>
            </a:r>
            <a:endParaRPr dirty="0"/>
          </a:p>
          <a:p>
            <a:pPr marL="0" indent="0">
              <a:lnSpc>
                <a:spcPct val="115000"/>
              </a:lnSpc>
              <a:buClr>
                <a:schemeClr val="dk1"/>
              </a:buClr>
              <a:buSzPts val="1100"/>
            </a:pPr>
            <a:r>
              <a:rPr lang="en-US" dirty="0"/>
              <a:t> </a:t>
            </a:r>
            <a:endParaRPr dirty="0"/>
          </a:p>
          <a:p>
            <a:pPr marL="0" indent="0"/>
            <a:r>
              <a:rPr lang="en-US" dirty="0"/>
              <a:t>Among the topics of consultation that we will discuss shortly, LEAs are required to consult with private school officials to establish criteria for determining which children are the most at risk of failing, and, therefore, which will receive services.</a:t>
            </a:r>
            <a:endParaRPr dirty="0"/>
          </a:p>
        </p:txBody>
      </p:sp>
      <p:sp>
        <p:nvSpPr>
          <p:cNvPr id="144" name="Google Shape;144;g32a2819eb4e_2_0:notes"/>
          <p:cNvSpPr txBox="1">
            <a:spLocks noGrp="1"/>
          </p:cNvSpPr>
          <p:nvPr>
            <p:ph type="sldNum" idx="12"/>
          </p:nvPr>
        </p:nvSpPr>
        <p:spPr>
          <a:xfrm>
            <a:off x="4143587" y="9119474"/>
            <a:ext cx="3169920" cy="481635"/>
          </a:xfrm>
          <a:prstGeom prst="rect">
            <a:avLst/>
          </a:prstGeom>
        </p:spPr>
        <p:txBody>
          <a:bodyPr spcFirstLastPara="1" wrap="square" lIns="96645" tIns="48309" rIns="96645" bIns="48309" anchor="b" anchorCtr="0">
            <a:noAutofit/>
          </a:bodyPr>
          <a:lstStyle/>
          <a:p>
            <a:pPr algn="r"/>
            <a:fld id="{00000000-1234-1234-1234-123412341234}" type="slidenum">
              <a:rPr lang="en-US"/>
              <a:pPr algn="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5:notes"/>
          <p:cNvSpPr txBox="1">
            <a:spLocks noGrp="1"/>
          </p:cNvSpPr>
          <p:nvPr>
            <p:ph type="body" idx="1"/>
          </p:nvPr>
        </p:nvSpPr>
        <p:spPr>
          <a:xfrm>
            <a:off x="731520" y="4620577"/>
            <a:ext cx="5852160" cy="3780473"/>
          </a:xfrm>
          <a:prstGeom prst="rect">
            <a:avLst/>
          </a:prstGeom>
        </p:spPr>
        <p:txBody>
          <a:bodyPr spcFirstLastPara="1" wrap="square" lIns="96645" tIns="48309" rIns="96645" bIns="48309" anchor="t" anchorCtr="0">
            <a:noAutofit/>
          </a:bodyPr>
          <a:lstStyle/>
          <a:p>
            <a:pPr marL="0" indent="0"/>
            <a:r>
              <a:rPr lang="en-US" dirty="0"/>
              <a:t>The private school program IS the LEAs program.  The LEA is the program and fiscal LEAD</a:t>
            </a:r>
            <a:endParaRPr dirty="0"/>
          </a:p>
        </p:txBody>
      </p:sp>
      <p:sp>
        <p:nvSpPr>
          <p:cNvPr id="151" name="Google Shape;151;p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6:notes"/>
          <p:cNvSpPr txBox="1">
            <a:spLocks noGrp="1"/>
          </p:cNvSpPr>
          <p:nvPr>
            <p:ph type="body" idx="1"/>
          </p:nvPr>
        </p:nvSpPr>
        <p:spPr>
          <a:xfrm>
            <a:off x="731520" y="4620577"/>
            <a:ext cx="5852160" cy="3780473"/>
          </a:xfrm>
          <a:prstGeom prst="rect">
            <a:avLst/>
          </a:prstGeom>
          <a:noFill/>
          <a:ln>
            <a:noFill/>
          </a:ln>
        </p:spPr>
        <p:txBody>
          <a:bodyPr spcFirstLastPara="1" wrap="square" lIns="96645" tIns="48309" rIns="96645" bIns="48309" anchor="t" anchorCtr="0">
            <a:noAutofit/>
          </a:bodyPr>
          <a:lstStyle/>
          <a:p>
            <a:pPr marL="0" indent="0"/>
            <a:r>
              <a:rPr lang="en-US" dirty="0"/>
              <a:t>Please use the letters provided on MDE’s website.  </a:t>
            </a:r>
          </a:p>
          <a:p>
            <a:pPr marL="0" indent="0"/>
            <a:r>
              <a:rPr lang="en-US" dirty="0"/>
              <a:t>The letters should include the consequence for private schools if they do not respond by the deadline: </a:t>
            </a:r>
            <a:r>
              <a:rPr lang="en-US" dirty="0" err="1"/>
              <a:t>ie</a:t>
            </a:r>
            <a:r>
              <a:rPr lang="en-US" dirty="0"/>
              <a:t>: they will not be able to participate in equitable services. </a:t>
            </a:r>
            <a:endParaRPr dirty="0"/>
          </a:p>
        </p:txBody>
      </p:sp>
      <p:sp>
        <p:nvSpPr>
          <p:cNvPr id="161" name="Google Shape;161;p6:notes"/>
          <p:cNvSpPr txBox="1">
            <a:spLocks noGrp="1"/>
          </p:cNvSpPr>
          <p:nvPr>
            <p:ph type="sldNum" idx="12"/>
          </p:nvPr>
        </p:nvSpPr>
        <p:spPr>
          <a:xfrm>
            <a:off x="4143587" y="9119474"/>
            <a:ext cx="3169920" cy="481726"/>
          </a:xfrm>
          <a:prstGeom prst="rect">
            <a:avLst/>
          </a:prstGeom>
          <a:noFill/>
          <a:ln>
            <a:noFill/>
          </a:ln>
        </p:spPr>
        <p:txBody>
          <a:bodyPr spcFirstLastPara="1" wrap="square" lIns="96645" tIns="48309" rIns="96645" bIns="48309" anchor="b" anchorCtr="0">
            <a:noAutofit/>
          </a:bodyPr>
          <a:lstStyle/>
          <a:p>
            <a:pPr algn="r"/>
            <a:fld id="{00000000-1234-1234-1234-123412341234}" type="slidenum">
              <a:rPr lang="en-US"/>
              <a:pPr algn="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7:notes"/>
          <p:cNvSpPr txBox="1">
            <a:spLocks noGrp="1"/>
          </p:cNvSpPr>
          <p:nvPr>
            <p:ph type="body" idx="1"/>
          </p:nvPr>
        </p:nvSpPr>
        <p:spPr>
          <a:xfrm>
            <a:off x="731520" y="4620577"/>
            <a:ext cx="5852160" cy="3780473"/>
          </a:xfrm>
          <a:prstGeom prst="rect">
            <a:avLst/>
          </a:prstGeom>
        </p:spPr>
        <p:txBody>
          <a:bodyPr spcFirstLastPara="1" wrap="square" lIns="96645" tIns="48309" rIns="96645" bIns="48309" anchor="t" anchorCtr="0">
            <a:noAutofit/>
          </a:bodyPr>
          <a:lstStyle/>
          <a:p>
            <a:pPr marL="0" indent="0"/>
            <a:endParaRPr dirty="0"/>
          </a:p>
        </p:txBody>
      </p:sp>
      <p:sp>
        <p:nvSpPr>
          <p:cNvPr id="170" name="Google Shape;170;p7: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8:notes"/>
          <p:cNvSpPr txBox="1">
            <a:spLocks noGrp="1"/>
          </p:cNvSpPr>
          <p:nvPr>
            <p:ph type="body" idx="1"/>
          </p:nvPr>
        </p:nvSpPr>
        <p:spPr>
          <a:xfrm>
            <a:off x="731520" y="4620577"/>
            <a:ext cx="5852160" cy="3780473"/>
          </a:xfrm>
          <a:prstGeom prst="rect">
            <a:avLst/>
          </a:prstGeom>
          <a:noFill/>
          <a:ln>
            <a:noFill/>
          </a:ln>
        </p:spPr>
        <p:txBody>
          <a:bodyPr spcFirstLastPara="1" wrap="square" lIns="96645" tIns="48309" rIns="96645" bIns="48309" anchor="t" anchorCtr="0">
            <a:noAutofit/>
          </a:bodyPr>
          <a:lstStyle/>
          <a:p>
            <a:pPr marL="0" indent="0"/>
            <a:r>
              <a:rPr lang="en-US"/>
              <a:t>The approved non public school listing at this link is the most recent we have.  If a private school is not on this list but is telling you that they did register and you would like to verify, contact Kevin Walters WaltersK5@michigan.gov</a:t>
            </a:r>
            <a:endParaRPr/>
          </a:p>
        </p:txBody>
      </p:sp>
      <p:sp>
        <p:nvSpPr>
          <p:cNvPr id="180" name="Google Shape;180;p8:notes"/>
          <p:cNvSpPr txBox="1">
            <a:spLocks noGrp="1"/>
          </p:cNvSpPr>
          <p:nvPr>
            <p:ph type="sldNum" idx="12"/>
          </p:nvPr>
        </p:nvSpPr>
        <p:spPr>
          <a:xfrm>
            <a:off x="4143587" y="9119474"/>
            <a:ext cx="3169920" cy="481726"/>
          </a:xfrm>
          <a:prstGeom prst="rect">
            <a:avLst/>
          </a:prstGeom>
          <a:noFill/>
          <a:ln>
            <a:noFill/>
          </a:ln>
        </p:spPr>
        <p:txBody>
          <a:bodyPr spcFirstLastPara="1" wrap="square" lIns="96645" tIns="48309" rIns="96645" bIns="48309" anchor="b" anchorCtr="0">
            <a:noAutofit/>
          </a:bodyPr>
          <a:lstStyle/>
          <a:p>
            <a:pPr algn="r"/>
            <a:fld id="{00000000-1234-1234-1234-123412341234}" type="slidenum">
              <a:rPr lang="en-US"/>
              <a:pPr algn="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9:notes"/>
          <p:cNvSpPr txBox="1">
            <a:spLocks noGrp="1"/>
          </p:cNvSpPr>
          <p:nvPr>
            <p:ph type="body" idx="1"/>
          </p:nvPr>
        </p:nvSpPr>
        <p:spPr>
          <a:xfrm>
            <a:off x="731520" y="4620577"/>
            <a:ext cx="5852160" cy="3780473"/>
          </a:xfrm>
          <a:prstGeom prst="rect">
            <a:avLst/>
          </a:prstGeom>
          <a:noFill/>
          <a:ln>
            <a:noFill/>
          </a:ln>
        </p:spPr>
        <p:txBody>
          <a:bodyPr spcFirstLastPara="1" wrap="square" lIns="96645" tIns="48309" rIns="96645" bIns="48309" anchor="t" anchorCtr="0">
            <a:noAutofit/>
          </a:bodyPr>
          <a:lstStyle/>
          <a:p>
            <a:pPr marL="0" indent="0"/>
            <a:r>
              <a:rPr lang="en-US"/>
              <a:t>Timely and meaningful consultation:  Timely: BEFORE THE LEA MAKES ANY DECISIONS  Meaningful: genuine opportunity for all parties to be heard and their views seriously considered</a:t>
            </a:r>
            <a:endParaRPr/>
          </a:p>
        </p:txBody>
      </p:sp>
      <p:sp>
        <p:nvSpPr>
          <p:cNvPr id="190" name="Google Shape;190;p9:notes"/>
          <p:cNvSpPr txBox="1">
            <a:spLocks noGrp="1"/>
          </p:cNvSpPr>
          <p:nvPr>
            <p:ph type="sldNum" idx="12"/>
          </p:nvPr>
        </p:nvSpPr>
        <p:spPr>
          <a:xfrm>
            <a:off x="4143587" y="9119474"/>
            <a:ext cx="3169920" cy="481726"/>
          </a:xfrm>
          <a:prstGeom prst="rect">
            <a:avLst/>
          </a:prstGeom>
          <a:noFill/>
          <a:ln>
            <a:noFill/>
          </a:ln>
        </p:spPr>
        <p:txBody>
          <a:bodyPr spcFirstLastPara="1" wrap="square" lIns="96645" tIns="48309" rIns="96645" bIns="48309" anchor="b" anchorCtr="0">
            <a:noAutofit/>
          </a:bodyPr>
          <a:lstStyle/>
          <a:p>
            <a:pPr algn="r"/>
            <a:fld id="{00000000-1234-1234-1234-123412341234}" type="slidenum">
              <a:rPr lang="en-US"/>
              <a:pPr algn="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731520" y="4620577"/>
            <a:ext cx="5852160" cy="3780473"/>
          </a:xfrm>
          <a:prstGeom prst="rect">
            <a:avLst/>
          </a:prstGeom>
        </p:spPr>
        <p:txBody>
          <a:bodyPr spcFirstLastPara="1" wrap="square" lIns="96645" tIns="48309" rIns="96645" bIns="48309" anchor="t" anchorCtr="0">
            <a:noAutofit/>
          </a:bodyPr>
          <a:lstStyle/>
          <a:p>
            <a:pPr marL="0" indent="0"/>
            <a:r>
              <a:rPr lang="en-US" dirty="0"/>
              <a:t>Mention that our State Ombudsman has had recent complaints submitted by private schools that districts are making the decisions to transfer prior to consulting with private schools and are not complying with timely in this manner but also not complying with the meaningful rule (seriously considering the needs of the private schools)</a:t>
            </a:r>
            <a:endParaRPr dirty="0"/>
          </a:p>
        </p:txBody>
      </p:sp>
      <p:sp>
        <p:nvSpPr>
          <p:cNvPr id="199" name="Google Shape;199;p1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11:notes"/>
          <p:cNvSpPr txBox="1">
            <a:spLocks noGrp="1"/>
          </p:cNvSpPr>
          <p:nvPr>
            <p:ph type="body" idx="1"/>
          </p:nvPr>
        </p:nvSpPr>
        <p:spPr>
          <a:xfrm>
            <a:off x="731520" y="4620577"/>
            <a:ext cx="5852160" cy="3780473"/>
          </a:xfrm>
          <a:prstGeom prst="rect">
            <a:avLst/>
          </a:prstGeom>
          <a:noFill/>
          <a:ln>
            <a:noFill/>
          </a:ln>
        </p:spPr>
        <p:txBody>
          <a:bodyPr spcFirstLastPara="1" wrap="square" lIns="96645" tIns="48309" rIns="96645" bIns="48309" anchor="t" anchorCtr="0">
            <a:noAutofit/>
          </a:bodyPr>
          <a:lstStyle/>
          <a:p>
            <a:pPr marL="0" indent="0"/>
            <a:r>
              <a:rPr lang="en-US" dirty="0"/>
              <a:t>There must be written documentation kept by the LEA that there is ONGOING consultation which must be MORE than twice a year!</a:t>
            </a:r>
            <a:endParaRPr dirty="0"/>
          </a:p>
        </p:txBody>
      </p:sp>
      <p:sp>
        <p:nvSpPr>
          <p:cNvPr id="209" name="Google Shape;209;p11:notes"/>
          <p:cNvSpPr txBox="1">
            <a:spLocks noGrp="1"/>
          </p:cNvSpPr>
          <p:nvPr>
            <p:ph type="sldNum" idx="12"/>
          </p:nvPr>
        </p:nvSpPr>
        <p:spPr>
          <a:xfrm>
            <a:off x="4143587" y="9119474"/>
            <a:ext cx="3169920" cy="481726"/>
          </a:xfrm>
          <a:prstGeom prst="rect">
            <a:avLst/>
          </a:prstGeom>
          <a:noFill/>
          <a:ln>
            <a:noFill/>
          </a:ln>
        </p:spPr>
        <p:txBody>
          <a:bodyPr spcFirstLastPara="1" wrap="square" lIns="96645" tIns="48309" rIns="96645" bIns="48309" anchor="b" anchorCtr="0">
            <a:noAutofit/>
          </a:bodyPr>
          <a:lstStyle/>
          <a:p>
            <a:pPr algn="r"/>
            <a:fld id="{00000000-1234-1234-1234-123412341234}" type="slidenum">
              <a:rPr lang="en-US"/>
              <a:pPr algn="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smtClean="0">
                <a:solidFill>
                  <a:schemeClr val="dk1"/>
                </a:solidFill>
                <a:latin typeface="Calibri"/>
                <a:ea typeface="Calibri"/>
                <a:cs typeface="Calibri"/>
                <a:sym typeface="Calibri"/>
              </a:rPr>
              <a:pPr algn="r"/>
              <a:t>13</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541863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2: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 name="Google Shape;218;p12:notes"/>
          <p:cNvSpPr txBox="1">
            <a:spLocks noGrp="1"/>
          </p:cNvSpPr>
          <p:nvPr>
            <p:ph type="body" idx="1"/>
          </p:nvPr>
        </p:nvSpPr>
        <p:spPr>
          <a:xfrm>
            <a:off x="731520" y="4620577"/>
            <a:ext cx="5852160" cy="3780473"/>
          </a:xfrm>
          <a:prstGeom prst="rect">
            <a:avLst/>
          </a:prstGeom>
          <a:noFill/>
          <a:ln>
            <a:noFill/>
          </a:ln>
        </p:spPr>
        <p:txBody>
          <a:bodyPr spcFirstLastPara="1" wrap="square" lIns="96645" tIns="48309" rIns="96645" bIns="48309" anchor="t" anchorCtr="0">
            <a:noAutofit/>
          </a:bodyPr>
          <a:lstStyle/>
          <a:p>
            <a:pPr marL="0" indent="0"/>
            <a:endParaRPr/>
          </a:p>
        </p:txBody>
      </p:sp>
      <p:sp>
        <p:nvSpPr>
          <p:cNvPr id="219" name="Google Shape;219;p12:notes"/>
          <p:cNvSpPr txBox="1">
            <a:spLocks noGrp="1"/>
          </p:cNvSpPr>
          <p:nvPr>
            <p:ph type="sldNum" idx="12"/>
          </p:nvPr>
        </p:nvSpPr>
        <p:spPr>
          <a:xfrm>
            <a:off x="4143587" y="9119474"/>
            <a:ext cx="3169920" cy="481726"/>
          </a:xfrm>
          <a:prstGeom prst="rect">
            <a:avLst/>
          </a:prstGeom>
          <a:noFill/>
          <a:ln>
            <a:noFill/>
          </a:ln>
        </p:spPr>
        <p:txBody>
          <a:bodyPr spcFirstLastPara="1" wrap="square" lIns="96645" tIns="48309" rIns="96645" bIns="48309" anchor="b" anchorCtr="0">
            <a:noAutofit/>
          </a:bodyPr>
          <a:lstStyle/>
          <a:p>
            <a:pPr algn="r"/>
            <a:fld id="{00000000-1234-1234-1234-123412341234}" type="slidenum">
              <a:rPr lang="en-US"/>
              <a:pPr algn="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3:notes"/>
          <p:cNvSpPr txBox="1">
            <a:spLocks noGrp="1"/>
          </p:cNvSpPr>
          <p:nvPr>
            <p:ph type="body" idx="1"/>
          </p:nvPr>
        </p:nvSpPr>
        <p:spPr>
          <a:xfrm>
            <a:off x="731520" y="4620577"/>
            <a:ext cx="5852160" cy="3780473"/>
          </a:xfrm>
          <a:prstGeom prst="rect">
            <a:avLst/>
          </a:prstGeom>
          <a:noFill/>
          <a:ln>
            <a:noFill/>
          </a:ln>
        </p:spPr>
        <p:txBody>
          <a:bodyPr spcFirstLastPara="1" wrap="square" lIns="96645" tIns="48309" rIns="96645" bIns="48309" anchor="t" anchorCtr="0">
            <a:noAutofit/>
          </a:bodyPr>
          <a:lstStyle/>
          <a:p>
            <a:pPr marL="0" indent="0"/>
            <a:r>
              <a:rPr lang="en-US"/>
              <a:t>Note: All Equitable service amounts for all funding sources will be calculated in NexSys this coming grant year. </a:t>
            </a:r>
            <a:endParaRPr/>
          </a:p>
        </p:txBody>
      </p:sp>
      <p:sp>
        <p:nvSpPr>
          <p:cNvPr id="231" name="Google Shape;231;p13:notes"/>
          <p:cNvSpPr txBox="1">
            <a:spLocks noGrp="1"/>
          </p:cNvSpPr>
          <p:nvPr>
            <p:ph type="sldNum" idx="12"/>
          </p:nvPr>
        </p:nvSpPr>
        <p:spPr>
          <a:xfrm>
            <a:off x="4143587" y="9119474"/>
            <a:ext cx="3169920" cy="481726"/>
          </a:xfrm>
          <a:prstGeom prst="rect">
            <a:avLst/>
          </a:prstGeom>
          <a:noFill/>
          <a:ln>
            <a:noFill/>
          </a:ln>
        </p:spPr>
        <p:txBody>
          <a:bodyPr spcFirstLastPara="1" wrap="square" lIns="96645" tIns="48309" rIns="96645" bIns="48309" anchor="b" anchorCtr="0">
            <a:noAutofit/>
          </a:bodyPr>
          <a:lstStyle/>
          <a:p>
            <a:pPr algn="r"/>
            <a:fld id="{00000000-1234-1234-1234-123412341234}" type="slidenum">
              <a:rPr lang="en-US"/>
              <a:pPr algn="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4:notes"/>
          <p:cNvSpPr txBox="1">
            <a:spLocks noGrp="1"/>
          </p:cNvSpPr>
          <p:nvPr>
            <p:ph type="body" idx="1"/>
          </p:nvPr>
        </p:nvSpPr>
        <p:spPr>
          <a:xfrm>
            <a:off x="731520" y="4620577"/>
            <a:ext cx="5852160" cy="3780473"/>
          </a:xfrm>
          <a:prstGeom prst="rect">
            <a:avLst/>
          </a:prstGeom>
        </p:spPr>
        <p:txBody>
          <a:bodyPr spcFirstLastPara="1" wrap="square" lIns="96645" tIns="48309" rIns="96645" bIns="48309" anchor="t" anchorCtr="0">
            <a:noAutofit/>
          </a:bodyPr>
          <a:lstStyle/>
          <a:p>
            <a:pPr marL="0" indent="0"/>
            <a:endParaRPr dirty="0"/>
          </a:p>
        </p:txBody>
      </p:sp>
      <p:sp>
        <p:nvSpPr>
          <p:cNvPr id="240" name="Google Shape;240;p14: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smtClean="0">
                <a:solidFill>
                  <a:schemeClr val="dk1"/>
                </a:solidFill>
                <a:latin typeface="Calibri"/>
                <a:ea typeface="Calibri"/>
                <a:cs typeface="Calibri"/>
                <a:sym typeface="Calibri"/>
              </a:rPr>
              <a:pPr algn="r"/>
              <a:t>17</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715977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15:notes"/>
          <p:cNvSpPr txBox="1">
            <a:spLocks noGrp="1"/>
          </p:cNvSpPr>
          <p:nvPr>
            <p:ph type="body" idx="1"/>
          </p:nvPr>
        </p:nvSpPr>
        <p:spPr>
          <a:xfrm>
            <a:off x="731520" y="4620577"/>
            <a:ext cx="5852160" cy="3780473"/>
          </a:xfrm>
          <a:prstGeom prst="rect">
            <a:avLst/>
          </a:prstGeom>
          <a:noFill/>
          <a:ln>
            <a:noFill/>
          </a:ln>
        </p:spPr>
        <p:txBody>
          <a:bodyPr spcFirstLastPara="1" wrap="square" lIns="96645" tIns="48309" rIns="96645" bIns="48309" anchor="t" anchorCtr="0">
            <a:noAutofit/>
          </a:bodyPr>
          <a:lstStyle/>
          <a:p>
            <a:pPr marL="0" indent="0">
              <a:buClr>
                <a:schemeClr val="dk1"/>
              </a:buClr>
              <a:buSzPts val="1200"/>
            </a:pPr>
            <a:r>
              <a:rPr lang="en-US" dirty="0"/>
              <a:t>Note: All Equitable service amounts for all funding sources will be calculated in </a:t>
            </a:r>
            <a:r>
              <a:rPr lang="en-US" dirty="0" err="1"/>
              <a:t>NexSys</a:t>
            </a:r>
            <a:r>
              <a:rPr lang="en-US" dirty="0"/>
              <a:t> this coming grant year. </a:t>
            </a:r>
            <a:endParaRPr dirty="0"/>
          </a:p>
          <a:p>
            <a:pPr marL="0" indent="0"/>
            <a:endParaRPr dirty="0"/>
          </a:p>
        </p:txBody>
      </p:sp>
      <p:sp>
        <p:nvSpPr>
          <p:cNvPr id="250" name="Google Shape;250;p15:notes"/>
          <p:cNvSpPr txBox="1">
            <a:spLocks noGrp="1"/>
          </p:cNvSpPr>
          <p:nvPr>
            <p:ph type="sldNum" idx="12"/>
          </p:nvPr>
        </p:nvSpPr>
        <p:spPr>
          <a:xfrm>
            <a:off x="4143587" y="9119474"/>
            <a:ext cx="3169920" cy="481726"/>
          </a:xfrm>
          <a:prstGeom prst="rect">
            <a:avLst/>
          </a:prstGeom>
          <a:noFill/>
          <a:ln>
            <a:noFill/>
          </a:ln>
        </p:spPr>
        <p:txBody>
          <a:bodyPr spcFirstLastPara="1" wrap="square" lIns="96645" tIns="48309" rIns="96645" bIns="48309" anchor="b" anchorCtr="0">
            <a:noAutofit/>
          </a:bodyPr>
          <a:lstStyle/>
          <a:p>
            <a:pPr algn="r"/>
            <a:fld id="{00000000-1234-1234-1234-123412341234}" type="slidenum">
              <a:rPr lang="en-US"/>
              <a:pPr algn="r"/>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6:notes"/>
          <p:cNvSpPr txBox="1">
            <a:spLocks noGrp="1"/>
          </p:cNvSpPr>
          <p:nvPr>
            <p:ph type="body" idx="1"/>
          </p:nvPr>
        </p:nvSpPr>
        <p:spPr>
          <a:xfrm>
            <a:off x="731520" y="4620577"/>
            <a:ext cx="5852160" cy="3780473"/>
          </a:xfrm>
          <a:prstGeom prst="rect">
            <a:avLst/>
          </a:prstGeom>
        </p:spPr>
        <p:txBody>
          <a:bodyPr spcFirstLastPara="1" wrap="square" lIns="96645" tIns="48309" rIns="96645" bIns="48309" anchor="t" anchorCtr="0">
            <a:noAutofit/>
          </a:bodyPr>
          <a:lstStyle/>
          <a:p>
            <a:pPr marL="0" indent="0"/>
            <a:r>
              <a:rPr lang="en-US" dirty="0"/>
              <a:t>These are the students who are SERVED AFTER  it is determined that low income resident students in the previous fall count have generated funds.  NOTE:  the income level of the student has NO BEARING on their academic eligibility for services.   </a:t>
            </a:r>
          </a:p>
          <a:p>
            <a:pPr marL="0" indent="0"/>
            <a:endParaRPr dirty="0"/>
          </a:p>
        </p:txBody>
      </p:sp>
      <p:sp>
        <p:nvSpPr>
          <p:cNvPr id="259" name="Google Shape;259;p1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this in the same terms as your own Title IA program at the LEA where you establish written entrance and exit criteria for Title IA services, that must be determined for the private school program as well.</a:t>
            </a:r>
          </a:p>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smtClean="0">
                <a:solidFill>
                  <a:schemeClr val="dk1"/>
                </a:solidFill>
                <a:latin typeface="Calibri"/>
                <a:ea typeface="Calibri"/>
                <a:cs typeface="Calibri"/>
                <a:sym typeface="Calibri"/>
              </a:rPr>
              <a:pPr algn="r"/>
              <a:t>21</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661801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7: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17:notes"/>
          <p:cNvSpPr txBox="1">
            <a:spLocks noGrp="1"/>
          </p:cNvSpPr>
          <p:nvPr>
            <p:ph type="body" idx="1"/>
          </p:nvPr>
        </p:nvSpPr>
        <p:spPr>
          <a:xfrm>
            <a:off x="731520" y="4620577"/>
            <a:ext cx="5852160" cy="3780473"/>
          </a:xfrm>
          <a:prstGeom prst="rect">
            <a:avLst/>
          </a:prstGeom>
          <a:noFill/>
          <a:ln>
            <a:noFill/>
          </a:ln>
        </p:spPr>
        <p:txBody>
          <a:bodyPr spcFirstLastPara="1" wrap="square" lIns="96645" tIns="48309" rIns="96645" bIns="48309" anchor="t" anchorCtr="0">
            <a:noAutofit/>
          </a:bodyPr>
          <a:lstStyle/>
          <a:p>
            <a:pPr marL="0" indent="0"/>
            <a:endParaRPr/>
          </a:p>
        </p:txBody>
      </p:sp>
      <p:sp>
        <p:nvSpPr>
          <p:cNvPr id="269" name="Google Shape;269;p17:notes"/>
          <p:cNvSpPr txBox="1">
            <a:spLocks noGrp="1"/>
          </p:cNvSpPr>
          <p:nvPr>
            <p:ph type="sldNum" idx="12"/>
          </p:nvPr>
        </p:nvSpPr>
        <p:spPr>
          <a:xfrm>
            <a:off x="4143587" y="9119474"/>
            <a:ext cx="3169920" cy="481726"/>
          </a:xfrm>
          <a:prstGeom prst="rect">
            <a:avLst/>
          </a:prstGeom>
          <a:noFill/>
          <a:ln>
            <a:noFill/>
          </a:ln>
        </p:spPr>
        <p:txBody>
          <a:bodyPr spcFirstLastPara="1" wrap="square" lIns="96645" tIns="48309" rIns="96645" bIns="48309" anchor="b" anchorCtr="0">
            <a:noAutofit/>
          </a:bodyPr>
          <a:lstStyle/>
          <a:p>
            <a:pPr algn="r"/>
            <a:fld id="{00000000-1234-1234-1234-123412341234}" type="slidenum">
              <a:rPr lang="en-US"/>
              <a:pPr algn="r"/>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8:notes"/>
          <p:cNvSpPr txBox="1">
            <a:spLocks noGrp="1"/>
          </p:cNvSpPr>
          <p:nvPr>
            <p:ph type="body" idx="1"/>
          </p:nvPr>
        </p:nvSpPr>
        <p:spPr>
          <a:xfrm>
            <a:off x="731520" y="4620577"/>
            <a:ext cx="5852160" cy="3780473"/>
          </a:xfrm>
          <a:prstGeom prst="rect">
            <a:avLst/>
          </a:prstGeom>
        </p:spPr>
        <p:txBody>
          <a:bodyPr spcFirstLastPara="1" wrap="square" lIns="96645" tIns="48309" rIns="96645" bIns="48309" anchor="t" anchorCtr="0">
            <a:noAutofit/>
          </a:bodyPr>
          <a:lstStyle/>
          <a:p>
            <a:pPr marL="0" indent="0"/>
            <a:endParaRPr dirty="0"/>
          </a:p>
        </p:txBody>
      </p:sp>
      <p:sp>
        <p:nvSpPr>
          <p:cNvPr id="278" name="Google Shape;278;p1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p19:notes"/>
          <p:cNvSpPr txBox="1">
            <a:spLocks noGrp="1"/>
          </p:cNvSpPr>
          <p:nvPr>
            <p:ph type="body" idx="1"/>
          </p:nvPr>
        </p:nvSpPr>
        <p:spPr>
          <a:xfrm>
            <a:off x="731520" y="4620577"/>
            <a:ext cx="5852160" cy="3780473"/>
          </a:xfrm>
          <a:prstGeom prst="rect">
            <a:avLst/>
          </a:prstGeom>
          <a:noFill/>
          <a:ln>
            <a:noFill/>
          </a:ln>
        </p:spPr>
        <p:txBody>
          <a:bodyPr spcFirstLastPara="1" wrap="square" lIns="96645" tIns="48309" rIns="96645" bIns="48309" anchor="t" anchorCtr="0">
            <a:noAutofit/>
          </a:bodyPr>
          <a:lstStyle/>
          <a:p>
            <a:pPr marL="0" indent="0"/>
            <a:endParaRPr/>
          </a:p>
        </p:txBody>
      </p:sp>
      <p:sp>
        <p:nvSpPr>
          <p:cNvPr id="288" name="Google Shape;288;p19:notes"/>
          <p:cNvSpPr txBox="1">
            <a:spLocks noGrp="1"/>
          </p:cNvSpPr>
          <p:nvPr>
            <p:ph type="sldNum" idx="12"/>
          </p:nvPr>
        </p:nvSpPr>
        <p:spPr>
          <a:xfrm>
            <a:off x="4143587" y="9119474"/>
            <a:ext cx="3169920" cy="481726"/>
          </a:xfrm>
          <a:prstGeom prst="rect">
            <a:avLst/>
          </a:prstGeom>
          <a:noFill/>
          <a:ln>
            <a:noFill/>
          </a:ln>
        </p:spPr>
        <p:txBody>
          <a:bodyPr spcFirstLastPara="1" wrap="square" lIns="96645" tIns="48309" rIns="96645" bIns="48309" anchor="b" anchorCtr="0">
            <a:noAutofit/>
          </a:bodyPr>
          <a:lstStyle/>
          <a:p>
            <a:pPr algn="r"/>
            <a:fld id="{00000000-1234-1234-1234-123412341234}" type="slidenum">
              <a:rPr lang="en-US"/>
              <a:pPr algn="r"/>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0:notes"/>
          <p:cNvSpPr txBox="1">
            <a:spLocks noGrp="1"/>
          </p:cNvSpPr>
          <p:nvPr>
            <p:ph type="body" idx="1"/>
          </p:nvPr>
        </p:nvSpPr>
        <p:spPr>
          <a:xfrm>
            <a:off x="731520" y="4620577"/>
            <a:ext cx="5852160" cy="3780473"/>
          </a:xfrm>
          <a:prstGeom prst="rect">
            <a:avLst/>
          </a:prstGeom>
        </p:spPr>
        <p:txBody>
          <a:bodyPr spcFirstLastPara="1" wrap="square" lIns="96645" tIns="48309" rIns="96645" bIns="48309" anchor="t" anchorCtr="0">
            <a:noAutofit/>
          </a:bodyPr>
          <a:lstStyle/>
          <a:p>
            <a:pPr marL="0" indent="0"/>
            <a:endParaRPr/>
          </a:p>
        </p:txBody>
      </p:sp>
      <p:sp>
        <p:nvSpPr>
          <p:cNvPr id="300" name="Google Shape;300;p2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1:notes"/>
          <p:cNvSpPr txBox="1">
            <a:spLocks noGrp="1"/>
          </p:cNvSpPr>
          <p:nvPr>
            <p:ph type="body" idx="1"/>
          </p:nvPr>
        </p:nvSpPr>
        <p:spPr>
          <a:xfrm>
            <a:off x="731520" y="4620577"/>
            <a:ext cx="5852160" cy="3780473"/>
          </a:xfrm>
          <a:prstGeom prst="rect">
            <a:avLst/>
          </a:prstGeom>
        </p:spPr>
        <p:txBody>
          <a:bodyPr spcFirstLastPara="1" wrap="square" lIns="96645" tIns="48309" rIns="96645" bIns="48309" anchor="t" anchorCtr="0">
            <a:noAutofit/>
          </a:bodyPr>
          <a:lstStyle/>
          <a:p>
            <a:pPr marL="0" indent="0"/>
            <a:endParaRPr/>
          </a:p>
        </p:txBody>
      </p:sp>
      <p:sp>
        <p:nvSpPr>
          <p:cNvPr id="309" name="Google Shape;309;p2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2:notes"/>
          <p:cNvSpPr txBox="1">
            <a:spLocks noGrp="1"/>
          </p:cNvSpPr>
          <p:nvPr>
            <p:ph type="body" idx="1"/>
          </p:nvPr>
        </p:nvSpPr>
        <p:spPr>
          <a:xfrm>
            <a:off x="731520" y="4620577"/>
            <a:ext cx="5852160" cy="3780473"/>
          </a:xfrm>
          <a:prstGeom prst="rect">
            <a:avLst/>
          </a:prstGeom>
        </p:spPr>
        <p:txBody>
          <a:bodyPr spcFirstLastPara="1" wrap="square" lIns="96645" tIns="48309" rIns="96645" bIns="48309" anchor="t" anchorCtr="0">
            <a:noAutofit/>
          </a:bodyPr>
          <a:lstStyle/>
          <a:p>
            <a:pPr marL="0" indent="0"/>
            <a:endParaRPr/>
          </a:p>
        </p:txBody>
      </p:sp>
      <p:sp>
        <p:nvSpPr>
          <p:cNvPr id="318" name="Google Shape;318;p22: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3:notes"/>
          <p:cNvSpPr txBox="1">
            <a:spLocks noGrp="1"/>
          </p:cNvSpPr>
          <p:nvPr>
            <p:ph type="body" idx="1"/>
          </p:nvPr>
        </p:nvSpPr>
        <p:spPr>
          <a:xfrm>
            <a:off x="731520" y="4620577"/>
            <a:ext cx="5852160" cy="3780473"/>
          </a:xfrm>
          <a:prstGeom prst="rect">
            <a:avLst/>
          </a:prstGeom>
        </p:spPr>
        <p:txBody>
          <a:bodyPr spcFirstLastPara="1" wrap="square" lIns="96645" tIns="48309" rIns="96645" bIns="48309" anchor="t" anchorCtr="0">
            <a:noAutofit/>
          </a:bodyPr>
          <a:lstStyle/>
          <a:p>
            <a:pPr marL="0" indent="0"/>
            <a:endParaRPr/>
          </a:p>
        </p:txBody>
      </p:sp>
      <p:sp>
        <p:nvSpPr>
          <p:cNvPr id="327" name="Google Shape;327;p2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4: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p24:notes"/>
          <p:cNvSpPr txBox="1">
            <a:spLocks noGrp="1"/>
          </p:cNvSpPr>
          <p:nvPr>
            <p:ph type="body" idx="1"/>
          </p:nvPr>
        </p:nvSpPr>
        <p:spPr>
          <a:xfrm>
            <a:off x="731520" y="4620577"/>
            <a:ext cx="5852160" cy="3780473"/>
          </a:xfrm>
          <a:prstGeom prst="rect">
            <a:avLst/>
          </a:prstGeom>
          <a:noFill/>
          <a:ln>
            <a:noFill/>
          </a:ln>
        </p:spPr>
        <p:txBody>
          <a:bodyPr spcFirstLastPara="1" wrap="square" lIns="96645" tIns="48309" rIns="96645" bIns="48309" anchor="t" anchorCtr="0">
            <a:noAutofit/>
          </a:bodyPr>
          <a:lstStyle/>
          <a:p>
            <a:pPr marL="0" indent="0"/>
            <a:r>
              <a:rPr lang="en-US"/>
              <a:t>Legislation requires an LEA to maintain, and provide to the appropriate entity, the following documentation about the consultation process:</a:t>
            </a:r>
            <a:endParaRPr/>
          </a:p>
          <a:p>
            <a:pPr marL="0" indent="0"/>
            <a:endParaRPr b="1"/>
          </a:p>
          <a:p>
            <a:pPr marL="0" indent="0"/>
            <a:r>
              <a:rPr lang="en-US" b="1"/>
              <a:t>Written Affirmation: </a:t>
            </a:r>
            <a:r>
              <a:rPr lang="en-US"/>
              <a:t>Private school officials must affirm in writing that consultation has occurred. Written affirmation also must provide the option for private school officials to indicate their belief that timely and meaningful consultation has or has  not occurred or that the program design is equitable of not equitable with respect to eligible private school children. </a:t>
            </a:r>
            <a:endParaRPr/>
          </a:p>
          <a:p>
            <a:pPr marL="0" indent="0"/>
            <a:r>
              <a:rPr lang="en-US" b="1"/>
              <a:t>Results of Agreement: </a:t>
            </a:r>
            <a:r>
              <a:rPr lang="en-US"/>
              <a:t>The LEA must document if consultation resulted in agreement between the LEA and appropriate private school officials.</a:t>
            </a:r>
            <a:endParaRPr/>
          </a:p>
          <a:p>
            <a:pPr marL="0" indent="0"/>
            <a:r>
              <a:rPr lang="en-US" b="1"/>
              <a:t>Reason for Disagreement (if applicable): </a:t>
            </a:r>
            <a:r>
              <a:rPr lang="en-US"/>
              <a:t>If the LEA disagrees with the views of the private school officials with respect to an issue discussed during consultation, the LEA must provide in writing to such private school officials the reasons why the LEA disagrees.</a:t>
            </a:r>
            <a:endParaRPr/>
          </a:p>
          <a:p>
            <a:pPr marL="0" indent="0"/>
            <a:r>
              <a:rPr lang="en-US"/>
              <a:t>The Consultation Document on the OES website , is currently required to be uploaded in the GEMS/MARS portal. This document will meet all the requirements. </a:t>
            </a:r>
            <a:endParaRPr/>
          </a:p>
          <a:p>
            <a:pPr marL="0" indent="0"/>
            <a:r>
              <a:rPr lang="en-US"/>
              <a:t>At a minimum, it should be completed during the initial submission of the Consolidated Application and again at Amendment time.</a:t>
            </a:r>
            <a:endParaRPr/>
          </a:p>
          <a:p>
            <a:pPr marL="0" indent="0"/>
            <a:endParaRPr/>
          </a:p>
        </p:txBody>
      </p:sp>
      <p:sp>
        <p:nvSpPr>
          <p:cNvPr id="337" name="Google Shape;337;p24:notes"/>
          <p:cNvSpPr txBox="1">
            <a:spLocks noGrp="1"/>
          </p:cNvSpPr>
          <p:nvPr>
            <p:ph type="sldNum" idx="12"/>
          </p:nvPr>
        </p:nvSpPr>
        <p:spPr>
          <a:xfrm>
            <a:off x="4143587" y="9119474"/>
            <a:ext cx="3169920" cy="481726"/>
          </a:xfrm>
          <a:prstGeom prst="rect">
            <a:avLst/>
          </a:prstGeom>
          <a:noFill/>
          <a:ln>
            <a:noFill/>
          </a:ln>
        </p:spPr>
        <p:txBody>
          <a:bodyPr spcFirstLastPara="1" wrap="square" lIns="96645" tIns="48309" rIns="96645" bIns="48309" anchor="b" anchorCtr="0">
            <a:noAutofit/>
          </a:bodyPr>
          <a:lstStyle/>
          <a:p>
            <a:pPr algn="r"/>
            <a:fld id="{00000000-1234-1234-1234-123412341234}" type="slidenum">
              <a:rPr lang="en-US"/>
              <a:pPr algn="r"/>
              <a:t>30</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p25:notes"/>
          <p:cNvSpPr txBox="1">
            <a:spLocks noGrp="1"/>
          </p:cNvSpPr>
          <p:nvPr>
            <p:ph type="body" idx="1"/>
          </p:nvPr>
        </p:nvSpPr>
        <p:spPr>
          <a:xfrm>
            <a:off x="731520" y="4620577"/>
            <a:ext cx="5852160" cy="3780473"/>
          </a:xfrm>
          <a:prstGeom prst="rect">
            <a:avLst/>
          </a:prstGeom>
          <a:noFill/>
          <a:ln>
            <a:noFill/>
          </a:ln>
        </p:spPr>
        <p:txBody>
          <a:bodyPr spcFirstLastPara="1" wrap="square" lIns="96645" tIns="48309" rIns="96645" bIns="48309" anchor="t" anchorCtr="0">
            <a:noAutofit/>
          </a:bodyPr>
          <a:lstStyle/>
          <a:p>
            <a:pPr marL="0" indent="0"/>
            <a:r>
              <a:rPr lang="en-US"/>
              <a:t>In addition to the required documentation discussed on the previous slide, it is also good practice for an LEA to keep the following documentation:</a:t>
            </a:r>
            <a:endParaRPr/>
          </a:p>
          <a:p>
            <a:pPr marL="0" indent="0"/>
            <a:endParaRPr/>
          </a:p>
          <a:p>
            <a:pPr marL="369367" indent="-369367">
              <a:lnSpc>
                <a:spcPct val="105000"/>
              </a:lnSpc>
              <a:buClr>
                <a:schemeClr val="dk1"/>
              </a:buClr>
              <a:buSzPts val="1200"/>
              <a:buFont typeface="Noto Sans Symbols"/>
              <a:buChar char="∙"/>
            </a:pPr>
            <a:r>
              <a:rPr lang="en-US">
                <a:latin typeface="Verdana"/>
                <a:ea typeface="Verdana"/>
                <a:cs typeface="Verdana"/>
                <a:sym typeface="Verdana"/>
              </a:rPr>
              <a:t>Copies of emails, letters</a:t>
            </a:r>
            <a:endParaRPr>
              <a:latin typeface="Verdana"/>
              <a:ea typeface="Verdana"/>
              <a:cs typeface="Verdana"/>
              <a:sym typeface="Verdana"/>
            </a:endParaRPr>
          </a:p>
          <a:p>
            <a:pPr marL="369367" indent="-369367">
              <a:lnSpc>
                <a:spcPct val="105000"/>
              </a:lnSpc>
              <a:buClr>
                <a:schemeClr val="dk1"/>
              </a:buClr>
              <a:buSzPts val="1200"/>
              <a:buFont typeface="Noto Sans Symbols"/>
              <a:buChar char="∙"/>
            </a:pPr>
            <a:r>
              <a:rPr lang="en-US">
                <a:latin typeface="Verdana"/>
                <a:ea typeface="Verdana"/>
                <a:cs typeface="Verdana"/>
                <a:sym typeface="Verdana"/>
              </a:rPr>
              <a:t>Signature Receipts from Certified mail</a:t>
            </a:r>
            <a:endParaRPr>
              <a:latin typeface="Verdana"/>
              <a:ea typeface="Verdana"/>
              <a:cs typeface="Verdana"/>
              <a:sym typeface="Verdana"/>
            </a:endParaRPr>
          </a:p>
          <a:p>
            <a:pPr marL="369367" indent="-369367">
              <a:lnSpc>
                <a:spcPct val="105000"/>
              </a:lnSpc>
              <a:buClr>
                <a:schemeClr val="dk1"/>
              </a:buClr>
              <a:buSzPts val="1200"/>
              <a:buFont typeface="Noto Sans Symbols"/>
              <a:buChar char="∙"/>
            </a:pPr>
            <a:r>
              <a:rPr lang="en-US">
                <a:latin typeface="Verdana"/>
                <a:ea typeface="Verdana"/>
                <a:cs typeface="Verdana"/>
                <a:sym typeface="Verdana"/>
              </a:rPr>
              <a:t>Phone Logs</a:t>
            </a:r>
            <a:endParaRPr>
              <a:latin typeface="Verdana"/>
              <a:ea typeface="Verdana"/>
              <a:cs typeface="Verdana"/>
              <a:sym typeface="Verdana"/>
            </a:endParaRPr>
          </a:p>
          <a:p>
            <a:pPr marL="369367" indent="-369367">
              <a:lnSpc>
                <a:spcPct val="105000"/>
              </a:lnSpc>
              <a:buClr>
                <a:schemeClr val="dk1"/>
              </a:buClr>
              <a:buSzPts val="1200"/>
              <a:buFont typeface="Noto Sans Symbols"/>
              <a:buChar char="∙"/>
            </a:pPr>
            <a:r>
              <a:rPr lang="en-US">
                <a:latin typeface="Verdana"/>
                <a:ea typeface="Verdana"/>
                <a:cs typeface="Verdana"/>
                <a:sym typeface="Verdana"/>
              </a:rPr>
              <a:t>Meeting Minutes and Agendas including virtual meetings</a:t>
            </a:r>
            <a:endParaRPr>
              <a:latin typeface="Verdana"/>
              <a:ea typeface="Verdana"/>
              <a:cs typeface="Verdana"/>
              <a:sym typeface="Verdana"/>
            </a:endParaRPr>
          </a:p>
          <a:p>
            <a:pPr marL="369367" indent="-369367">
              <a:lnSpc>
                <a:spcPct val="105000"/>
              </a:lnSpc>
              <a:buClr>
                <a:schemeClr val="dk1"/>
              </a:buClr>
              <a:buSzPts val="1200"/>
              <a:buFont typeface="Noto Sans Symbols"/>
              <a:buChar char="∙"/>
            </a:pPr>
            <a:r>
              <a:rPr lang="en-US">
                <a:latin typeface="Verdana"/>
                <a:ea typeface="Verdana"/>
                <a:cs typeface="Verdana"/>
                <a:sym typeface="Verdana"/>
              </a:rPr>
              <a:t>Written Process for how the LEA works with Private Schools</a:t>
            </a:r>
            <a:endParaRPr>
              <a:latin typeface="Verdana"/>
              <a:ea typeface="Verdana"/>
              <a:cs typeface="Verdana"/>
              <a:sym typeface="Verdana"/>
            </a:endParaRPr>
          </a:p>
          <a:p>
            <a:pPr marL="369367" indent="-369367">
              <a:lnSpc>
                <a:spcPct val="105000"/>
              </a:lnSpc>
              <a:buClr>
                <a:schemeClr val="dk1"/>
              </a:buClr>
              <a:buSzPts val="1200"/>
              <a:buFont typeface="Noto Sans Symbols"/>
              <a:buChar char="∙"/>
            </a:pPr>
            <a:r>
              <a:rPr lang="en-US">
                <a:latin typeface="Verdana"/>
                <a:ea typeface="Verdana"/>
                <a:cs typeface="Verdana"/>
                <a:sym typeface="Verdana"/>
              </a:rPr>
              <a:t>Timeline</a:t>
            </a:r>
            <a:endParaRPr/>
          </a:p>
          <a:p>
            <a:pPr marL="369367" indent="-369367">
              <a:lnSpc>
                <a:spcPct val="105000"/>
              </a:lnSpc>
              <a:buClr>
                <a:schemeClr val="dk1"/>
              </a:buClr>
              <a:buSzPts val="1200"/>
              <a:buFont typeface="Noto Sans Symbols"/>
              <a:buChar char="∙"/>
            </a:pPr>
            <a:r>
              <a:rPr lang="en-US">
                <a:latin typeface="Verdana"/>
                <a:ea typeface="Verdana"/>
                <a:cs typeface="Verdana"/>
                <a:sym typeface="Verdana"/>
              </a:rPr>
              <a:t>Any other documentation the LEA has like the equitable share worksheet.</a:t>
            </a:r>
            <a:endParaRPr>
              <a:latin typeface="Verdana"/>
              <a:ea typeface="Verdana"/>
              <a:cs typeface="Verdana"/>
              <a:sym typeface="Verdana"/>
            </a:endParaRPr>
          </a:p>
          <a:p>
            <a:pPr marL="0" indent="0"/>
            <a:endParaRPr/>
          </a:p>
        </p:txBody>
      </p:sp>
      <p:sp>
        <p:nvSpPr>
          <p:cNvPr id="347" name="Google Shape;347;p25:notes"/>
          <p:cNvSpPr txBox="1">
            <a:spLocks noGrp="1"/>
          </p:cNvSpPr>
          <p:nvPr>
            <p:ph type="sldNum" idx="12"/>
          </p:nvPr>
        </p:nvSpPr>
        <p:spPr>
          <a:xfrm>
            <a:off x="4143587" y="9119474"/>
            <a:ext cx="3169920" cy="481726"/>
          </a:xfrm>
          <a:prstGeom prst="rect">
            <a:avLst/>
          </a:prstGeom>
          <a:noFill/>
          <a:ln>
            <a:noFill/>
          </a:ln>
        </p:spPr>
        <p:txBody>
          <a:bodyPr spcFirstLastPara="1" wrap="square" lIns="96645" tIns="48309" rIns="96645" bIns="48309" anchor="b" anchorCtr="0">
            <a:noAutofit/>
          </a:bodyPr>
          <a:lstStyle/>
          <a:p>
            <a:pPr algn="r"/>
            <a:fld id="{00000000-1234-1234-1234-123412341234}" type="slidenum">
              <a:rPr lang="en-US"/>
              <a:pPr algn="r"/>
              <a:t>31</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26:notes"/>
          <p:cNvSpPr txBox="1">
            <a:spLocks noGrp="1"/>
          </p:cNvSpPr>
          <p:nvPr>
            <p:ph type="body" idx="1"/>
          </p:nvPr>
        </p:nvSpPr>
        <p:spPr>
          <a:xfrm>
            <a:off x="731520" y="4620577"/>
            <a:ext cx="5852160" cy="3780473"/>
          </a:xfrm>
          <a:prstGeom prst="rect">
            <a:avLst/>
          </a:prstGeom>
        </p:spPr>
        <p:txBody>
          <a:bodyPr spcFirstLastPara="1" wrap="square" lIns="96645" tIns="48309" rIns="96645" bIns="48309" anchor="t" anchorCtr="0">
            <a:noAutofit/>
          </a:bodyPr>
          <a:lstStyle/>
          <a:p>
            <a:pPr marL="0" indent="0"/>
            <a:endParaRPr/>
          </a:p>
        </p:txBody>
      </p:sp>
      <p:sp>
        <p:nvSpPr>
          <p:cNvPr id="356" name="Google Shape;356;p2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36</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28265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smtClean="0">
                <a:solidFill>
                  <a:schemeClr val="dk1"/>
                </a:solidFill>
                <a:latin typeface="Calibri"/>
                <a:ea typeface="Calibri"/>
                <a:cs typeface="Calibri"/>
                <a:sym typeface="Calibri"/>
              </a:rPr>
              <a:pPr algn="r"/>
              <a:t>37</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906891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C-29. What does it mean for a contractor to be independent of the private school in which it is providing equitable services? In general, whether a contractor is independent of a private school in the provision of equitable services depends on the extent to which the contractor has administrative or fiscal direction and control over the private school. For example, an administrative body that oversees a group of affiliated private schools and has control over the schools’ curriculum and hiring policies would not be independent of a private school subject to its authority. As a result, an LEA would be prohibited from entering into a contract with the administrative body for the provision of equitable services to its affiliated schools. In contrast, a membership organization with no authority over the operations of its member schools likely would be considered independent of such schools. </a:t>
            </a:r>
          </a:p>
        </p:txBody>
      </p:sp>
      <p:sp>
        <p:nvSpPr>
          <p:cNvPr id="4" name="Slide Number Placeholder 3"/>
          <p:cNvSpPr>
            <a:spLocks noGrp="1"/>
          </p:cNvSpPr>
          <p:nvPr>
            <p:ph type="sldNum" idx="12"/>
          </p:nvPr>
        </p:nvSpPr>
        <p:spPr/>
        <p:txBody>
          <a:bodyPr/>
          <a:lstStyle/>
          <a:p>
            <a:pPr algn="r"/>
            <a:fld id="{00000000-1234-1234-1234-123412341234}" type="slidenum">
              <a:rPr lang="en-US" sz="1300">
                <a:solidFill>
                  <a:schemeClr val="dk1"/>
                </a:solidFill>
                <a:latin typeface="Calibri"/>
                <a:ea typeface="Calibri"/>
                <a:cs typeface="Calibri"/>
                <a:sym typeface="Calibri"/>
              </a:rPr>
              <a:pPr algn="r"/>
              <a:t>38</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939487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7: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5" name="Google Shape;365;p27:notes"/>
          <p:cNvSpPr txBox="1">
            <a:spLocks noGrp="1"/>
          </p:cNvSpPr>
          <p:nvPr>
            <p:ph type="body" idx="1"/>
          </p:nvPr>
        </p:nvSpPr>
        <p:spPr>
          <a:xfrm>
            <a:off x="731520" y="4620577"/>
            <a:ext cx="5852160" cy="3780473"/>
          </a:xfrm>
          <a:prstGeom prst="rect">
            <a:avLst/>
          </a:prstGeom>
          <a:noFill/>
          <a:ln>
            <a:noFill/>
          </a:ln>
        </p:spPr>
        <p:txBody>
          <a:bodyPr spcFirstLastPara="1" wrap="square" lIns="96645" tIns="48309" rIns="96645" bIns="48309" anchor="t" anchorCtr="0">
            <a:noAutofit/>
          </a:bodyPr>
          <a:lstStyle/>
          <a:p>
            <a:pPr marL="0" indent="0"/>
            <a:endParaRPr/>
          </a:p>
        </p:txBody>
      </p:sp>
      <p:sp>
        <p:nvSpPr>
          <p:cNvPr id="366" name="Google Shape;366;p27:notes"/>
          <p:cNvSpPr txBox="1">
            <a:spLocks noGrp="1"/>
          </p:cNvSpPr>
          <p:nvPr>
            <p:ph type="sldNum" idx="12"/>
          </p:nvPr>
        </p:nvSpPr>
        <p:spPr>
          <a:xfrm>
            <a:off x="4143587" y="9119474"/>
            <a:ext cx="3169920" cy="481726"/>
          </a:xfrm>
          <a:prstGeom prst="rect">
            <a:avLst/>
          </a:prstGeom>
          <a:noFill/>
          <a:ln>
            <a:noFill/>
          </a:ln>
        </p:spPr>
        <p:txBody>
          <a:bodyPr spcFirstLastPara="1" wrap="square" lIns="96645" tIns="48309" rIns="96645" bIns="48309" anchor="b" anchorCtr="0">
            <a:noAutofit/>
          </a:bodyPr>
          <a:lstStyle/>
          <a:p>
            <a:pPr algn="r"/>
            <a:fld id="{00000000-1234-1234-1234-123412341234}" type="slidenum">
              <a:rPr lang="en-US"/>
              <a:pPr algn="r"/>
              <a:t>40</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28:notes"/>
          <p:cNvSpPr txBox="1">
            <a:spLocks noGrp="1"/>
          </p:cNvSpPr>
          <p:nvPr>
            <p:ph type="body" idx="1"/>
          </p:nvPr>
        </p:nvSpPr>
        <p:spPr>
          <a:xfrm>
            <a:off x="731520" y="4620577"/>
            <a:ext cx="5852160" cy="3780473"/>
          </a:xfrm>
          <a:prstGeom prst="rect">
            <a:avLst/>
          </a:prstGeom>
        </p:spPr>
        <p:txBody>
          <a:bodyPr spcFirstLastPara="1" wrap="square" lIns="96645" tIns="48309" rIns="96645" bIns="48309" anchor="t" anchorCtr="0">
            <a:noAutofit/>
          </a:bodyPr>
          <a:lstStyle/>
          <a:p>
            <a:pPr marL="0" indent="0"/>
            <a:endParaRPr/>
          </a:p>
        </p:txBody>
      </p:sp>
      <p:sp>
        <p:nvSpPr>
          <p:cNvPr id="375" name="Google Shape;375;p2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algn="r"/>
            <a:fld id="{00000000-1234-1234-1234-123412341234}" type="slidenum">
              <a:rPr lang="en-US" sz="1300" smtClean="0">
                <a:solidFill>
                  <a:schemeClr val="dk1"/>
                </a:solidFill>
                <a:latin typeface="Calibri"/>
                <a:ea typeface="Calibri"/>
                <a:cs typeface="Calibri"/>
                <a:sym typeface="Calibri"/>
              </a:rPr>
              <a:pPr algn="r"/>
              <a:t>42</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829740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30"/>
          <p:cNvSpPr/>
          <p:nvPr/>
        </p:nvSpPr>
        <p:spPr>
          <a:xfrm>
            <a:off x="-55831" y="-109181"/>
            <a:ext cx="12529885" cy="710020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Verdana"/>
              <a:ea typeface="Verdana"/>
              <a:cs typeface="Verdana"/>
              <a:sym typeface="Verdana"/>
            </a:endParaRPr>
          </a:p>
        </p:txBody>
      </p:sp>
      <p:pic>
        <p:nvPicPr>
          <p:cNvPr id="19" name="Google Shape;19;p30"/>
          <p:cNvPicPr preferRelativeResize="0"/>
          <p:nvPr/>
        </p:nvPicPr>
        <p:blipFill rotWithShape="1">
          <a:blip r:embed="rId2">
            <a:alphaModFix/>
          </a:blip>
          <a:srcRect/>
          <a:stretch/>
        </p:blipFill>
        <p:spPr>
          <a:xfrm>
            <a:off x="-2585809" y="-1905843"/>
            <a:ext cx="17045992" cy="10669685"/>
          </a:xfrm>
          <a:prstGeom prst="rect">
            <a:avLst/>
          </a:prstGeom>
          <a:noFill/>
          <a:ln>
            <a:noFill/>
          </a:ln>
        </p:spPr>
      </p:pic>
      <p:sp>
        <p:nvSpPr>
          <p:cNvPr id="20" name="Google Shape;20;p30"/>
          <p:cNvSpPr txBox="1">
            <a:spLocks noGrp="1"/>
          </p:cNvSpPr>
          <p:nvPr>
            <p:ph type="ctrTitle"/>
          </p:nvPr>
        </p:nvSpPr>
        <p:spPr>
          <a:xfrm>
            <a:off x="2320412" y="1122363"/>
            <a:ext cx="765932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345073"/>
              </a:buClr>
              <a:buSzPts val="6000"/>
              <a:buFont typeface="Verdana"/>
              <a:buNone/>
              <a:defRPr sz="6000">
                <a:solidFill>
                  <a:srgbClr val="34507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0"/>
          <p:cNvSpPr txBox="1">
            <a:spLocks noGrp="1"/>
          </p:cNvSpPr>
          <p:nvPr>
            <p:ph type="subTitle" idx="1"/>
          </p:nvPr>
        </p:nvSpPr>
        <p:spPr>
          <a:xfrm>
            <a:off x="2320412" y="3602038"/>
            <a:ext cx="7659329"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30"/>
          <p:cNvSpPr txBox="1">
            <a:spLocks noGrp="1"/>
          </p:cNvSpPr>
          <p:nvPr>
            <p:ph type="dt" idx="10"/>
          </p:nvPr>
        </p:nvSpPr>
        <p:spPr>
          <a:xfrm>
            <a:off x="9111558" y="6356350"/>
            <a:ext cx="155644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0"/>
          <p:cNvSpPr txBox="1">
            <a:spLocks noGrp="1"/>
          </p:cNvSpPr>
          <p:nvPr>
            <p:ph type="ftr" idx="11"/>
          </p:nvPr>
        </p:nvSpPr>
        <p:spPr>
          <a:xfrm>
            <a:off x="3720974" y="6356350"/>
            <a:ext cx="443242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0"/>
          <p:cNvSpPr txBox="1">
            <a:spLocks noGrp="1"/>
          </p:cNvSpPr>
          <p:nvPr>
            <p:ph type="sldNum" idx="12"/>
          </p:nvPr>
        </p:nvSpPr>
        <p:spPr>
          <a:xfrm>
            <a:off x="8292974" y="6356350"/>
            <a:ext cx="67901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b="0" i="0" u="none" strike="noStrike" cap="none">
                <a:solidFill>
                  <a:srgbClr val="888888"/>
                </a:solidFill>
                <a:latin typeface="Verdana"/>
                <a:ea typeface="Verdana"/>
                <a:cs typeface="Verdana"/>
                <a:sym typeface="Verdana"/>
              </a:defRPr>
            </a:lvl1pPr>
            <a:lvl2pPr marL="0" lvl="1" indent="0" algn="ctr">
              <a:spcBef>
                <a:spcPts val="0"/>
              </a:spcBef>
              <a:buNone/>
              <a:defRPr sz="1200" b="0" i="0" u="none" strike="noStrike" cap="none">
                <a:solidFill>
                  <a:srgbClr val="888888"/>
                </a:solidFill>
                <a:latin typeface="Verdana"/>
                <a:ea typeface="Verdana"/>
                <a:cs typeface="Verdana"/>
                <a:sym typeface="Verdana"/>
              </a:defRPr>
            </a:lvl2pPr>
            <a:lvl3pPr marL="0" lvl="2" indent="0" algn="ctr">
              <a:spcBef>
                <a:spcPts val="0"/>
              </a:spcBef>
              <a:buNone/>
              <a:defRPr sz="1200" b="0" i="0" u="none" strike="noStrike" cap="none">
                <a:solidFill>
                  <a:srgbClr val="888888"/>
                </a:solidFill>
                <a:latin typeface="Verdana"/>
                <a:ea typeface="Verdana"/>
                <a:cs typeface="Verdana"/>
                <a:sym typeface="Verdana"/>
              </a:defRPr>
            </a:lvl3pPr>
            <a:lvl4pPr marL="0" lvl="3" indent="0" algn="ctr">
              <a:spcBef>
                <a:spcPts val="0"/>
              </a:spcBef>
              <a:buNone/>
              <a:defRPr sz="1200" b="0" i="0" u="none" strike="noStrike" cap="none">
                <a:solidFill>
                  <a:srgbClr val="888888"/>
                </a:solidFill>
                <a:latin typeface="Verdana"/>
                <a:ea typeface="Verdana"/>
                <a:cs typeface="Verdana"/>
                <a:sym typeface="Verdana"/>
              </a:defRPr>
            </a:lvl4pPr>
            <a:lvl5pPr marL="0" lvl="4" indent="0" algn="ctr">
              <a:spcBef>
                <a:spcPts val="0"/>
              </a:spcBef>
              <a:buNone/>
              <a:defRPr sz="1200" b="0" i="0" u="none" strike="noStrike" cap="none">
                <a:solidFill>
                  <a:srgbClr val="888888"/>
                </a:solidFill>
                <a:latin typeface="Verdana"/>
                <a:ea typeface="Verdana"/>
                <a:cs typeface="Verdana"/>
                <a:sym typeface="Verdana"/>
              </a:defRPr>
            </a:lvl5pPr>
            <a:lvl6pPr marL="0" lvl="5" indent="0" algn="ctr">
              <a:spcBef>
                <a:spcPts val="0"/>
              </a:spcBef>
              <a:buNone/>
              <a:defRPr sz="1200" b="0" i="0" u="none" strike="noStrike" cap="none">
                <a:solidFill>
                  <a:srgbClr val="888888"/>
                </a:solidFill>
                <a:latin typeface="Verdana"/>
                <a:ea typeface="Verdana"/>
                <a:cs typeface="Verdana"/>
                <a:sym typeface="Verdana"/>
              </a:defRPr>
            </a:lvl6pPr>
            <a:lvl7pPr marL="0" lvl="6" indent="0" algn="ctr">
              <a:spcBef>
                <a:spcPts val="0"/>
              </a:spcBef>
              <a:buNone/>
              <a:defRPr sz="1200" b="0" i="0" u="none" strike="noStrike" cap="none">
                <a:solidFill>
                  <a:srgbClr val="888888"/>
                </a:solidFill>
                <a:latin typeface="Verdana"/>
                <a:ea typeface="Verdana"/>
                <a:cs typeface="Verdana"/>
                <a:sym typeface="Verdana"/>
              </a:defRPr>
            </a:lvl7pPr>
            <a:lvl8pPr marL="0" lvl="7" indent="0" algn="ctr">
              <a:spcBef>
                <a:spcPts val="0"/>
              </a:spcBef>
              <a:buNone/>
              <a:defRPr sz="1200" b="0" i="0" u="none" strike="noStrike" cap="none">
                <a:solidFill>
                  <a:srgbClr val="888888"/>
                </a:solidFill>
                <a:latin typeface="Verdana"/>
                <a:ea typeface="Verdana"/>
                <a:cs typeface="Verdana"/>
                <a:sym typeface="Verdana"/>
              </a:defRPr>
            </a:lvl8pPr>
            <a:lvl9pPr marL="0" lvl="8" indent="0" algn="ctr">
              <a:spcBef>
                <a:spcPts val="0"/>
              </a:spcBef>
              <a:buNone/>
              <a:defRPr sz="1200" b="0" i="0" u="none" strike="noStrike" cap="none">
                <a:solidFill>
                  <a:srgbClr val="888888"/>
                </a:solidFill>
                <a:latin typeface="Verdana"/>
                <a:ea typeface="Verdana"/>
                <a:cs typeface="Verdana"/>
                <a:sym typeface="Verdana"/>
              </a:defRPr>
            </a:lvl9pPr>
          </a:lstStyle>
          <a:p>
            <a:pPr marL="0" lvl="0" indent="0" algn="ctr" rtl="0">
              <a:spcBef>
                <a:spcPts val="0"/>
              </a:spcBef>
              <a:spcAft>
                <a:spcPts val="0"/>
              </a:spcAft>
              <a:buNone/>
            </a:pPr>
            <a:fld id="{00000000-1234-1234-1234-123412341234}" type="slidenum">
              <a:rPr lang="en-US"/>
              <a:t>‹#›</a:t>
            </a:fld>
            <a:endParaRPr/>
          </a:p>
        </p:txBody>
      </p:sp>
      <p:pic>
        <p:nvPicPr>
          <p:cNvPr id="25" name="Google Shape;25;p30"/>
          <p:cNvPicPr preferRelativeResize="0"/>
          <p:nvPr/>
        </p:nvPicPr>
        <p:blipFill rotWithShape="1">
          <a:blip r:embed="rId3">
            <a:alphaModFix/>
          </a:blip>
          <a:srcRect/>
          <a:stretch/>
        </p:blipFill>
        <p:spPr>
          <a:xfrm>
            <a:off x="2320413" y="3475446"/>
            <a:ext cx="7659329" cy="16477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31"/>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31"/>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31"/>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1"/>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1"/>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32"/>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32"/>
          <p:cNvSpPr txBox="1">
            <a:spLocks noGrp="1"/>
          </p:cNvSpPr>
          <p:nvPr>
            <p:ph type="body" idx="1"/>
          </p:nvPr>
        </p:nvSpPr>
        <p:spPr>
          <a:xfrm>
            <a:off x="1376126" y="1542197"/>
            <a:ext cx="4643674" cy="463476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32"/>
          <p:cNvSpPr txBox="1">
            <a:spLocks noGrp="1"/>
          </p:cNvSpPr>
          <p:nvPr>
            <p:ph type="body" idx="2"/>
          </p:nvPr>
        </p:nvSpPr>
        <p:spPr>
          <a:xfrm>
            <a:off x="6172200" y="1542197"/>
            <a:ext cx="5181600" cy="463476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2"/>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2"/>
          <p:cNvSpPr txBox="1">
            <a:spLocks noGrp="1"/>
          </p:cNvSpPr>
          <p:nvPr>
            <p:ph type="ftr" idx="11"/>
          </p:nvPr>
        </p:nvSpPr>
        <p:spPr>
          <a:xfrm>
            <a:off x="3720974" y="6356350"/>
            <a:ext cx="443242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and Content_Plain">
  <p:cSld name="1_Title and Content_Plain">
    <p:spTree>
      <p:nvGrpSpPr>
        <p:cNvPr id="1" name="Shape 38"/>
        <p:cNvGrpSpPr/>
        <p:nvPr/>
      </p:nvGrpSpPr>
      <p:grpSpPr>
        <a:xfrm>
          <a:off x="0" y="0"/>
          <a:ext cx="0" cy="0"/>
          <a:chOff x="0" y="0"/>
          <a:chExt cx="0" cy="0"/>
        </a:xfrm>
      </p:grpSpPr>
      <p:sp>
        <p:nvSpPr>
          <p:cNvPr id="39" name="Google Shape;39;p33"/>
          <p:cNvSpPr/>
          <p:nvPr/>
        </p:nvSpPr>
        <p:spPr>
          <a:xfrm>
            <a:off x="-63374" y="-63374"/>
            <a:ext cx="12348926" cy="700738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Verdana"/>
              <a:ea typeface="Verdana"/>
              <a:cs typeface="Verdana"/>
              <a:sym typeface="Verdana"/>
            </a:endParaRPr>
          </a:p>
        </p:txBody>
      </p:sp>
      <p:pic>
        <p:nvPicPr>
          <p:cNvPr id="40" name="Google Shape;40;p33"/>
          <p:cNvPicPr preferRelativeResize="0"/>
          <p:nvPr/>
        </p:nvPicPr>
        <p:blipFill rotWithShape="1">
          <a:blip r:embed="rId2">
            <a:alphaModFix amt="35000"/>
          </a:blip>
          <a:srcRect/>
          <a:stretch/>
        </p:blipFill>
        <p:spPr>
          <a:xfrm>
            <a:off x="9433710" y="-2553341"/>
            <a:ext cx="5334011" cy="5379731"/>
          </a:xfrm>
          <a:prstGeom prst="rect">
            <a:avLst/>
          </a:prstGeom>
          <a:noFill/>
          <a:ln>
            <a:noFill/>
          </a:ln>
        </p:spPr>
      </p:pic>
      <p:pic>
        <p:nvPicPr>
          <p:cNvPr id="41" name="Google Shape;41;p33"/>
          <p:cNvPicPr preferRelativeResize="0"/>
          <p:nvPr/>
        </p:nvPicPr>
        <p:blipFill rotWithShape="1">
          <a:blip r:embed="rId3">
            <a:alphaModFix amt="35000"/>
          </a:blip>
          <a:srcRect/>
          <a:stretch/>
        </p:blipFill>
        <p:spPr>
          <a:xfrm>
            <a:off x="-2880424" y="4731330"/>
            <a:ext cx="6114300" cy="6114300"/>
          </a:xfrm>
          <a:prstGeom prst="rect">
            <a:avLst/>
          </a:prstGeom>
          <a:noFill/>
          <a:ln>
            <a:noFill/>
          </a:ln>
        </p:spPr>
      </p:pic>
      <p:pic>
        <p:nvPicPr>
          <p:cNvPr id="42" name="Google Shape;42;p33"/>
          <p:cNvPicPr preferRelativeResize="0"/>
          <p:nvPr/>
        </p:nvPicPr>
        <p:blipFill rotWithShape="1">
          <a:blip r:embed="rId4">
            <a:alphaModFix/>
          </a:blip>
          <a:srcRect/>
          <a:stretch/>
        </p:blipFill>
        <p:spPr>
          <a:xfrm>
            <a:off x="10698567" y="6259702"/>
            <a:ext cx="1201833" cy="461773"/>
          </a:xfrm>
          <a:prstGeom prst="rect">
            <a:avLst/>
          </a:prstGeom>
          <a:noFill/>
          <a:ln>
            <a:noFill/>
          </a:ln>
        </p:spPr>
      </p:pic>
      <p:sp>
        <p:nvSpPr>
          <p:cNvPr id="43" name="Google Shape;43;p33"/>
          <p:cNvSpPr txBox="1">
            <a:spLocks noGrp="1"/>
          </p:cNvSpPr>
          <p:nvPr>
            <p:ph type="title"/>
          </p:nvPr>
        </p:nvSpPr>
        <p:spPr>
          <a:xfrm>
            <a:off x="1068310" y="365125"/>
            <a:ext cx="10285490" cy="79371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33"/>
          <p:cNvSpPr txBox="1">
            <a:spLocks noGrp="1"/>
          </p:cNvSpPr>
          <p:nvPr>
            <p:ph type="body" idx="1"/>
          </p:nvPr>
        </p:nvSpPr>
        <p:spPr>
          <a:xfrm>
            <a:off x="1068311" y="1548143"/>
            <a:ext cx="10285490" cy="462882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33"/>
          <p:cNvSpPr txBox="1">
            <a:spLocks noGrp="1"/>
          </p:cNvSpPr>
          <p:nvPr>
            <p:ph type="dt" idx="10"/>
          </p:nvPr>
        </p:nvSpPr>
        <p:spPr>
          <a:xfrm>
            <a:off x="1068310" y="6356350"/>
            <a:ext cx="251308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33"/>
          <p:cNvSpPr txBox="1">
            <a:spLocks noGrp="1"/>
          </p:cNvSpPr>
          <p:nvPr>
            <p:ph type="ftr" idx="11"/>
          </p:nvPr>
        </p:nvSpPr>
        <p:spPr>
          <a:xfrm>
            <a:off x="3766242" y="6356350"/>
            <a:ext cx="586815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3"/>
          <p:cNvSpPr txBox="1">
            <a:spLocks noGrp="1"/>
          </p:cNvSpPr>
          <p:nvPr>
            <p:ph type="sldNum" idx="12"/>
          </p:nvPr>
        </p:nvSpPr>
        <p:spPr>
          <a:xfrm>
            <a:off x="9849610" y="6356350"/>
            <a:ext cx="63374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8"/>
        <p:cNvGrpSpPr/>
        <p:nvPr/>
      </p:nvGrpSpPr>
      <p:grpSpPr>
        <a:xfrm>
          <a:off x="0" y="0"/>
          <a:ext cx="0" cy="0"/>
          <a:chOff x="0" y="0"/>
          <a:chExt cx="0" cy="0"/>
        </a:xfrm>
      </p:grpSpPr>
      <p:sp>
        <p:nvSpPr>
          <p:cNvPr id="49" name="Google Shape;49;p3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45073"/>
              </a:buClr>
              <a:buSzPts val="6000"/>
              <a:buFont typeface="Verdana"/>
              <a:buNone/>
              <a:defRPr sz="6000">
                <a:solidFill>
                  <a:srgbClr val="34507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3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1" name="Google Shape;51;p34"/>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4"/>
          <p:cNvSpPr txBox="1">
            <a:spLocks noGrp="1"/>
          </p:cNvSpPr>
          <p:nvPr>
            <p:ph type="ftr" idx="11"/>
          </p:nvPr>
        </p:nvSpPr>
        <p:spPr>
          <a:xfrm>
            <a:off x="3720974" y="6356350"/>
            <a:ext cx="443242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4"/>
          <p:cNvSpPr txBox="1">
            <a:spLocks noGrp="1"/>
          </p:cNvSpPr>
          <p:nvPr>
            <p:ph type="sldNum" idx="12"/>
          </p:nvPr>
        </p:nvSpPr>
        <p:spPr>
          <a:xfrm>
            <a:off x="8292974" y="6356350"/>
            <a:ext cx="6790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4"/>
        <p:cNvGrpSpPr/>
        <p:nvPr/>
      </p:nvGrpSpPr>
      <p:grpSpPr>
        <a:xfrm>
          <a:off x="0" y="0"/>
          <a:ext cx="0" cy="0"/>
          <a:chOff x="0" y="0"/>
          <a:chExt cx="0" cy="0"/>
        </a:xfrm>
      </p:grpSpPr>
      <p:sp>
        <p:nvSpPr>
          <p:cNvPr id="55" name="Google Shape;55;p35"/>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5"/>
          <p:cNvSpPr txBox="1">
            <a:spLocks noGrp="1"/>
          </p:cNvSpPr>
          <p:nvPr>
            <p:ph type="body" idx="1"/>
          </p:nvPr>
        </p:nvSpPr>
        <p:spPr>
          <a:xfrm>
            <a:off x="1376126" y="1542197"/>
            <a:ext cx="3195874" cy="463476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35"/>
          <p:cNvSpPr txBox="1">
            <a:spLocks noGrp="1"/>
          </p:cNvSpPr>
          <p:nvPr>
            <p:ph type="body" idx="2"/>
          </p:nvPr>
        </p:nvSpPr>
        <p:spPr>
          <a:xfrm>
            <a:off x="4764314" y="1542197"/>
            <a:ext cx="3195874" cy="463476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5"/>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5"/>
          <p:cNvSpPr txBox="1">
            <a:spLocks noGrp="1"/>
          </p:cNvSpPr>
          <p:nvPr>
            <p:ph type="ftr" idx="11"/>
          </p:nvPr>
        </p:nvSpPr>
        <p:spPr>
          <a:xfrm>
            <a:off x="3720974" y="6356350"/>
            <a:ext cx="443242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5"/>
          <p:cNvSpPr txBox="1">
            <a:spLocks noGrp="1"/>
          </p:cNvSpPr>
          <p:nvPr>
            <p:ph type="body" idx="3"/>
          </p:nvPr>
        </p:nvSpPr>
        <p:spPr>
          <a:xfrm>
            <a:off x="8157925" y="1542197"/>
            <a:ext cx="3195874" cy="463476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1"/>
        <p:cNvGrpSpPr/>
        <p:nvPr/>
      </p:nvGrpSpPr>
      <p:grpSpPr>
        <a:xfrm>
          <a:off x="0" y="0"/>
          <a:ext cx="0" cy="0"/>
          <a:chOff x="0" y="0"/>
          <a:chExt cx="0" cy="0"/>
        </a:xfrm>
      </p:grpSpPr>
      <p:sp>
        <p:nvSpPr>
          <p:cNvPr id="62" name="Google Shape;62;p36"/>
          <p:cNvSpPr txBox="1">
            <a:spLocks noGrp="1"/>
          </p:cNvSpPr>
          <p:nvPr>
            <p:ph type="title"/>
          </p:nvPr>
        </p:nvSpPr>
        <p:spPr>
          <a:xfrm>
            <a:off x="1729212" y="365125"/>
            <a:ext cx="9626176" cy="82391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6"/>
          <p:cNvSpPr txBox="1">
            <a:spLocks noGrp="1"/>
          </p:cNvSpPr>
          <p:nvPr>
            <p:ph type="body" idx="1"/>
          </p:nvPr>
        </p:nvSpPr>
        <p:spPr>
          <a:xfrm>
            <a:off x="1376126" y="1681163"/>
            <a:ext cx="483873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36"/>
          <p:cNvSpPr txBox="1">
            <a:spLocks noGrp="1"/>
          </p:cNvSpPr>
          <p:nvPr>
            <p:ph type="body" idx="2"/>
          </p:nvPr>
        </p:nvSpPr>
        <p:spPr>
          <a:xfrm>
            <a:off x="1376126" y="2505075"/>
            <a:ext cx="483873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6"/>
          <p:cNvSpPr txBox="1">
            <a:spLocks noGrp="1"/>
          </p:cNvSpPr>
          <p:nvPr>
            <p:ph type="body" idx="3"/>
          </p:nvPr>
        </p:nvSpPr>
        <p:spPr>
          <a:xfrm>
            <a:off x="6492826" y="1681163"/>
            <a:ext cx="486256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36"/>
          <p:cNvSpPr txBox="1">
            <a:spLocks noGrp="1"/>
          </p:cNvSpPr>
          <p:nvPr>
            <p:ph type="body" idx="4"/>
          </p:nvPr>
        </p:nvSpPr>
        <p:spPr>
          <a:xfrm>
            <a:off x="6492826" y="2505075"/>
            <a:ext cx="486256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36"/>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36"/>
          <p:cNvSpPr txBox="1">
            <a:spLocks noGrp="1"/>
          </p:cNvSpPr>
          <p:nvPr>
            <p:ph type="ftr" idx="11"/>
          </p:nvPr>
        </p:nvSpPr>
        <p:spPr>
          <a:xfrm>
            <a:off x="3720974" y="6356350"/>
            <a:ext cx="443242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36"/>
          <p:cNvSpPr txBox="1">
            <a:spLocks noGrp="1"/>
          </p:cNvSpPr>
          <p:nvPr>
            <p:ph type="sldNum" idx="12"/>
          </p:nvPr>
        </p:nvSpPr>
        <p:spPr>
          <a:xfrm>
            <a:off x="8292974" y="6356350"/>
            <a:ext cx="6790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37"/>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37"/>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7"/>
          <p:cNvSpPr txBox="1">
            <a:spLocks noGrp="1"/>
          </p:cNvSpPr>
          <p:nvPr>
            <p:ph type="ftr" idx="11"/>
          </p:nvPr>
        </p:nvSpPr>
        <p:spPr>
          <a:xfrm>
            <a:off x="3720974" y="6356350"/>
            <a:ext cx="443242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37"/>
          <p:cNvSpPr txBox="1">
            <a:spLocks noGrp="1"/>
          </p:cNvSpPr>
          <p:nvPr>
            <p:ph type="sldNum" idx="12"/>
          </p:nvPr>
        </p:nvSpPr>
        <p:spPr>
          <a:xfrm>
            <a:off x="8292974" y="6356350"/>
            <a:ext cx="6790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Only_Plain">
  <p:cSld name="1_Title Only_Plain">
    <p:spTree>
      <p:nvGrpSpPr>
        <p:cNvPr id="1" name="Shape 75"/>
        <p:cNvGrpSpPr/>
        <p:nvPr/>
      </p:nvGrpSpPr>
      <p:grpSpPr>
        <a:xfrm>
          <a:off x="0" y="0"/>
          <a:ext cx="0" cy="0"/>
          <a:chOff x="0" y="0"/>
          <a:chExt cx="0" cy="0"/>
        </a:xfrm>
      </p:grpSpPr>
      <p:sp>
        <p:nvSpPr>
          <p:cNvPr id="76" name="Google Shape;76;p38"/>
          <p:cNvSpPr/>
          <p:nvPr/>
        </p:nvSpPr>
        <p:spPr>
          <a:xfrm>
            <a:off x="-63374" y="-63374"/>
            <a:ext cx="12348926" cy="700738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Verdana"/>
              <a:ea typeface="Verdana"/>
              <a:cs typeface="Verdana"/>
              <a:sym typeface="Verdana"/>
            </a:endParaRPr>
          </a:p>
        </p:txBody>
      </p:sp>
      <p:pic>
        <p:nvPicPr>
          <p:cNvPr id="77" name="Google Shape;77;p38"/>
          <p:cNvPicPr preferRelativeResize="0"/>
          <p:nvPr/>
        </p:nvPicPr>
        <p:blipFill rotWithShape="1">
          <a:blip r:embed="rId2">
            <a:alphaModFix amt="35000"/>
          </a:blip>
          <a:srcRect/>
          <a:stretch/>
        </p:blipFill>
        <p:spPr>
          <a:xfrm>
            <a:off x="9433710" y="-2553341"/>
            <a:ext cx="5334011" cy="5379731"/>
          </a:xfrm>
          <a:prstGeom prst="rect">
            <a:avLst/>
          </a:prstGeom>
          <a:noFill/>
          <a:ln>
            <a:noFill/>
          </a:ln>
        </p:spPr>
      </p:pic>
      <p:sp>
        <p:nvSpPr>
          <p:cNvPr id="78" name="Google Shape;78;p38"/>
          <p:cNvSpPr txBox="1">
            <a:spLocks noGrp="1"/>
          </p:cNvSpPr>
          <p:nvPr>
            <p:ph type="title"/>
          </p:nvPr>
        </p:nvSpPr>
        <p:spPr>
          <a:xfrm>
            <a:off x="1068310" y="365125"/>
            <a:ext cx="10285490" cy="79371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38"/>
          <p:cNvSpPr txBox="1">
            <a:spLocks noGrp="1"/>
          </p:cNvSpPr>
          <p:nvPr>
            <p:ph type="dt" idx="10"/>
          </p:nvPr>
        </p:nvSpPr>
        <p:spPr>
          <a:xfrm>
            <a:off x="1068310" y="6356350"/>
            <a:ext cx="251308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38"/>
          <p:cNvSpPr txBox="1">
            <a:spLocks noGrp="1"/>
          </p:cNvSpPr>
          <p:nvPr>
            <p:ph type="ftr" idx="11"/>
          </p:nvPr>
        </p:nvSpPr>
        <p:spPr>
          <a:xfrm>
            <a:off x="3720973" y="6356350"/>
            <a:ext cx="5712737"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38"/>
          <p:cNvSpPr txBox="1">
            <a:spLocks noGrp="1"/>
          </p:cNvSpPr>
          <p:nvPr>
            <p:ph type="sldNum" idx="12"/>
          </p:nvPr>
        </p:nvSpPr>
        <p:spPr>
          <a:xfrm>
            <a:off x="9606043" y="6356350"/>
            <a:ext cx="6790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82" name="Google Shape;82;p38"/>
          <p:cNvPicPr preferRelativeResize="0"/>
          <p:nvPr/>
        </p:nvPicPr>
        <p:blipFill rotWithShape="1">
          <a:blip r:embed="rId3">
            <a:alphaModFix/>
          </a:blip>
          <a:srcRect/>
          <a:stretch/>
        </p:blipFill>
        <p:spPr>
          <a:xfrm>
            <a:off x="10698567" y="6259702"/>
            <a:ext cx="1201833" cy="461773"/>
          </a:xfrm>
          <a:prstGeom prst="rect">
            <a:avLst/>
          </a:prstGeom>
          <a:noFill/>
          <a:ln>
            <a:noFill/>
          </a:ln>
        </p:spPr>
      </p:pic>
      <p:pic>
        <p:nvPicPr>
          <p:cNvPr id="83" name="Google Shape;83;p38"/>
          <p:cNvPicPr preferRelativeResize="0"/>
          <p:nvPr/>
        </p:nvPicPr>
        <p:blipFill rotWithShape="1">
          <a:blip r:embed="rId4">
            <a:alphaModFix amt="35000"/>
          </a:blip>
          <a:srcRect/>
          <a:stretch/>
        </p:blipFill>
        <p:spPr>
          <a:xfrm>
            <a:off x="-2880424" y="4731330"/>
            <a:ext cx="6114300" cy="6114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_Blank">
  <p:cSld name="Title Only_Blank">
    <p:spTree>
      <p:nvGrpSpPr>
        <p:cNvPr id="1" name="Shape 84"/>
        <p:cNvGrpSpPr/>
        <p:nvPr/>
      </p:nvGrpSpPr>
      <p:grpSpPr>
        <a:xfrm>
          <a:off x="0" y="0"/>
          <a:ext cx="0" cy="0"/>
          <a:chOff x="0" y="0"/>
          <a:chExt cx="0" cy="0"/>
        </a:xfrm>
      </p:grpSpPr>
      <p:sp>
        <p:nvSpPr>
          <p:cNvPr id="85" name="Google Shape;85;p39"/>
          <p:cNvSpPr/>
          <p:nvPr/>
        </p:nvSpPr>
        <p:spPr>
          <a:xfrm>
            <a:off x="-63374" y="-63374"/>
            <a:ext cx="12348926" cy="700738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Verdana"/>
              <a:ea typeface="Verdana"/>
              <a:cs typeface="Verdana"/>
              <a:sym typeface="Verdana"/>
            </a:endParaRPr>
          </a:p>
        </p:txBody>
      </p:sp>
      <p:sp>
        <p:nvSpPr>
          <p:cNvPr id="86" name="Google Shape;86;p39"/>
          <p:cNvSpPr txBox="1">
            <a:spLocks noGrp="1"/>
          </p:cNvSpPr>
          <p:nvPr>
            <p:ph type="title"/>
          </p:nvPr>
        </p:nvSpPr>
        <p:spPr>
          <a:xfrm>
            <a:off x="1068310" y="365125"/>
            <a:ext cx="10285490" cy="79371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39"/>
          <p:cNvSpPr txBox="1">
            <a:spLocks noGrp="1"/>
          </p:cNvSpPr>
          <p:nvPr>
            <p:ph type="dt" idx="10"/>
          </p:nvPr>
        </p:nvSpPr>
        <p:spPr>
          <a:xfrm>
            <a:off x="1068310" y="6356350"/>
            <a:ext cx="251308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39"/>
          <p:cNvSpPr txBox="1">
            <a:spLocks noGrp="1"/>
          </p:cNvSpPr>
          <p:nvPr>
            <p:ph type="ftr" idx="11"/>
          </p:nvPr>
        </p:nvSpPr>
        <p:spPr>
          <a:xfrm>
            <a:off x="3720973" y="6356350"/>
            <a:ext cx="5712737"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39"/>
          <p:cNvSpPr txBox="1">
            <a:spLocks noGrp="1"/>
          </p:cNvSpPr>
          <p:nvPr>
            <p:ph type="sldNum" idx="12"/>
          </p:nvPr>
        </p:nvSpPr>
        <p:spPr>
          <a:xfrm>
            <a:off x="9606043" y="6356350"/>
            <a:ext cx="6790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90" name="Google Shape;90;p39"/>
          <p:cNvPicPr preferRelativeResize="0"/>
          <p:nvPr/>
        </p:nvPicPr>
        <p:blipFill rotWithShape="1">
          <a:blip r:embed="rId2">
            <a:alphaModFix/>
          </a:blip>
          <a:srcRect/>
          <a:stretch/>
        </p:blipFill>
        <p:spPr>
          <a:xfrm>
            <a:off x="10698567" y="6259702"/>
            <a:ext cx="1201833" cy="461773"/>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1"/>
        <p:cNvGrpSpPr/>
        <p:nvPr/>
      </p:nvGrpSpPr>
      <p:grpSpPr>
        <a:xfrm>
          <a:off x="0" y="0"/>
          <a:ext cx="0" cy="0"/>
          <a:chOff x="0" y="0"/>
          <a:chExt cx="0" cy="0"/>
        </a:xfrm>
      </p:grpSpPr>
      <p:sp>
        <p:nvSpPr>
          <p:cNvPr id="92" name="Google Shape;92;p40"/>
          <p:cNvSpPr txBox="1">
            <a:spLocks noGrp="1"/>
          </p:cNvSpPr>
          <p:nvPr>
            <p:ph type="title"/>
          </p:nvPr>
        </p:nvSpPr>
        <p:spPr>
          <a:xfrm>
            <a:off x="1738265" y="457200"/>
            <a:ext cx="3033760" cy="7642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Verdana"/>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40"/>
          <p:cNvSpPr txBox="1">
            <a:spLocks noGrp="1"/>
          </p:cNvSpPr>
          <p:nvPr>
            <p:ph type="body" idx="1"/>
          </p:nvPr>
        </p:nvSpPr>
        <p:spPr>
          <a:xfrm>
            <a:off x="1376126" y="1716779"/>
            <a:ext cx="3395899" cy="415220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4" name="Google Shape;94;p40"/>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40"/>
          <p:cNvSpPr txBox="1">
            <a:spLocks noGrp="1"/>
          </p:cNvSpPr>
          <p:nvPr>
            <p:ph type="ftr" idx="11"/>
          </p:nvPr>
        </p:nvSpPr>
        <p:spPr>
          <a:xfrm>
            <a:off x="3720974" y="6356350"/>
            <a:ext cx="443242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40"/>
          <p:cNvSpPr txBox="1">
            <a:spLocks noGrp="1"/>
          </p:cNvSpPr>
          <p:nvPr>
            <p:ph type="sldNum" idx="12"/>
          </p:nvPr>
        </p:nvSpPr>
        <p:spPr>
          <a:xfrm>
            <a:off x="8292974" y="6356350"/>
            <a:ext cx="6790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40"/>
          <p:cNvSpPr/>
          <p:nvPr/>
        </p:nvSpPr>
        <p:spPr>
          <a:xfrm>
            <a:off x="4772025" y="805758"/>
            <a:ext cx="7640276" cy="76428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Verdana"/>
              <a:ea typeface="Verdana"/>
              <a:cs typeface="Verdana"/>
              <a:sym typeface="Verdana"/>
            </a:endParaRPr>
          </a:p>
        </p:txBody>
      </p:sp>
      <p:sp>
        <p:nvSpPr>
          <p:cNvPr id="98" name="Google Shape;98;p40"/>
          <p:cNvSpPr txBox="1">
            <a:spLocks noGrp="1"/>
          </p:cNvSpPr>
          <p:nvPr>
            <p:ph type="body" idx="2"/>
          </p:nvPr>
        </p:nvSpPr>
        <p:spPr>
          <a:xfrm>
            <a:off x="5183188" y="457201"/>
            <a:ext cx="6172200" cy="540385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9"/>
        <p:cNvGrpSpPr/>
        <p:nvPr/>
      </p:nvGrpSpPr>
      <p:grpSpPr>
        <a:xfrm>
          <a:off x="0" y="0"/>
          <a:ext cx="0" cy="0"/>
          <a:chOff x="0" y="0"/>
          <a:chExt cx="0" cy="0"/>
        </a:xfrm>
      </p:grpSpPr>
      <p:sp>
        <p:nvSpPr>
          <p:cNvPr id="100" name="Google Shape;100;p41"/>
          <p:cNvSpPr/>
          <p:nvPr/>
        </p:nvSpPr>
        <p:spPr>
          <a:xfrm>
            <a:off x="4772025" y="805758"/>
            <a:ext cx="7640276" cy="76428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Verdana"/>
              <a:ea typeface="Verdana"/>
              <a:cs typeface="Verdana"/>
              <a:sym typeface="Verdana"/>
            </a:endParaRPr>
          </a:p>
        </p:txBody>
      </p:sp>
      <p:sp>
        <p:nvSpPr>
          <p:cNvPr id="101" name="Google Shape;101;p41"/>
          <p:cNvSpPr>
            <a:spLocks noGrp="1"/>
          </p:cNvSpPr>
          <p:nvPr>
            <p:ph type="pic" idx="2"/>
          </p:nvPr>
        </p:nvSpPr>
        <p:spPr>
          <a:xfrm>
            <a:off x="5183188" y="457201"/>
            <a:ext cx="6172200" cy="5403850"/>
          </a:xfrm>
          <a:prstGeom prst="rect">
            <a:avLst/>
          </a:prstGeom>
          <a:solidFill>
            <a:schemeClr val="lt1"/>
          </a:solidFill>
          <a:ln w="38100" cap="flat" cmpd="sng">
            <a:solidFill>
              <a:srgbClr val="7A9A61"/>
            </a:solidFill>
            <a:prstDash val="solid"/>
            <a:round/>
            <a:headEnd type="none" w="sm" len="sm"/>
            <a:tailEnd type="none" w="sm" len="sm"/>
          </a:ln>
        </p:spPr>
      </p:sp>
      <p:sp>
        <p:nvSpPr>
          <p:cNvPr id="102" name="Google Shape;102;p41"/>
          <p:cNvSpPr txBox="1">
            <a:spLocks noGrp="1"/>
          </p:cNvSpPr>
          <p:nvPr>
            <p:ph type="body" idx="1"/>
          </p:nvPr>
        </p:nvSpPr>
        <p:spPr>
          <a:xfrm>
            <a:off x="1376126" y="1570037"/>
            <a:ext cx="3395899" cy="429895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3" name="Google Shape;103;p41"/>
          <p:cNvSpPr txBox="1">
            <a:spLocks noGrp="1"/>
          </p:cNvSpPr>
          <p:nvPr>
            <p:ph type="title"/>
          </p:nvPr>
        </p:nvSpPr>
        <p:spPr>
          <a:xfrm>
            <a:off x="1720158" y="457200"/>
            <a:ext cx="3051867" cy="76428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Verdana"/>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41"/>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41"/>
          <p:cNvSpPr txBox="1">
            <a:spLocks noGrp="1"/>
          </p:cNvSpPr>
          <p:nvPr>
            <p:ph type="ftr" idx="11"/>
          </p:nvPr>
        </p:nvSpPr>
        <p:spPr>
          <a:xfrm>
            <a:off x="3720974" y="6356350"/>
            <a:ext cx="443242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41"/>
          <p:cNvSpPr txBox="1">
            <a:spLocks noGrp="1"/>
          </p:cNvSpPr>
          <p:nvPr>
            <p:ph type="sldNum" idx="12"/>
          </p:nvPr>
        </p:nvSpPr>
        <p:spPr>
          <a:xfrm>
            <a:off x="8292974" y="6356350"/>
            <a:ext cx="6790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29"/>
          <p:cNvPicPr preferRelativeResize="0"/>
          <p:nvPr/>
        </p:nvPicPr>
        <p:blipFill rotWithShape="1">
          <a:blip r:embed="rId14">
            <a:alphaModFix/>
          </a:blip>
          <a:srcRect/>
          <a:stretch/>
        </p:blipFill>
        <p:spPr>
          <a:xfrm>
            <a:off x="-1394972" y="-593726"/>
            <a:ext cx="15447855" cy="11441233"/>
          </a:xfrm>
          <a:prstGeom prst="rect">
            <a:avLst/>
          </a:prstGeom>
          <a:noFill/>
          <a:ln>
            <a:noFill/>
          </a:ln>
        </p:spPr>
      </p:pic>
      <p:sp>
        <p:nvSpPr>
          <p:cNvPr id="11" name="Google Shape;11;p29"/>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Verdana"/>
              <a:buNone/>
              <a:defRPr sz="4400" b="0" i="0" u="none" strike="noStrike" cap="none">
                <a:solidFill>
                  <a:schemeClr val="dk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29"/>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Verdana"/>
                <a:ea typeface="Verdana"/>
                <a:cs typeface="Verdana"/>
                <a:sym typeface="Verdana"/>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9pPr>
          </a:lstStyle>
          <a:p>
            <a:endParaRPr/>
          </a:p>
        </p:txBody>
      </p:sp>
      <p:sp>
        <p:nvSpPr>
          <p:cNvPr id="13" name="Google Shape;13;p29"/>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14" name="Google Shape;14;p29"/>
          <p:cNvSpPr txBox="1">
            <a:spLocks noGrp="1"/>
          </p:cNvSpPr>
          <p:nvPr>
            <p:ph type="ftr" idx="11"/>
          </p:nvPr>
        </p:nvSpPr>
        <p:spPr>
          <a:xfrm>
            <a:off x="3720974" y="6356350"/>
            <a:ext cx="4432426"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15" name="Google Shape;15;p29"/>
          <p:cNvSpPr txBox="1">
            <a:spLocks noGrp="1"/>
          </p:cNvSpPr>
          <p:nvPr>
            <p:ph type="sldNum" idx="12"/>
          </p:nvPr>
        </p:nvSpPr>
        <p:spPr>
          <a:xfrm>
            <a:off x="8292974" y="6356350"/>
            <a:ext cx="67901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pic>
        <p:nvPicPr>
          <p:cNvPr id="16" name="Google Shape;16;p29"/>
          <p:cNvPicPr preferRelativeResize="0"/>
          <p:nvPr/>
        </p:nvPicPr>
        <p:blipFill rotWithShape="1">
          <a:blip r:embed="rId15">
            <a:alphaModFix/>
          </a:blip>
          <a:srcRect/>
          <a:stretch/>
        </p:blipFill>
        <p:spPr>
          <a:xfrm>
            <a:off x="727222" y="392284"/>
            <a:ext cx="790449" cy="75349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michigan.gov/mde/services/school-performance-supports/educational-supports/tools-and-resources/technical-assistance-for-working-with-private-school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michigan.gov/mde/Services/flexible-learning/options/nonpub-home"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michigan.gov/mde/services/school-performance-supports/educational-supports/tools-and-resources/technical-assistance-for-working-with-private-school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ocs.google.com/document/d/1xB2f-SRFwHDKtFODS0DWjZ6yLDZZ8hUS3NFET1OWUwg/edit?usp=sharing"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mailto:DeGuzmanC@michigan.gov"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ed.gov/sites/ed/files/about/inits/ed/non-public-education/files/equitable-services-guidance-100419.pdf"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ed.gov/sites/ed/files/about/inits/ed/non-public-education/files/equitable-services-guidance-100419.pdf"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ed.gov/sites/ed/files/about/inits/ed/non-public-education/files/equitable-services-guidance-100419.pdf"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ed.gov/sites/ed/files/about/inits/ed/non-public-education/files/equitable-services-guidance-100419.pdf"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michigan.gov/mde/services/school-performance-supports/educational-supports/tools-and-resources/technical-assistance-for-working-with-private-schools"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hyperlink" Target="https://www2.ed.gov/policy/elsec/leg/essa/essaguidance160477.pdf" TargetMode="External"/><Relationship Id="rId4" Type="http://schemas.openxmlformats.org/officeDocument/2006/relationships/hyperlink" Target="https://www2.ed.gov/about/inits/ed/non-public-education/files/equitable-services-guidance-100419.pdf"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mailto:RogersA19@michigan.gov"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
          <p:cNvSpPr txBox="1">
            <a:spLocks noGrp="1"/>
          </p:cNvSpPr>
          <p:nvPr>
            <p:ph type="ctrTitle"/>
          </p:nvPr>
        </p:nvSpPr>
        <p:spPr>
          <a:xfrm>
            <a:off x="2320412" y="1122363"/>
            <a:ext cx="7659329" cy="23876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345073"/>
              </a:buClr>
              <a:buSzPct val="100000"/>
              <a:buFont typeface="Verdana"/>
              <a:buNone/>
            </a:pPr>
            <a:r>
              <a:rPr lang="en-US"/>
              <a:t>ESEA Equitable Services Requirements </a:t>
            </a:r>
            <a:endParaRPr/>
          </a:p>
        </p:txBody>
      </p:sp>
      <p:sp>
        <p:nvSpPr>
          <p:cNvPr id="112" name="Google Shape;112;p1"/>
          <p:cNvSpPr txBox="1">
            <a:spLocks noGrp="1"/>
          </p:cNvSpPr>
          <p:nvPr>
            <p:ph type="subTitle" idx="1"/>
          </p:nvPr>
        </p:nvSpPr>
        <p:spPr>
          <a:xfrm>
            <a:off x="2320412" y="3602038"/>
            <a:ext cx="7659329" cy="1655762"/>
          </a:xfrm>
          <a:prstGeom prst="rect">
            <a:avLst/>
          </a:prstGeom>
          <a:noFill/>
          <a:ln>
            <a:noFill/>
          </a:ln>
        </p:spPr>
        <p:txBody>
          <a:bodyPr spcFirstLastPara="1" wrap="square" lIns="91425" tIns="45700" rIns="91425" bIns="45700" anchor="t" anchorCtr="0">
            <a:normAutofit lnSpcReduction="10000"/>
          </a:bodyPr>
          <a:lstStyle/>
          <a:p>
            <a:pPr marL="0" lvl="0" indent="0" algn="ctr" rtl="0">
              <a:lnSpc>
                <a:spcPct val="90000"/>
              </a:lnSpc>
              <a:spcBef>
                <a:spcPts val="0"/>
              </a:spcBef>
              <a:spcAft>
                <a:spcPts val="0"/>
              </a:spcAft>
              <a:buClr>
                <a:schemeClr val="dk1"/>
              </a:buClr>
              <a:buSzPts val="2400"/>
              <a:buNone/>
            </a:pPr>
            <a:r>
              <a:rPr lang="en-US" dirty="0"/>
              <a:t>Andrea Rogers</a:t>
            </a:r>
            <a:endParaRPr dirty="0"/>
          </a:p>
          <a:p>
            <a:pPr marL="0" lvl="0" indent="0" algn="ctr" rtl="0">
              <a:lnSpc>
                <a:spcPct val="90000"/>
              </a:lnSpc>
              <a:spcBef>
                <a:spcPts val="1000"/>
              </a:spcBef>
              <a:spcAft>
                <a:spcPts val="0"/>
              </a:spcAft>
              <a:buClr>
                <a:schemeClr val="dk1"/>
              </a:buClr>
              <a:buSzPts val="2400"/>
              <a:buNone/>
            </a:pPr>
            <a:r>
              <a:rPr lang="en-US" dirty="0"/>
              <a:t>Office of Educational Supports</a:t>
            </a:r>
            <a:endParaRPr dirty="0"/>
          </a:p>
          <a:p>
            <a:pPr marL="0" lvl="0" indent="0" algn="ctr" rtl="0">
              <a:lnSpc>
                <a:spcPct val="90000"/>
              </a:lnSpc>
              <a:spcBef>
                <a:spcPts val="1000"/>
              </a:spcBef>
              <a:spcAft>
                <a:spcPts val="0"/>
              </a:spcAft>
              <a:buClr>
                <a:schemeClr val="dk1"/>
              </a:buClr>
              <a:buSzPts val="2400"/>
              <a:buNone/>
            </a:pPr>
            <a:r>
              <a:rPr lang="en-US" dirty="0"/>
              <a:t>Michigan Department of Education</a:t>
            </a:r>
            <a:endParaRPr dirty="0"/>
          </a:p>
          <a:p>
            <a:pPr marL="0" lvl="0" indent="0" algn="ctr" rtl="0">
              <a:lnSpc>
                <a:spcPct val="90000"/>
              </a:lnSpc>
              <a:spcBef>
                <a:spcPts val="1000"/>
              </a:spcBef>
              <a:spcAft>
                <a:spcPts val="0"/>
              </a:spcAft>
              <a:buClr>
                <a:schemeClr val="dk1"/>
              </a:buClr>
              <a:buSzPts val="2400"/>
              <a:buNone/>
            </a:pPr>
            <a:r>
              <a:rPr lang="en-US" dirty="0"/>
              <a:t>Updated September 2025</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200"/>
              <a:buFont typeface="Verdana"/>
              <a:buNone/>
            </a:pPr>
            <a:r>
              <a:rPr lang="en-US" sz="3000" dirty="0"/>
              <a:t>Why Do Private Schools Participate in Federal Funding?</a:t>
            </a:r>
            <a:endParaRPr sz="3000" dirty="0"/>
          </a:p>
        </p:txBody>
      </p:sp>
      <p:sp>
        <p:nvSpPr>
          <p:cNvPr id="119" name="Google Shape;119;p2"/>
          <p:cNvSpPr txBox="1">
            <a:spLocks noGrp="1"/>
          </p:cNvSpPr>
          <p:nvPr>
            <p:ph type="body" idx="1"/>
          </p:nvPr>
        </p:nvSpPr>
        <p:spPr>
          <a:xfrm>
            <a:off x="1107163" y="1727530"/>
            <a:ext cx="9977673" cy="462882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The intent behind the Elementary and Secondary Education Act was to provide Federal Funds to students to improve academic achievement regardless of what type of school they attend.</a:t>
            </a:r>
            <a:endParaRPr dirty="0"/>
          </a:p>
          <a:p>
            <a:pPr marL="228600" lvl="0" indent="-228600" algn="l" rtl="0">
              <a:lnSpc>
                <a:spcPct val="90000"/>
              </a:lnSpc>
              <a:spcBef>
                <a:spcPts val="1000"/>
              </a:spcBef>
              <a:spcAft>
                <a:spcPts val="0"/>
              </a:spcAft>
              <a:buClr>
                <a:schemeClr val="dk1"/>
              </a:buClr>
              <a:buSzPts val="2800"/>
              <a:buChar char="•"/>
            </a:pPr>
            <a:r>
              <a:rPr lang="en-US" dirty="0"/>
              <a:t>Title funding is triggered by census poverty data rather than the state per-pupil foundation.  </a:t>
            </a:r>
            <a:endParaRPr dirty="0"/>
          </a:p>
          <a:p>
            <a:pPr marL="228600" lvl="0" indent="-228600" algn="l" rtl="0">
              <a:lnSpc>
                <a:spcPct val="90000"/>
              </a:lnSpc>
              <a:spcBef>
                <a:spcPts val="1000"/>
              </a:spcBef>
              <a:spcAft>
                <a:spcPts val="0"/>
              </a:spcAft>
              <a:buClr>
                <a:schemeClr val="dk1"/>
              </a:buClr>
              <a:buSzPts val="2800"/>
              <a:buChar char="•"/>
            </a:pPr>
            <a:r>
              <a:rPr lang="en-US" dirty="0"/>
              <a:t>Supporting students regardless of where they attend school improves the future for all communities.</a:t>
            </a:r>
            <a:endParaRPr dirty="0"/>
          </a:p>
        </p:txBody>
      </p:sp>
      <p:sp>
        <p:nvSpPr>
          <p:cNvPr id="120" name="Google Shape;120;p2"/>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121" name="Google Shape;121;p2"/>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122" name="Google Shape;122;p2"/>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3"/>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a:t>Equitable Services: 6 Key Points</a:t>
            </a:r>
            <a:endParaRPr/>
          </a:p>
        </p:txBody>
      </p:sp>
      <p:sp>
        <p:nvSpPr>
          <p:cNvPr id="128" name="Google Shape;128;p3"/>
          <p:cNvSpPr txBox="1">
            <a:spLocks noGrp="1"/>
          </p:cNvSpPr>
          <p:nvPr>
            <p:ph type="body" idx="1"/>
          </p:nvPr>
        </p:nvSpPr>
        <p:spPr>
          <a:xfrm>
            <a:off x="838200" y="1542197"/>
            <a:ext cx="5181600" cy="4634766"/>
          </a:xfrm>
          <a:prstGeom prst="rect">
            <a:avLst/>
          </a:prstGeom>
          <a:noFill/>
          <a:ln>
            <a:noFill/>
          </a:ln>
        </p:spPr>
        <p:txBody>
          <a:bodyPr spcFirstLastPara="1" wrap="square" lIns="91425" tIns="45700" rIns="91425" bIns="45700" anchor="t" anchorCtr="0">
            <a:normAutofit fontScale="92500"/>
          </a:bodyPr>
          <a:lstStyle/>
          <a:p>
            <a:pPr marL="349250" lvl="0" indent="-349250" algn="l" rtl="0">
              <a:lnSpc>
                <a:spcPct val="90000"/>
              </a:lnSpc>
              <a:spcBef>
                <a:spcPts val="0"/>
              </a:spcBef>
              <a:spcAft>
                <a:spcPts val="0"/>
              </a:spcAft>
              <a:buClr>
                <a:srgbClr val="17468E"/>
              </a:buClr>
              <a:buSzPct val="100000"/>
              <a:buFont typeface="Verdana"/>
              <a:buAutoNum type="arabicPeriod"/>
            </a:pPr>
            <a:r>
              <a:rPr lang="en-US" sz="2800"/>
              <a:t>In key ESEA programs, the law provides for equitable participation of private school students, teachers and other educational personnel, and, in some cases, families.</a:t>
            </a:r>
            <a:endParaRPr/>
          </a:p>
          <a:p>
            <a:pPr marL="349250" lvl="0" indent="-349250" algn="l" rtl="0">
              <a:lnSpc>
                <a:spcPct val="90000"/>
              </a:lnSpc>
              <a:spcBef>
                <a:spcPts val="1000"/>
              </a:spcBef>
              <a:spcAft>
                <a:spcPts val="0"/>
              </a:spcAft>
              <a:buClr>
                <a:srgbClr val="17468E"/>
              </a:buClr>
              <a:buSzPct val="100000"/>
              <a:buFont typeface="Verdana"/>
              <a:buAutoNum type="arabicPeriod"/>
            </a:pPr>
            <a:r>
              <a:rPr lang="en-US" sz="2800"/>
              <a:t>Consultation must be </a:t>
            </a:r>
            <a:r>
              <a:rPr lang="en-US"/>
              <a:t>timely and</a:t>
            </a:r>
            <a:r>
              <a:rPr lang="en-US" sz="2800"/>
              <a:t> meaningful.</a:t>
            </a:r>
            <a:endParaRPr sz="2800"/>
          </a:p>
          <a:p>
            <a:pPr marL="349250" lvl="0" indent="-349250" algn="l" rtl="0">
              <a:lnSpc>
                <a:spcPct val="90000"/>
              </a:lnSpc>
              <a:spcBef>
                <a:spcPts val="1000"/>
              </a:spcBef>
              <a:spcAft>
                <a:spcPts val="0"/>
              </a:spcAft>
              <a:buClr>
                <a:srgbClr val="17468E"/>
              </a:buClr>
              <a:buSzPct val="100000"/>
              <a:buFont typeface="Verdana"/>
              <a:buAutoNum type="arabicPeriod"/>
            </a:pPr>
            <a:r>
              <a:rPr lang="en-US" sz="2800"/>
              <a:t>Funds generated for equitable services must be equal on a per-pupil basis.</a:t>
            </a:r>
            <a:endParaRPr sz="2800"/>
          </a:p>
        </p:txBody>
      </p:sp>
      <p:sp>
        <p:nvSpPr>
          <p:cNvPr id="129" name="Google Shape;129;p3"/>
          <p:cNvSpPr txBox="1">
            <a:spLocks noGrp="1"/>
          </p:cNvSpPr>
          <p:nvPr>
            <p:ph type="body" idx="2"/>
          </p:nvPr>
        </p:nvSpPr>
        <p:spPr>
          <a:xfrm>
            <a:off x="6172200" y="1542197"/>
            <a:ext cx="5181600" cy="4634766"/>
          </a:xfrm>
          <a:prstGeom prst="rect">
            <a:avLst/>
          </a:prstGeom>
          <a:noFill/>
          <a:ln>
            <a:noFill/>
          </a:ln>
        </p:spPr>
        <p:txBody>
          <a:bodyPr spcFirstLastPara="1" wrap="square" lIns="91425" tIns="45700" rIns="91425" bIns="45700" anchor="t" anchorCtr="0">
            <a:normAutofit fontScale="92500"/>
          </a:bodyPr>
          <a:lstStyle/>
          <a:p>
            <a:pPr marL="0" lvl="0" indent="0" algn="l" rtl="0">
              <a:lnSpc>
                <a:spcPct val="90000"/>
              </a:lnSpc>
              <a:spcBef>
                <a:spcPts val="0"/>
              </a:spcBef>
              <a:spcAft>
                <a:spcPts val="0"/>
              </a:spcAft>
              <a:buClr>
                <a:srgbClr val="17468E"/>
              </a:buClr>
              <a:buSzPct val="100000"/>
              <a:buNone/>
            </a:pPr>
            <a:r>
              <a:rPr lang="en-US" sz="2800">
                <a:solidFill>
                  <a:srgbClr val="0070C0"/>
                </a:solidFill>
              </a:rPr>
              <a:t>4. </a:t>
            </a:r>
            <a:r>
              <a:rPr lang="en-US" sz="2800"/>
              <a:t>A public agency must control funds. Private schools do not receive funds.</a:t>
            </a:r>
            <a:r>
              <a:rPr lang="en-US"/>
              <a:t> </a:t>
            </a:r>
            <a:endParaRPr sz="2800"/>
          </a:p>
          <a:p>
            <a:pPr marL="0" lvl="0" indent="0" algn="l" rtl="0">
              <a:lnSpc>
                <a:spcPct val="90000"/>
              </a:lnSpc>
              <a:spcBef>
                <a:spcPts val="1000"/>
              </a:spcBef>
              <a:spcAft>
                <a:spcPts val="0"/>
              </a:spcAft>
              <a:buClr>
                <a:srgbClr val="17468E"/>
              </a:buClr>
              <a:buSzPct val="100000"/>
              <a:buNone/>
            </a:pPr>
            <a:r>
              <a:rPr lang="en-US">
                <a:solidFill>
                  <a:srgbClr val="0070C0"/>
                </a:solidFill>
              </a:rPr>
              <a:t>5. </a:t>
            </a:r>
            <a:r>
              <a:rPr lang="en-US" sz="2800"/>
              <a:t>Services must be secular, neutral, and non-ideological; supplemental; and costs must be allowable, necessary, and reasonable.</a:t>
            </a:r>
            <a:endParaRPr sz="2800"/>
          </a:p>
          <a:p>
            <a:pPr marL="0" lvl="0" indent="0" algn="l" rtl="0">
              <a:lnSpc>
                <a:spcPct val="90000"/>
              </a:lnSpc>
              <a:spcBef>
                <a:spcPts val="1000"/>
              </a:spcBef>
              <a:spcAft>
                <a:spcPts val="0"/>
              </a:spcAft>
              <a:buClr>
                <a:srgbClr val="17468E"/>
              </a:buClr>
              <a:buSzPct val="100000"/>
              <a:buNone/>
            </a:pPr>
            <a:r>
              <a:rPr lang="en-US" sz="2800">
                <a:solidFill>
                  <a:srgbClr val="0070C0"/>
                </a:solidFill>
              </a:rPr>
              <a:t>6. </a:t>
            </a:r>
            <a:r>
              <a:rPr lang="en-US" sz="2800"/>
              <a:t>Private school officials have the right to file </a:t>
            </a:r>
            <a:br>
              <a:rPr lang="en-US"/>
            </a:br>
            <a:r>
              <a:rPr lang="en-US" sz="2800"/>
              <a:t>a formal complaint.</a:t>
            </a:r>
            <a:endParaRPr sz="2800"/>
          </a:p>
          <a:p>
            <a:pPr marL="228600" lvl="0" indent="-64135" algn="l" rtl="0">
              <a:lnSpc>
                <a:spcPct val="90000"/>
              </a:lnSpc>
              <a:spcBef>
                <a:spcPts val="1000"/>
              </a:spcBef>
              <a:spcAft>
                <a:spcPts val="0"/>
              </a:spcAft>
              <a:buClr>
                <a:schemeClr val="dk1"/>
              </a:buClr>
              <a:buSzPct val="100000"/>
              <a:buNone/>
            </a:pPr>
            <a:endParaRPr/>
          </a:p>
        </p:txBody>
      </p:sp>
      <p:sp>
        <p:nvSpPr>
          <p:cNvPr id="130" name="Google Shape;130;p3"/>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131" name="Google Shape;131;p3"/>
          <p:cNvSpPr txBox="1">
            <a:spLocks noGrp="1"/>
          </p:cNvSpPr>
          <p:nvPr>
            <p:ph type="ftr" idx="11"/>
          </p:nvPr>
        </p:nvSpPr>
        <p:spPr>
          <a:xfrm>
            <a:off x="3720974" y="6356350"/>
            <a:ext cx="4432426"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4"/>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Verdana"/>
              <a:buNone/>
            </a:pPr>
            <a:r>
              <a:rPr lang="en-US"/>
              <a:t>Key Point #1 Equitable Participation</a:t>
            </a:r>
            <a:endParaRPr/>
          </a:p>
        </p:txBody>
      </p:sp>
      <p:sp>
        <p:nvSpPr>
          <p:cNvPr id="137" name="Google Shape;137;p4"/>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The ESEA requires local educational agencies (LEAs) and other eligible entities (hereafter referred collectively as LEAs) to provide for the equitable participation of private school students, teachers and other educational personnel, and, in some cases, families in some of the ESEA’s major programs.</a:t>
            </a:r>
            <a:endParaRPr/>
          </a:p>
          <a:p>
            <a:pPr marL="0" lvl="0" indent="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rgbClr val="FF0000"/>
              </a:buClr>
              <a:buSzPts val="2800"/>
              <a:buNone/>
            </a:pPr>
            <a:r>
              <a:rPr lang="en-US" i="1">
                <a:solidFill>
                  <a:srgbClr val="FF0000"/>
                </a:solidFill>
              </a:rPr>
              <a:t>ESEA sections 1117 and 8501</a:t>
            </a:r>
            <a:endParaRPr/>
          </a:p>
          <a:p>
            <a:pPr marL="228600" lvl="0" indent="-50800" algn="l" rtl="0">
              <a:lnSpc>
                <a:spcPct val="90000"/>
              </a:lnSpc>
              <a:spcBef>
                <a:spcPts val="1000"/>
              </a:spcBef>
              <a:spcAft>
                <a:spcPts val="0"/>
              </a:spcAft>
              <a:buClr>
                <a:schemeClr val="dk1"/>
              </a:buClr>
              <a:buSzPts val="2800"/>
              <a:buNone/>
            </a:pPr>
            <a:endParaRPr/>
          </a:p>
        </p:txBody>
      </p:sp>
      <p:sp>
        <p:nvSpPr>
          <p:cNvPr id="138" name="Google Shape;138;p4"/>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139" name="Google Shape;139;p4"/>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140" name="Google Shape;140;p4"/>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g32a2819eb4e_2_0"/>
          <p:cNvSpPr txBox="1">
            <a:spLocks noGrp="1"/>
          </p:cNvSpPr>
          <p:nvPr>
            <p:ph type="title"/>
          </p:nvPr>
        </p:nvSpPr>
        <p:spPr>
          <a:xfrm>
            <a:off x="1756372" y="365125"/>
            <a:ext cx="9597300" cy="7938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Title I, Part A</a:t>
            </a:r>
            <a:endParaRPr/>
          </a:p>
        </p:txBody>
      </p:sp>
      <p:sp>
        <p:nvSpPr>
          <p:cNvPr id="147" name="Google Shape;147;g32a2819eb4e_2_0"/>
          <p:cNvSpPr txBox="1">
            <a:spLocks noGrp="1"/>
          </p:cNvSpPr>
          <p:nvPr>
            <p:ph type="body" idx="1"/>
          </p:nvPr>
        </p:nvSpPr>
        <p:spPr>
          <a:xfrm>
            <a:off x="1376125" y="1548150"/>
            <a:ext cx="10651752" cy="5173299"/>
          </a:xfrm>
          <a:prstGeom prst="rect">
            <a:avLst/>
          </a:prstGeom>
        </p:spPr>
        <p:txBody>
          <a:bodyPr spcFirstLastPara="1" wrap="square" lIns="91425" tIns="45700" rIns="91425" bIns="45700" anchor="t" anchorCtr="0">
            <a:normAutofit/>
          </a:bodyPr>
          <a:lstStyle/>
          <a:p>
            <a:pPr marL="0" lvl="0" indent="0" algn="l" rtl="0">
              <a:spcBef>
                <a:spcPts val="1200"/>
              </a:spcBef>
              <a:spcAft>
                <a:spcPts val="0"/>
              </a:spcAft>
              <a:buNone/>
            </a:pPr>
            <a:r>
              <a:rPr lang="en-US" sz="2900" dirty="0">
                <a:solidFill>
                  <a:srgbClr val="4472C4"/>
                </a:solidFill>
                <a:latin typeface="Calibri"/>
                <a:ea typeface="Calibri"/>
                <a:cs typeface="Calibri"/>
                <a:sym typeface="Calibri"/>
              </a:rPr>
              <a:t> </a:t>
            </a:r>
            <a:r>
              <a:rPr lang="en-US" sz="2900" dirty="0">
                <a:latin typeface="Calibri"/>
                <a:ea typeface="Calibri"/>
                <a:cs typeface="Calibri"/>
                <a:sym typeface="Calibri"/>
              </a:rPr>
              <a:t>Title I, Part A: Improving Basic Programs Operated by Local Educational Agencies </a:t>
            </a:r>
            <a:endParaRPr sz="2900" dirty="0">
              <a:latin typeface="Calibri"/>
              <a:ea typeface="Calibri"/>
              <a:cs typeface="Calibri"/>
              <a:sym typeface="Calibri"/>
            </a:endParaRPr>
          </a:p>
          <a:p>
            <a:pPr marL="0" lvl="0" indent="0" algn="l" rtl="0">
              <a:spcBef>
                <a:spcPts val="1200"/>
              </a:spcBef>
              <a:spcAft>
                <a:spcPts val="0"/>
              </a:spcAft>
              <a:buClr>
                <a:schemeClr val="dk1"/>
              </a:buClr>
              <a:buSzPts val="1100"/>
              <a:buFont typeface="Arial"/>
              <a:buNone/>
            </a:pPr>
            <a:endParaRPr sz="2900" dirty="0">
              <a:latin typeface="Calibri"/>
              <a:ea typeface="Calibri"/>
              <a:cs typeface="Calibri"/>
              <a:sym typeface="Calibri"/>
            </a:endParaRPr>
          </a:p>
          <a:p>
            <a:pPr marL="0" lvl="0" indent="0" algn="l" rtl="0">
              <a:spcBef>
                <a:spcPts val="200"/>
              </a:spcBef>
              <a:spcAft>
                <a:spcPts val="0"/>
              </a:spcAft>
              <a:buClr>
                <a:schemeClr val="dk1"/>
              </a:buClr>
              <a:buSzPts val="1100"/>
              <a:buFont typeface="Arial"/>
              <a:buNone/>
            </a:pPr>
            <a:r>
              <a:rPr lang="en-US" sz="2500" dirty="0">
                <a:solidFill>
                  <a:srgbClr val="17468E"/>
                </a:solidFill>
                <a:latin typeface="Arial"/>
                <a:ea typeface="Arial"/>
                <a:cs typeface="Arial"/>
                <a:sym typeface="Arial"/>
              </a:rPr>
              <a:t>•</a:t>
            </a:r>
            <a:r>
              <a:rPr lang="en-US" sz="2500" dirty="0">
                <a:latin typeface="Calibri"/>
                <a:ea typeface="Calibri"/>
                <a:cs typeface="Calibri"/>
                <a:sym typeface="Calibri"/>
              </a:rPr>
              <a:t>Ensures all children have a fair, equal, and significant opportunity to obtain</a:t>
            </a:r>
            <a:endParaRPr sz="2500" dirty="0">
              <a:latin typeface="Calibri"/>
              <a:ea typeface="Calibri"/>
              <a:cs typeface="Calibri"/>
              <a:sym typeface="Calibri"/>
            </a:endParaRPr>
          </a:p>
          <a:p>
            <a:pPr marL="0" lvl="0" indent="0" algn="l" rtl="0">
              <a:spcBef>
                <a:spcPts val="400"/>
              </a:spcBef>
              <a:spcAft>
                <a:spcPts val="0"/>
              </a:spcAft>
              <a:buNone/>
            </a:pPr>
            <a:r>
              <a:rPr lang="en-US" sz="2500" dirty="0">
                <a:latin typeface="Calibri"/>
                <a:ea typeface="Calibri"/>
                <a:cs typeface="Calibri"/>
                <a:sym typeface="Calibri"/>
              </a:rPr>
              <a:t>a high-quality education; and</a:t>
            </a:r>
            <a:endParaRPr sz="2500" dirty="0">
              <a:latin typeface="Calibri"/>
              <a:ea typeface="Calibri"/>
              <a:cs typeface="Calibri"/>
              <a:sym typeface="Calibri"/>
            </a:endParaRPr>
          </a:p>
          <a:p>
            <a:pPr marL="0" lvl="0" indent="0" algn="l" rtl="0">
              <a:spcBef>
                <a:spcPts val="400"/>
              </a:spcBef>
              <a:spcAft>
                <a:spcPts val="0"/>
              </a:spcAft>
              <a:buClr>
                <a:schemeClr val="dk1"/>
              </a:buClr>
              <a:buSzPts val="1100"/>
              <a:buFont typeface="Arial"/>
              <a:buNone/>
            </a:pPr>
            <a:endParaRPr sz="2500" dirty="0">
              <a:latin typeface="Calibri"/>
              <a:ea typeface="Calibri"/>
              <a:cs typeface="Calibri"/>
              <a:sym typeface="Calibri"/>
            </a:endParaRPr>
          </a:p>
          <a:p>
            <a:pPr marL="0" lvl="0" indent="0" algn="l" rtl="0">
              <a:spcBef>
                <a:spcPts val="400"/>
              </a:spcBef>
              <a:spcAft>
                <a:spcPts val="0"/>
              </a:spcAft>
              <a:buClr>
                <a:schemeClr val="dk1"/>
              </a:buClr>
              <a:buSzPts val="1100"/>
              <a:buFont typeface="Arial"/>
              <a:buNone/>
            </a:pPr>
            <a:r>
              <a:rPr lang="en-US" sz="2500" dirty="0">
                <a:solidFill>
                  <a:srgbClr val="17468E"/>
                </a:solidFill>
                <a:latin typeface="Arial"/>
                <a:ea typeface="Arial"/>
                <a:cs typeface="Arial"/>
                <a:sym typeface="Arial"/>
              </a:rPr>
              <a:t>•</a:t>
            </a:r>
            <a:r>
              <a:rPr lang="en-US" sz="2500" dirty="0">
                <a:latin typeface="Calibri"/>
                <a:ea typeface="Calibri"/>
                <a:cs typeface="Calibri"/>
                <a:sym typeface="Calibri"/>
              </a:rPr>
              <a:t>Provides equitable services to private school students to improve the achievement of students who are failing or most at risk of failing to meet challenging academic achievement standards and who reside in participating public school attendance areas with high concentrations</a:t>
            </a:r>
            <a:endParaRPr sz="2500" dirty="0">
              <a:latin typeface="Calibri"/>
              <a:ea typeface="Calibri"/>
              <a:cs typeface="Calibri"/>
              <a:sym typeface="Calibri"/>
            </a:endParaRPr>
          </a:p>
          <a:p>
            <a:pPr marL="0" lvl="0" indent="0" algn="l" rtl="0">
              <a:spcBef>
                <a:spcPts val="400"/>
              </a:spcBef>
              <a:spcAft>
                <a:spcPts val="0"/>
              </a:spcAft>
              <a:buClr>
                <a:schemeClr val="dk1"/>
              </a:buClr>
              <a:buSzPts val="1100"/>
              <a:buFont typeface="Arial"/>
              <a:buNone/>
            </a:pPr>
            <a:r>
              <a:rPr lang="en-US" sz="2500" dirty="0">
                <a:latin typeface="Calibri"/>
                <a:ea typeface="Calibri"/>
                <a:cs typeface="Calibri"/>
                <a:sym typeface="Calibri"/>
              </a:rPr>
              <a:t>of students from low-income families.</a:t>
            </a:r>
            <a:endParaRPr sz="2500" dirty="0">
              <a:latin typeface="Calibri"/>
              <a:ea typeface="Calibri"/>
              <a:cs typeface="Calibri"/>
              <a:sym typeface="Calibri"/>
            </a:endParaRPr>
          </a:p>
          <a:p>
            <a:pPr marL="0" lvl="0" indent="0" algn="l" rtl="0">
              <a:spcBef>
                <a:spcPts val="1000"/>
              </a:spcBef>
              <a:spcAft>
                <a:spcPts val="0"/>
              </a:spcAft>
              <a:buNone/>
            </a:pPr>
            <a:endParaRPr dirty="0"/>
          </a:p>
        </p:txBody>
      </p:sp>
      <p:sp>
        <p:nvSpPr>
          <p:cNvPr id="148" name="Google Shape;148;g32a2819eb4e_2_0"/>
          <p:cNvSpPr txBox="1">
            <a:spLocks noGrp="1"/>
          </p:cNvSpPr>
          <p:nvPr>
            <p:ph type="sldNum" idx="12"/>
          </p:nvPr>
        </p:nvSpPr>
        <p:spPr>
          <a:xfrm>
            <a:off x="8347295" y="6356350"/>
            <a:ext cx="6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5"/>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a:t>Equitable Services Defined</a:t>
            </a:r>
            <a:endParaRPr/>
          </a:p>
        </p:txBody>
      </p:sp>
      <p:sp>
        <p:nvSpPr>
          <p:cNvPr id="154" name="Google Shape;154;p5"/>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The LEA:</a:t>
            </a:r>
            <a:endParaRPr/>
          </a:p>
          <a:p>
            <a:pPr marL="349250" lvl="1" indent="-233362" algn="l" rtl="0">
              <a:lnSpc>
                <a:spcPct val="100000"/>
              </a:lnSpc>
              <a:spcBef>
                <a:spcPts val="500"/>
              </a:spcBef>
              <a:spcAft>
                <a:spcPts val="0"/>
              </a:spcAft>
              <a:buClr>
                <a:srgbClr val="17468E"/>
              </a:buClr>
              <a:buSzPts val="2400"/>
              <a:buFont typeface="Arial"/>
              <a:buChar char="•"/>
            </a:pPr>
            <a:r>
              <a:rPr lang="en-US"/>
              <a:t>Assesses, addresses and evaluates the needs of private school students and teachers;</a:t>
            </a:r>
            <a:endParaRPr/>
          </a:p>
          <a:p>
            <a:pPr marL="349250" lvl="1" indent="-233362" algn="l" rtl="0">
              <a:lnSpc>
                <a:spcPct val="100000"/>
              </a:lnSpc>
              <a:spcBef>
                <a:spcPts val="500"/>
              </a:spcBef>
              <a:spcAft>
                <a:spcPts val="0"/>
              </a:spcAft>
              <a:buClr>
                <a:srgbClr val="17468E"/>
              </a:buClr>
              <a:buSzPts val="2400"/>
              <a:buFont typeface="Arial"/>
              <a:buChar char="•"/>
            </a:pPr>
            <a:r>
              <a:rPr lang="en-US"/>
              <a:t>Provides benefits and services that meet the needs of private school students and teachers; </a:t>
            </a:r>
            <a:endParaRPr/>
          </a:p>
          <a:p>
            <a:pPr marL="349250" lvl="1" indent="-233362" algn="l" rtl="0">
              <a:lnSpc>
                <a:spcPct val="100000"/>
              </a:lnSpc>
              <a:spcBef>
                <a:spcPts val="500"/>
              </a:spcBef>
              <a:spcAft>
                <a:spcPts val="0"/>
              </a:spcAft>
              <a:buClr>
                <a:srgbClr val="17468E"/>
              </a:buClr>
              <a:buSzPts val="2400"/>
              <a:buFont typeface="Arial"/>
              <a:buChar char="•"/>
            </a:pPr>
            <a:r>
              <a:rPr lang="en-US"/>
              <a:t>Determines an equal amount of funds on a per student basis to provide equitable services; and</a:t>
            </a:r>
            <a:endParaRPr/>
          </a:p>
          <a:p>
            <a:pPr marL="349250" lvl="1" indent="-233362" algn="l" rtl="0">
              <a:lnSpc>
                <a:spcPct val="100000"/>
              </a:lnSpc>
              <a:spcBef>
                <a:spcPts val="500"/>
              </a:spcBef>
              <a:spcAft>
                <a:spcPts val="0"/>
              </a:spcAft>
              <a:buClr>
                <a:srgbClr val="17468E"/>
              </a:buClr>
              <a:buSzPts val="2400"/>
              <a:buFont typeface="Arial"/>
              <a:buChar char="•"/>
            </a:pPr>
            <a:r>
              <a:rPr lang="en-US"/>
              <a:t>Provides private school students and teachers with an opportunity to participate in activities equitable to the opportunity provided public school students and teachers.</a:t>
            </a:r>
            <a:endParaRPr/>
          </a:p>
          <a:p>
            <a:pPr marL="0" lvl="0" indent="0" algn="l" rtl="0">
              <a:lnSpc>
                <a:spcPct val="90000"/>
              </a:lnSpc>
              <a:spcBef>
                <a:spcPts val="1000"/>
              </a:spcBef>
              <a:spcAft>
                <a:spcPts val="0"/>
              </a:spcAft>
              <a:buClr>
                <a:schemeClr val="dk1"/>
              </a:buClr>
              <a:buSzPts val="2800"/>
              <a:buNone/>
            </a:pPr>
            <a:endParaRPr/>
          </a:p>
        </p:txBody>
      </p:sp>
      <p:sp>
        <p:nvSpPr>
          <p:cNvPr id="155" name="Google Shape;155;p5"/>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156" name="Google Shape;156;p5"/>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157" name="Google Shape;157;p5"/>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6"/>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a:t>Requirements of ALL LEAs</a:t>
            </a:r>
            <a:endParaRPr/>
          </a:p>
        </p:txBody>
      </p:sp>
      <p:sp>
        <p:nvSpPr>
          <p:cNvPr id="164" name="Google Shape;164;p6"/>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All LEAs (except for Public Charter LEAs) are required to send letters of invitation to private schools within 25 miles of their district’s edge.</a:t>
            </a:r>
            <a:endParaRPr dirty="0"/>
          </a:p>
          <a:p>
            <a:pPr marL="228600" lvl="0" indent="-228600" algn="l" rtl="0">
              <a:lnSpc>
                <a:spcPct val="90000"/>
              </a:lnSpc>
              <a:spcBef>
                <a:spcPts val="1000"/>
              </a:spcBef>
              <a:spcAft>
                <a:spcPts val="0"/>
              </a:spcAft>
              <a:buClr>
                <a:schemeClr val="dk1"/>
              </a:buClr>
              <a:buSzPts val="2800"/>
              <a:buChar char="•"/>
            </a:pPr>
            <a:r>
              <a:rPr lang="en-US" dirty="0">
                <a:hlinkClick r:id="rId3"/>
              </a:rPr>
              <a:t>2 letters:  In District and Out of District.</a:t>
            </a:r>
            <a:endParaRPr dirty="0"/>
          </a:p>
          <a:p>
            <a:pPr marL="228600" lvl="0" indent="-228600" algn="l" rtl="0">
              <a:lnSpc>
                <a:spcPct val="90000"/>
              </a:lnSpc>
              <a:spcBef>
                <a:spcPts val="1000"/>
              </a:spcBef>
              <a:spcAft>
                <a:spcPts val="0"/>
              </a:spcAft>
              <a:buClr>
                <a:schemeClr val="dk1"/>
              </a:buClr>
              <a:buSzPts val="2800"/>
              <a:buChar char="•"/>
            </a:pPr>
            <a:r>
              <a:rPr lang="en-US" dirty="0"/>
              <a:t>Private Schools within a district’s boundaries are invited to participate in Titles IA, IC, IIA, III, and IV depending on the funding sources that district receives. </a:t>
            </a:r>
            <a:endParaRPr dirty="0"/>
          </a:p>
          <a:p>
            <a:pPr marL="228600" lvl="0" indent="-228600" algn="l" rtl="0">
              <a:lnSpc>
                <a:spcPct val="90000"/>
              </a:lnSpc>
              <a:spcBef>
                <a:spcPts val="1000"/>
              </a:spcBef>
              <a:spcAft>
                <a:spcPts val="0"/>
              </a:spcAft>
              <a:buClr>
                <a:schemeClr val="dk1"/>
              </a:buClr>
              <a:buSzPts val="2800"/>
              <a:buChar char="•"/>
            </a:pPr>
            <a:r>
              <a:rPr lang="en-US" dirty="0"/>
              <a:t>Private Schools outside of a district’s boundaries are invited to participate in Title IA.</a:t>
            </a:r>
            <a:endParaRPr dirty="0"/>
          </a:p>
        </p:txBody>
      </p:sp>
      <p:sp>
        <p:nvSpPr>
          <p:cNvPr id="165" name="Google Shape;165;p6"/>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166" name="Google Shape;166;p6"/>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167" name="Google Shape;167;p6"/>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7"/>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a:t>Requirements of all LEAs cont.</a:t>
            </a:r>
            <a:endParaRPr/>
          </a:p>
        </p:txBody>
      </p:sp>
      <p:sp>
        <p:nvSpPr>
          <p:cNvPr id="173" name="Google Shape;173;p7"/>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dirty="0"/>
              <a:t>LEAs can use the EEM Geographical Search to find all Non-Public Schools.</a:t>
            </a:r>
            <a:endParaRPr dirty="0"/>
          </a:p>
          <a:p>
            <a:pPr marL="228600" lvl="0" indent="-228600" algn="l" rtl="0">
              <a:lnSpc>
                <a:spcPct val="90000"/>
              </a:lnSpc>
              <a:spcBef>
                <a:spcPts val="1000"/>
              </a:spcBef>
              <a:spcAft>
                <a:spcPts val="0"/>
              </a:spcAft>
              <a:buClr>
                <a:schemeClr val="dk1"/>
              </a:buClr>
              <a:buSzPts val="2800"/>
              <a:buChar char="•"/>
            </a:pPr>
            <a:r>
              <a:rPr lang="en-US" dirty="0"/>
              <a:t>Letters must be sent early enough to receive responses before the LEA makes any decisions regarding their grants (March/April).</a:t>
            </a:r>
            <a:endParaRPr dirty="0"/>
          </a:p>
          <a:p>
            <a:pPr marL="228600" lvl="0" indent="-228600" algn="l" rtl="0">
              <a:lnSpc>
                <a:spcPct val="90000"/>
              </a:lnSpc>
              <a:spcBef>
                <a:spcPts val="1000"/>
              </a:spcBef>
              <a:spcAft>
                <a:spcPts val="0"/>
              </a:spcAft>
              <a:buClr>
                <a:schemeClr val="dk1"/>
              </a:buClr>
              <a:buSzPts val="2800"/>
              <a:buChar char="•"/>
            </a:pPr>
            <a:r>
              <a:rPr lang="en-US" dirty="0"/>
              <a:t>Provide a date by which the private school must respond.  Include the consequence for not responding by that date.</a:t>
            </a:r>
            <a:endParaRPr dirty="0"/>
          </a:p>
          <a:p>
            <a:pPr marL="228600" lvl="0" indent="-228600" algn="l" rtl="0">
              <a:lnSpc>
                <a:spcPct val="90000"/>
              </a:lnSpc>
              <a:spcBef>
                <a:spcPts val="1000"/>
              </a:spcBef>
              <a:spcAft>
                <a:spcPts val="0"/>
              </a:spcAft>
              <a:buClr>
                <a:schemeClr val="dk1"/>
              </a:buClr>
              <a:buSzPts val="2800"/>
              <a:buChar char="•"/>
            </a:pPr>
            <a:r>
              <a:rPr lang="en-US" dirty="0"/>
              <a:t>It is recommended that the LEA follow-up with private schools that do not respond.</a:t>
            </a:r>
            <a:endParaRPr dirty="0"/>
          </a:p>
          <a:p>
            <a:pPr marL="228600" lvl="0" indent="-228600" algn="l" rtl="0">
              <a:lnSpc>
                <a:spcPct val="90000"/>
              </a:lnSpc>
              <a:spcBef>
                <a:spcPts val="1000"/>
              </a:spcBef>
              <a:spcAft>
                <a:spcPts val="0"/>
              </a:spcAft>
              <a:buClr>
                <a:schemeClr val="dk1"/>
              </a:buClr>
              <a:buSzPts val="2800"/>
              <a:buChar char="•"/>
            </a:pPr>
            <a:r>
              <a:rPr lang="en-US" dirty="0"/>
              <a:t>Document ALL correspondence and responses.</a:t>
            </a:r>
            <a:endParaRPr dirty="0"/>
          </a:p>
        </p:txBody>
      </p:sp>
      <p:sp>
        <p:nvSpPr>
          <p:cNvPr id="174" name="Google Shape;174;p7"/>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175" name="Google Shape;175;p7"/>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176" name="Google Shape;176;p7"/>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8"/>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a:t>When a private school says yes…</a:t>
            </a:r>
            <a:endParaRPr/>
          </a:p>
        </p:txBody>
      </p:sp>
      <p:sp>
        <p:nvSpPr>
          <p:cNvPr id="183" name="Google Shape;183;p8"/>
          <p:cNvSpPr txBox="1">
            <a:spLocks noGrp="1"/>
          </p:cNvSpPr>
          <p:nvPr>
            <p:ph type="body" idx="1"/>
          </p:nvPr>
        </p:nvSpPr>
        <p:spPr>
          <a:xfrm>
            <a:off x="970984" y="1649743"/>
            <a:ext cx="9977673" cy="462882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Confirm that the private school is on the </a:t>
            </a:r>
            <a:r>
              <a:rPr lang="en-US" u="sng" dirty="0">
                <a:solidFill>
                  <a:schemeClr val="hlink"/>
                </a:solidFill>
                <a:hlinkClick r:id="rId3"/>
              </a:rPr>
              <a:t>Approved Nonpublic School Listing </a:t>
            </a:r>
            <a:r>
              <a:rPr lang="en-US" dirty="0"/>
              <a:t>with MDE.</a:t>
            </a:r>
            <a:endParaRPr dirty="0"/>
          </a:p>
          <a:p>
            <a:pPr marL="228600" lvl="0" indent="-228600" algn="l" rtl="0">
              <a:lnSpc>
                <a:spcPct val="90000"/>
              </a:lnSpc>
              <a:spcBef>
                <a:spcPts val="1000"/>
              </a:spcBef>
              <a:spcAft>
                <a:spcPts val="0"/>
              </a:spcAft>
              <a:buClr>
                <a:schemeClr val="dk1"/>
              </a:buClr>
              <a:buSzPts val="2800"/>
              <a:buChar char="•"/>
            </a:pPr>
            <a:r>
              <a:rPr lang="en-US" dirty="0"/>
              <a:t>If they are not, they cannot receive Equitable Services.</a:t>
            </a:r>
            <a:endParaRPr dirty="0"/>
          </a:p>
          <a:p>
            <a:pPr marL="228600" lvl="0" indent="-228600" algn="l" rtl="0">
              <a:lnSpc>
                <a:spcPct val="90000"/>
              </a:lnSpc>
              <a:spcBef>
                <a:spcPts val="1000"/>
              </a:spcBef>
              <a:spcAft>
                <a:spcPts val="0"/>
              </a:spcAft>
              <a:buClr>
                <a:schemeClr val="dk1"/>
              </a:buClr>
              <a:buSzPts val="2800"/>
              <a:buChar char="•"/>
            </a:pPr>
            <a:r>
              <a:rPr lang="en-US" dirty="0"/>
              <a:t>If they are on the list, timely and meaningful consultation begins.</a:t>
            </a:r>
            <a:endParaRPr dirty="0"/>
          </a:p>
          <a:p>
            <a:pPr marL="0" lvl="0" indent="0" algn="l" rtl="0">
              <a:lnSpc>
                <a:spcPct val="90000"/>
              </a:lnSpc>
              <a:spcBef>
                <a:spcPts val="1000"/>
              </a:spcBef>
              <a:spcAft>
                <a:spcPts val="0"/>
              </a:spcAft>
              <a:buNone/>
            </a:pPr>
            <a:endParaRPr dirty="0"/>
          </a:p>
          <a:p>
            <a:pPr marL="0" lvl="0" indent="0" algn="l" rtl="0">
              <a:lnSpc>
                <a:spcPct val="90000"/>
              </a:lnSpc>
              <a:spcBef>
                <a:spcPts val="1000"/>
              </a:spcBef>
              <a:spcAft>
                <a:spcPts val="0"/>
              </a:spcAft>
              <a:buNone/>
            </a:pPr>
            <a:r>
              <a:rPr lang="en-US" dirty="0"/>
              <a:t>Contact for the list:  Kevin Walters, WaltersK5@michigan.gov</a:t>
            </a:r>
            <a:endParaRPr dirty="0"/>
          </a:p>
        </p:txBody>
      </p:sp>
      <p:sp>
        <p:nvSpPr>
          <p:cNvPr id="184" name="Google Shape;184;p8"/>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185" name="Google Shape;185;p8"/>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186" name="Google Shape;186;p8"/>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9"/>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a:t>Key Point #2: Consultation</a:t>
            </a:r>
            <a:endParaRPr/>
          </a:p>
        </p:txBody>
      </p:sp>
      <p:sp>
        <p:nvSpPr>
          <p:cNvPr id="193" name="Google Shape;193;p9"/>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fontScale="92500" lnSpcReduction="10000"/>
          </a:bodyPr>
          <a:lstStyle/>
          <a:p>
            <a:pPr marL="349250" lvl="1" indent="-233362" algn="l" rtl="0">
              <a:lnSpc>
                <a:spcPct val="110000"/>
              </a:lnSpc>
              <a:spcBef>
                <a:spcPts val="0"/>
              </a:spcBef>
              <a:spcAft>
                <a:spcPts val="0"/>
              </a:spcAft>
              <a:buClr>
                <a:srgbClr val="17468E"/>
              </a:buClr>
              <a:buSzPts val="2400"/>
              <a:buFont typeface="Arial"/>
              <a:buChar char="•"/>
            </a:pPr>
            <a:r>
              <a:rPr lang="en-US" dirty="0"/>
              <a:t>An LEA is </a:t>
            </a:r>
            <a:r>
              <a:rPr lang="en-US" b="1" dirty="0"/>
              <a:t>required to consult </a:t>
            </a:r>
            <a:r>
              <a:rPr lang="en-US" dirty="0"/>
              <a:t>with private school officials regarding the provision of equitable services.  </a:t>
            </a:r>
            <a:endParaRPr dirty="0"/>
          </a:p>
          <a:p>
            <a:pPr marL="349250" lvl="1" indent="-233362" algn="l" rtl="0">
              <a:lnSpc>
                <a:spcPct val="110000"/>
              </a:lnSpc>
              <a:spcBef>
                <a:spcPts val="500"/>
              </a:spcBef>
              <a:spcAft>
                <a:spcPts val="0"/>
              </a:spcAft>
              <a:buClr>
                <a:srgbClr val="17468E"/>
              </a:buClr>
              <a:buSzPts val="2400"/>
              <a:buFont typeface="Arial"/>
              <a:buChar char="•"/>
            </a:pPr>
            <a:r>
              <a:rPr lang="en-US" dirty="0"/>
              <a:t>Consultation must occur during the </a:t>
            </a:r>
            <a:r>
              <a:rPr lang="en-US" b="1" dirty="0"/>
              <a:t>design, development, and implementation</a:t>
            </a:r>
            <a:r>
              <a:rPr lang="en-US" dirty="0"/>
              <a:t> of the respective program.</a:t>
            </a:r>
            <a:endParaRPr dirty="0"/>
          </a:p>
          <a:p>
            <a:pPr marL="349250" lvl="1" indent="-233362" algn="l" rtl="0">
              <a:lnSpc>
                <a:spcPct val="110000"/>
              </a:lnSpc>
              <a:spcBef>
                <a:spcPts val="500"/>
              </a:spcBef>
              <a:spcAft>
                <a:spcPts val="0"/>
              </a:spcAft>
              <a:buClr>
                <a:srgbClr val="17468E"/>
              </a:buClr>
              <a:buSzPts val="2400"/>
              <a:buFont typeface="Arial"/>
              <a:buChar char="•"/>
            </a:pPr>
            <a:r>
              <a:rPr lang="en-US" dirty="0"/>
              <a:t>Consultation must </a:t>
            </a:r>
            <a:r>
              <a:rPr lang="en-US" b="1" dirty="0"/>
              <a:t>occur before the LEA makes any decision </a:t>
            </a:r>
            <a:r>
              <a:rPr lang="en-US" dirty="0"/>
              <a:t>that affects the opportunity of eligible private school students and teachers to participate and must </a:t>
            </a:r>
            <a:r>
              <a:rPr lang="en-US" b="1" dirty="0"/>
              <a:t>continue throughout </a:t>
            </a:r>
            <a:r>
              <a:rPr lang="en-US" dirty="0"/>
              <a:t>the implementation and assessment of services.</a:t>
            </a:r>
          </a:p>
          <a:p>
            <a:pPr marL="806450" lvl="2" indent="-233362">
              <a:lnSpc>
                <a:spcPct val="110000"/>
              </a:lnSpc>
              <a:buClr>
                <a:srgbClr val="17468E"/>
              </a:buClr>
              <a:buSzPts val="2400"/>
            </a:pPr>
            <a:r>
              <a:rPr lang="en-US" b="1" dirty="0"/>
              <a:t>NOTE: This means that LEAs cannot make the decision to transfer any funds until they have held timely and meaningful consultation with the private schools.</a:t>
            </a:r>
            <a:endParaRPr b="1" dirty="0"/>
          </a:p>
          <a:p>
            <a:pPr marL="349250" lvl="1" indent="0" algn="l" rtl="0">
              <a:lnSpc>
                <a:spcPct val="110000"/>
              </a:lnSpc>
              <a:spcBef>
                <a:spcPts val="1000"/>
              </a:spcBef>
              <a:spcAft>
                <a:spcPts val="0"/>
              </a:spcAft>
              <a:buClr>
                <a:srgbClr val="17468E"/>
              </a:buClr>
              <a:buSzPts val="2400"/>
              <a:buNone/>
            </a:pPr>
            <a:r>
              <a:rPr lang="en-US" i="1" dirty="0">
                <a:solidFill>
                  <a:srgbClr val="17468E"/>
                </a:solidFill>
              </a:rPr>
              <a:t>ESEA sections 1117(b)(3) and 8501(c)(3)</a:t>
            </a:r>
            <a:endParaRPr dirty="0"/>
          </a:p>
          <a:p>
            <a:pPr marL="228600" lvl="0" indent="-50800" algn="l" rtl="0">
              <a:lnSpc>
                <a:spcPct val="90000"/>
              </a:lnSpc>
              <a:spcBef>
                <a:spcPts val="1000"/>
              </a:spcBef>
              <a:spcAft>
                <a:spcPts val="0"/>
              </a:spcAft>
              <a:buClr>
                <a:schemeClr val="dk1"/>
              </a:buClr>
              <a:buSzPts val="2800"/>
              <a:buNone/>
            </a:pPr>
            <a:endParaRPr dirty="0"/>
          </a:p>
        </p:txBody>
      </p:sp>
      <p:sp>
        <p:nvSpPr>
          <p:cNvPr id="194" name="Google Shape;194;p9"/>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195" name="Google Shape;195;p9"/>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196" name="Google Shape;196;p9"/>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0"/>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a:t>Consultation</a:t>
            </a:r>
            <a:endParaRPr/>
          </a:p>
        </p:txBody>
      </p:sp>
      <p:sp>
        <p:nvSpPr>
          <p:cNvPr id="202" name="Google Shape;202;p10"/>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a:bodyPr>
          <a:lstStyle/>
          <a:p>
            <a:pPr marL="349250" lvl="1" indent="-233362" algn="l" rtl="0">
              <a:lnSpc>
                <a:spcPct val="110000"/>
              </a:lnSpc>
              <a:spcBef>
                <a:spcPts val="0"/>
              </a:spcBef>
              <a:spcAft>
                <a:spcPts val="0"/>
              </a:spcAft>
              <a:buClr>
                <a:srgbClr val="17468E"/>
              </a:buClr>
              <a:buSzPts val="2400"/>
              <a:buFont typeface="Arial"/>
              <a:buChar char="•"/>
            </a:pPr>
            <a:r>
              <a:rPr lang="en-US" dirty="0"/>
              <a:t>Meaningful consultation provides a </a:t>
            </a:r>
            <a:r>
              <a:rPr lang="en-US" b="1" dirty="0"/>
              <a:t>genuine opportunity </a:t>
            </a:r>
            <a:r>
              <a:rPr lang="en-US" dirty="0"/>
              <a:t>for all parties to </a:t>
            </a:r>
            <a:r>
              <a:rPr lang="en-US" b="1" dirty="0"/>
              <a:t>express their views</a:t>
            </a:r>
            <a:r>
              <a:rPr lang="en-US" dirty="0"/>
              <a:t>, and to have their views </a:t>
            </a:r>
            <a:r>
              <a:rPr lang="en-US" b="1" dirty="0"/>
              <a:t>seriously considered</a:t>
            </a:r>
            <a:r>
              <a:rPr lang="en-US" dirty="0"/>
              <a:t>. </a:t>
            </a:r>
            <a:endParaRPr dirty="0"/>
          </a:p>
          <a:p>
            <a:pPr marL="349250" lvl="1" indent="-233362" algn="l" rtl="0">
              <a:lnSpc>
                <a:spcPct val="110000"/>
              </a:lnSpc>
              <a:spcBef>
                <a:spcPts val="500"/>
              </a:spcBef>
              <a:spcAft>
                <a:spcPts val="0"/>
              </a:spcAft>
              <a:buClr>
                <a:srgbClr val="17468E"/>
              </a:buClr>
              <a:buSzPts val="2400"/>
              <a:buFont typeface="Arial"/>
              <a:buChar char="•"/>
            </a:pPr>
            <a:r>
              <a:rPr lang="en-US" dirty="0"/>
              <a:t>Timely consultation provides </a:t>
            </a:r>
            <a:r>
              <a:rPr lang="en-US" b="1" dirty="0"/>
              <a:t>adequate notice </a:t>
            </a:r>
            <a:r>
              <a:rPr lang="en-US" dirty="0"/>
              <a:t>to private school officials. (prior to the LEA making any decisions regarding their own funds INCLUDING the decision to transfer) </a:t>
            </a:r>
            <a:endParaRPr dirty="0"/>
          </a:p>
          <a:p>
            <a:pPr marL="349250" lvl="1" indent="-233362" algn="l" rtl="0">
              <a:lnSpc>
                <a:spcPct val="110000"/>
              </a:lnSpc>
              <a:spcBef>
                <a:spcPts val="500"/>
              </a:spcBef>
              <a:spcAft>
                <a:spcPts val="0"/>
              </a:spcAft>
              <a:buClr>
                <a:srgbClr val="17468E"/>
              </a:buClr>
              <a:buSzPts val="2400"/>
              <a:buFont typeface="Arial"/>
              <a:buChar char="•"/>
            </a:pPr>
            <a:r>
              <a:rPr lang="en-US" dirty="0"/>
              <a:t>Successful consultation establishes </a:t>
            </a:r>
            <a:r>
              <a:rPr lang="en-US" b="1" dirty="0"/>
              <a:t>positive and productive working relationships.</a:t>
            </a:r>
            <a:endParaRPr dirty="0"/>
          </a:p>
          <a:p>
            <a:pPr marL="63500" lvl="1" indent="0" algn="l" rtl="0">
              <a:lnSpc>
                <a:spcPct val="110000"/>
              </a:lnSpc>
              <a:spcBef>
                <a:spcPts val="1000"/>
              </a:spcBef>
              <a:spcAft>
                <a:spcPts val="0"/>
              </a:spcAft>
              <a:buClr>
                <a:srgbClr val="17468E"/>
              </a:buClr>
              <a:buSzPts val="2400"/>
              <a:buNone/>
            </a:pPr>
            <a:r>
              <a:rPr lang="en-US" i="1" dirty="0">
                <a:solidFill>
                  <a:srgbClr val="17468E"/>
                </a:solidFill>
              </a:rPr>
              <a:t>ESEA sections 1117(b) and 8501(c)</a:t>
            </a:r>
            <a:endParaRPr dirty="0"/>
          </a:p>
          <a:p>
            <a:pPr marL="0" lvl="0" indent="0" algn="l" rtl="0">
              <a:lnSpc>
                <a:spcPct val="90000"/>
              </a:lnSpc>
              <a:spcBef>
                <a:spcPts val="1000"/>
              </a:spcBef>
              <a:spcAft>
                <a:spcPts val="0"/>
              </a:spcAft>
              <a:buClr>
                <a:schemeClr val="dk1"/>
              </a:buClr>
              <a:buSzPts val="2800"/>
              <a:buNone/>
            </a:pPr>
            <a:endParaRPr dirty="0"/>
          </a:p>
        </p:txBody>
      </p:sp>
      <p:sp>
        <p:nvSpPr>
          <p:cNvPr id="203" name="Google Shape;203;p10"/>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204" name="Google Shape;204;p10"/>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205" name="Google Shape;205;p10"/>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1"/>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a:t>Consultation</a:t>
            </a:r>
            <a:endParaRPr/>
          </a:p>
        </p:txBody>
      </p:sp>
      <p:sp>
        <p:nvSpPr>
          <p:cNvPr id="212" name="Google Shape;212;p11"/>
          <p:cNvSpPr txBox="1">
            <a:spLocks noGrp="1"/>
          </p:cNvSpPr>
          <p:nvPr>
            <p:ph type="body" idx="1"/>
          </p:nvPr>
        </p:nvSpPr>
        <p:spPr>
          <a:xfrm>
            <a:off x="1376127" y="1548143"/>
            <a:ext cx="9977673" cy="4454072"/>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l" rtl="0">
              <a:lnSpc>
                <a:spcPct val="90000"/>
              </a:lnSpc>
              <a:spcBef>
                <a:spcPts val="0"/>
              </a:spcBef>
              <a:spcAft>
                <a:spcPts val="0"/>
              </a:spcAft>
              <a:buClr>
                <a:schemeClr val="dk1"/>
              </a:buClr>
              <a:buSzPts val="2800"/>
              <a:buChar char="•"/>
            </a:pPr>
            <a:r>
              <a:rPr lang="en-US" dirty="0"/>
              <a:t>MDE provides LEAs with a consultation document that must be used and signed by both parties at least twice per year.  However, the law requires “ongoing” consultation which should happen </a:t>
            </a:r>
            <a:r>
              <a:rPr lang="en-US" b="1" dirty="0"/>
              <a:t>more</a:t>
            </a:r>
            <a:r>
              <a:rPr lang="en-US" dirty="0"/>
              <a:t> than just the two times per year that the consultation document is used. </a:t>
            </a:r>
          </a:p>
          <a:p>
            <a:pPr marL="228600" lvl="0" indent="-228600" algn="l" rtl="0">
              <a:lnSpc>
                <a:spcPct val="90000"/>
              </a:lnSpc>
              <a:spcBef>
                <a:spcPts val="1000"/>
              </a:spcBef>
              <a:spcAft>
                <a:spcPts val="0"/>
              </a:spcAft>
              <a:buClr>
                <a:schemeClr val="dk1"/>
              </a:buClr>
              <a:buSzPts val="2800"/>
              <a:buChar char="•"/>
            </a:pPr>
            <a:r>
              <a:rPr lang="en-US" dirty="0"/>
              <a:t>Document the details of the conversations during consultation.</a:t>
            </a:r>
            <a:endParaRPr dirty="0"/>
          </a:p>
          <a:p>
            <a:pPr marL="228600" lvl="0" indent="-228600" algn="l" rtl="0">
              <a:lnSpc>
                <a:spcPct val="90000"/>
              </a:lnSpc>
              <a:spcBef>
                <a:spcPts val="1000"/>
              </a:spcBef>
              <a:spcAft>
                <a:spcPts val="0"/>
              </a:spcAft>
              <a:buClr>
                <a:schemeClr val="dk1"/>
              </a:buClr>
              <a:buSzPts val="2800"/>
              <a:buChar char="•"/>
            </a:pPr>
            <a:r>
              <a:rPr lang="en-US" dirty="0"/>
              <a:t>Virtual consultation is allowable.</a:t>
            </a:r>
            <a:endParaRPr dirty="0"/>
          </a:p>
          <a:p>
            <a:pPr marL="228600" lvl="0" indent="-228600" algn="l" rtl="0">
              <a:lnSpc>
                <a:spcPct val="90000"/>
              </a:lnSpc>
              <a:spcBef>
                <a:spcPts val="1000"/>
              </a:spcBef>
              <a:spcAft>
                <a:spcPts val="0"/>
              </a:spcAft>
              <a:buClr>
                <a:schemeClr val="dk1"/>
              </a:buClr>
              <a:buSzPts val="2800"/>
              <a:buChar char="•"/>
            </a:pPr>
            <a:r>
              <a:rPr lang="en-US" dirty="0"/>
              <a:t>Consultation with more than one private school at a time is allowable.</a:t>
            </a:r>
            <a:endParaRPr dirty="0"/>
          </a:p>
          <a:p>
            <a:pPr marL="228600" lvl="0" indent="-228600" algn="l" rtl="0">
              <a:lnSpc>
                <a:spcPct val="90000"/>
              </a:lnSpc>
              <a:spcBef>
                <a:spcPts val="1000"/>
              </a:spcBef>
              <a:spcAft>
                <a:spcPts val="0"/>
              </a:spcAft>
              <a:buClr>
                <a:schemeClr val="dk1"/>
              </a:buClr>
              <a:buSzPts val="2800"/>
              <a:buChar char="•"/>
            </a:pPr>
            <a:r>
              <a:rPr lang="en-US" dirty="0"/>
              <a:t>When entering into an MOU with another LEA, all LEAs should be involved in the consultation and must have separate signed consultation documents.</a:t>
            </a:r>
            <a:endParaRPr dirty="0"/>
          </a:p>
          <a:p>
            <a:pPr marL="228600" lvl="0" indent="-50800" algn="l" rtl="0">
              <a:lnSpc>
                <a:spcPct val="90000"/>
              </a:lnSpc>
              <a:spcBef>
                <a:spcPts val="1000"/>
              </a:spcBef>
              <a:spcAft>
                <a:spcPts val="0"/>
              </a:spcAft>
              <a:buClr>
                <a:schemeClr val="dk1"/>
              </a:buClr>
              <a:buSzPts val="2800"/>
              <a:buNone/>
            </a:pPr>
            <a:endParaRPr dirty="0"/>
          </a:p>
        </p:txBody>
      </p:sp>
      <p:sp>
        <p:nvSpPr>
          <p:cNvPr id="213" name="Google Shape;213;p11"/>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2/23/2023</a:t>
            </a:r>
            <a:endParaRPr dirty="0"/>
          </a:p>
        </p:txBody>
      </p:sp>
      <p:sp>
        <p:nvSpPr>
          <p:cNvPr id="214" name="Google Shape;214;p11"/>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215" name="Google Shape;215;p11"/>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A87EE-3599-B145-4363-C9E797750F7F}"/>
              </a:ext>
            </a:extLst>
          </p:cNvPr>
          <p:cNvSpPr>
            <a:spLocks noGrp="1"/>
          </p:cNvSpPr>
          <p:nvPr>
            <p:ph type="title"/>
          </p:nvPr>
        </p:nvSpPr>
        <p:spPr/>
        <p:txBody>
          <a:bodyPr/>
          <a:lstStyle/>
          <a:p>
            <a:r>
              <a:rPr lang="en-US" dirty="0"/>
              <a:t>MDE Consultation Requirements</a:t>
            </a:r>
          </a:p>
        </p:txBody>
      </p:sp>
      <p:sp>
        <p:nvSpPr>
          <p:cNvPr id="3" name="Text Placeholder 2">
            <a:extLst>
              <a:ext uri="{FF2B5EF4-FFF2-40B4-BE49-F238E27FC236}">
                <a16:creationId xmlns:a16="http://schemas.microsoft.com/office/drawing/2014/main" id="{0B33A32B-FE56-EC31-1DFC-7540197B7081}"/>
              </a:ext>
            </a:extLst>
          </p:cNvPr>
          <p:cNvSpPr>
            <a:spLocks noGrp="1"/>
          </p:cNvSpPr>
          <p:nvPr>
            <p:ph type="body" idx="1"/>
          </p:nvPr>
        </p:nvSpPr>
        <p:spPr/>
        <p:txBody>
          <a:bodyPr>
            <a:normAutofit/>
          </a:bodyPr>
          <a:lstStyle/>
          <a:p>
            <a:r>
              <a:rPr lang="en-US" sz="2400" dirty="0"/>
              <a:t>The LEA and Private School </a:t>
            </a:r>
            <a:r>
              <a:rPr lang="en-US" sz="2400" b="1" dirty="0"/>
              <a:t>must </a:t>
            </a:r>
            <a:r>
              <a:rPr lang="en-US" sz="2400" dirty="0"/>
              <a:t>use the Documentation of Private School Consultation Form found at :</a:t>
            </a:r>
            <a:r>
              <a:rPr lang="en-US" sz="2400" dirty="0">
                <a:hlinkClick r:id="rId3"/>
              </a:rPr>
              <a:t>Technical Assistance for Working with Private Schools</a:t>
            </a:r>
            <a:endParaRPr lang="en-US" sz="2400" dirty="0"/>
          </a:p>
          <a:p>
            <a:r>
              <a:rPr lang="en-US" sz="2400" dirty="0"/>
              <a:t>This form must be used at least twice a year – before the submission of the initial Consolidated Application and again at amendment time.</a:t>
            </a:r>
          </a:p>
          <a:p>
            <a:r>
              <a:rPr lang="en-US" sz="2400" dirty="0"/>
              <a:t>The form must be signed (wet signatures are required) by both the LEA and private school.</a:t>
            </a:r>
          </a:p>
          <a:p>
            <a:r>
              <a:rPr lang="en-US" sz="2400" dirty="0"/>
              <a:t>LEAs will be required to submit consultation documentation to MDE.  Further information regarding this will be forthcoming.</a:t>
            </a:r>
          </a:p>
          <a:p>
            <a:pPr marL="114300" indent="0">
              <a:buNone/>
            </a:pPr>
            <a:endParaRPr lang="en-US" sz="2400" dirty="0"/>
          </a:p>
          <a:p>
            <a:endParaRPr lang="en-US" dirty="0"/>
          </a:p>
        </p:txBody>
      </p:sp>
      <p:sp>
        <p:nvSpPr>
          <p:cNvPr id="4" name="Slide Number Placeholder 3">
            <a:extLst>
              <a:ext uri="{FF2B5EF4-FFF2-40B4-BE49-F238E27FC236}">
                <a16:creationId xmlns:a16="http://schemas.microsoft.com/office/drawing/2014/main" id="{9485C4DA-F9FE-27B8-0BB0-BEF7C536675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1437697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0"/>
        <p:cNvGrpSpPr/>
        <p:nvPr/>
      </p:nvGrpSpPr>
      <p:grpSpPr>
        <a:xfrm>
          <a:off x="0" y="0"/>
          <a:ext cx="0" cy="0"/>
          <a:chOff x="0" y="0"/>
          <a:chExt cx="0" cy="0"/>
        </a:xfrm>
      </p:grpSpPr>
      <p:sp>
        <p:nvSpPr>
          <p:cNvPr id="221" name="Google Shape;221;p12"/>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Verdana"/>
              <a:ea typeface="Verdana"/>
              <a:cs typeface="Verdana"/>
              <a:sym typeface="Verdana"/>
            </a:endParaRPr>
          </a:p>
        </p:txBody>
      </p:sp>
      <p:sp>
        <p:nvSpPr>
          <p:cNvPr id="222" name="Google Shape;222;p12"/>
          <p:cNvSpPr/>
          <p:nvPr/>
        </p:nvSpPr>
        <p:spPr>
          <a:xfrm>
            <a:off x="0" y="0"/>
            <a:ext cx="2013557" cy="6858000"/>
          </a:xfrm>
          <a:prstGeom prst="rect">
            <a:avLst/>
          </a:prstGeom>
          <a:solidFill>
            <a:srgbClr val="3844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Verdana"/>
              <a:ea typeface="Verdana"/>
              <a:cs typeface="Verdana"/>
              <a:sym typeface="Verdana"/>
            </a:endParaRPr>
          </a:p>
        </p:txBody>
      </p:sp>
      <p:sp>
        <p:nvSpPr>
          <p:cNvPr id="223" name="Google Shape;223;p12"/>
          <p:cNvSpPr>
            <a:spLocks noGrp="1"/>
          </p:cNvSpPr>
          <p:nvPr>
            <p:ph type="title"/>
          </p:nvPr>
        </p:nvSpPr>
        <p:spPr>
          <a:xfrm>
            <a:off x="640080" y="2074363"/>
            <a:ext cx="2752354" cy="2709275"/>
          </a:xfrm>
          <a:prstGeom prst="ellipse">
            <a:avLst/>
          </a:prstGeom>
          <a:solidFill>
            <a:srgbClr val="262626"/>
          </a:solidFill>
          <a:ln w="174625" cap="flat" cmpd="thinThick">
            <a:solidFill>
              <a:srgbClr val="262626"/>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2400"/>
              <a:buFont typeface="Verdana"/>
              <a:buNone/>
            </a:pPr>
            <a:r>
              <a:rPr lang="en-US" sz="2400">
                <a:solidFill>
                  <a:srgbClr val="FFFFFF"/>
                </a:solidFill>
                <a:latin typeface="Verdana"/>
                <a:ea typeface="Verdana"/>
                <a:cs typeface="Verdana"/>
                <a:sym typeface="Verdana"/>
              </a:rPr>
              <a:t>Questions?</a:t>
            </a:r>
            <a:endParaRPr/>
          </a:p>
        </p:txBody>
      </p:sp>
      <p:pic>
        <p:nvPicPr>
          <p:cNvPr id="224" name="Google Shape;224;p12" descr="Icon&#10;&#10;Description automatically generated"/>
          <p:cNvPicPr preferRelativeResize="0">
            <a:picLocks noGrp="1"/>
          </p:cNvPicPr>
          <p:nvPr>
            <p:ph type="body" idx="1"/>
          </p:nvPr>
        </p:nvPicPr>
        <p:blipFill rotWithShape="1">
          <a:blip r:embed="rId3">
            <a:alphaModFix/>
          </a:blip>
          <a:srcRect t="14449"/>
          <a:stretch/>
        </p:blipFill>
        <p:spPr>
          <a:xfrm>
            <a:off x="4038600" y="1405632"/>
            <a:ext cx="7188199" cy="4043346"/>
          </a:xfrm>
          <a:prstGeom prst="rect">
            <a:avLst/>
          </a:prstGeom>
          <a:noFill/>
          <a:ln>
            <a:noFill/>
          </a:ln>
        </p:spPr>
      </p:pic>
      <p:sp>
        <p:nvSpPr>
          <p:cNvPr id="225" name="Google Shape;225;p12"/>
          <p:cNvSpPr txBox="1">
            <a:spLocks noGrp="1"/>
          </p:cNvSpPr>
          <p:nvPr>
            <p:ph type="dt" idx="10"/>
          </p:nvPr>
        </p:nvSpPr>
        <p:spPr>
          <a:xfrm>
            <a:off x="413657" y="6356350"/>
            <a:ext cx="1480457" cy="36512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a:solidFill>
                  <a:srgbClr val="FFFFFF"/>
                </a:solidFill>
              </a:rPr>
              <a:t>2/24/2023</a:t>
            </a:r>
            <a:endParaRPr>
              <a:solidFill>
                <a:srgbClr val="FFFFFF"/>
              </a:solidFill>
            </a:endParaRPr>
          </a:p>
        </p:txBody>
      </p:sp>
      <p:sp>
        <p:nvSpPr>
          <p:cNvPr id="226" name="Google Shape;226;p12"/>
          <p:cNvSpPr txBox="1">
            <a:spLocks noGrp="1"/>
          </p:cNvSpPr>
          <p:nvPr>
            <p:ph type="ftr" idx="11"/>
          </p:nvPr>
        </p:nvSpPr>
        <p:spPr>
          <a:xfrm>
            <a:off x="4116613" y="6356350"/>
            <a:ext cx="7032172" cy="3651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US">
                <a:solidFill>
                  <a:srgbClr val="898989"/>
                </a:solidFill>
                <a:latin typeface="Verdana"/>
                <a:ea typeface="Verdana"/>
                <a:cs typeface="Verdana"/>
                <a:sym typeface="Verdana"/>
              </a:rPr>
              <a:t>www.michigan.gov/mde</a:t>
            </a:r>
            <a:endParaRPr/>
          </a:p>
        </p:txBody>
      </p:sp>
      <p:sp>
        <p:nvSpPr>
          <p:cNvPr id="227" name="Google Shape;227;p12"/>
          <p:cNvSpPr txBox="1">
            <a:spLocks noGrp="1"/>
          </p:cNvSpPr>
          <p:nvPr>
            <p:ph type="sldNum" idx="12"/>
          </p:nvPr>
        </p:nvSpPr>
        <p:spPr>
          <a:xfrm>
            <a:off x="11310257" y="6356350"/>
            <a:ext cx="560009"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solidFill>
                  <a:srgbClr val="898989"/>
                </a:solidFill>
              </a:rPr>
              <a:t>14</a:t>
            </a:fld>
            <a:endParaRPr>
              <a:solidFill>
                <a:srgbClr val="89898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3"/>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800"/>
              <a:buFont typeface="Verdana"/>
              <a:buNone/>
            </a:pPr>
            <a:r>
              <a:rPr lang="en-US" sz="2800"/>
              <a:t>Title IA Equitable Services – Generating the Funding</a:t>
            </a:r>
            <a:endParaRPr/>
          </a:p>
        </p:txBody>
      </p:sp>
      <p:sp>
        <p:nvSpPr>
          <p:cNvPr id="234" name="Google Shape;234;p13"/>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For a private school to receive Title IA Equitable Services the LEA must confirm:</a:t>
            </a:r>
            <a:endParaRPr dirty="0"/>
          </a:p>
          <a:p>
            <a:pPr marL="0" lvl="0" indent="0" algn="l" rtl="0">
              <a:lnSpc>
                <a:spcPct val="90000"/>
              </a:lnSpc>
              <a:spcBef>
                <a:spcPts val="1000"/>
              </a:spcBef>
              <a:spcAft>
                <a:spcPts val="0"/>
              </a:spcAft>
              <a:buClr>
                <a:schemeClr val="dk1"/>
              </a:buClr>
              <a:buSzPts val="2800"/>
              <a:buNone/>
            </a:pPr>
            <a:endParaRPr dirty="0"/>
          </a:p>
          <a:p>
            <a:pPr marL="685800" lvl="1" indent="-228600" algn="l" rtl="0">
              <a:lnSpc>
                <a:spcPct val="90000"/>
              </a:lnSpc>
              <a:spcBef>
                <a:spcPts val="500"/>
              </a:spcBef>
              <a:spcAft>
                <a:spcPts val="0"/>
              </a:spcAft>
              <a:buClr>
                <a:schemeClr val="dk1"/>
              </a:buClr>
              <a:buSzPts val="2400"/>
              <a:buChar char="•"/>
            </a:pPr>
            <a:r>
              <a:rPr lang="en-US" dirty="0"/>
              <a:t>The number of students that reside within the LEA’s attendance area and would have attended a Title IA building, that attended the private school during the </a:t>
            </a:r>
            <a:r>
              <a:rPr lang="en-US" b="1" dirty="0"/>
              <a:t>previous fall count AND are low income.</a:t>
            </a:r>
            <a:endParaRPr dirty="0"/>
          </a:p>
          <a:p>
            <a:pPr marL="457200" lvl="1" indent="0" algn="l" rtl="0">
              <a:lnSpc>
                <a:spcPct val="90000"/>
              </a:lnSpc>
              <a:spcBef>
                <a:spcPts val="500"/>
              </a:spcBef>
              <a:spcAft>
                <a:spcPts val="0"/>
              </a:spcAft>
              <a:buClr>
                <a:schemeClr val="dk1"/>
              </a:buClr>
              <a:buSzPts val="2400"/>
              <a:buNone/>
            </a:pPr>
            <a:endParaRPr dirty="0"/>
          </a:p>
          <a:p>
            <a:pPr marL="685800" lvl="1" indent="-228600" algn="l" rtl="0">
              <a:lnSpc>
                <a:spcPct val="90000"/>
              </a:lnSpc>
              <a:spcBef>
                <a:spcPts val="500"/>
              </a:spcBef>
              <a:spcAft>
                <a:spcPts val="0"/>
              </a:spcAft>
              <a:buClr>
                <a:schemeClr val="dk1"/>
              </a:buClr>
              <a:buSzPts val="2400"/>
              <a:buChar char="•"/>
            </a:pPr>
            <a:r>
              <a:rPr lang="en-US" dirty="0"/>
              <a:t>This generates the funding for the private school.</a:t>
            </a:r>
            <a:endParaRPr dirty="0"/>
          </a:p>
          <a:p>
            <a:pPr marL="685800" lvl="1" indent="-228600" algn="l" rtl="0">
              <a:lnSpc>
                <a:spcPct val="90000"/>
              </a:lnSpc>
              <a:spcBef>
                <a:spcPts val="500"/>
              </a:spcBef>
              <a:spcAft>
                <a:spcPts val="0"/>
              </a:spcAft>
              <a:buClr>
                <a:schemeClr val="dk1"/>
              </a:buClr>
              <a:buSzPts val="2400"/>
              <a:buChar char="•"/>
            </a:pPr>
            <a:r>
              <a:rPr lang="en-US" b="1" dirty="0"/>
              <a:t>This does not determine who is eligible for services.</a:t>
            </a:r>
            <a:endParaRPr b="1" dirty="0"/>
          </a:p>
          <a:p>
            <a:pPr marL="457200" lvl="1" indent="0" algn="l" rtl="0">
              <a:lnSpc>
                <a:spcPct val="90000"/>
              </a:lnSpc>
              <a:spcBef>
                <a:spcPts val="500"/>
              </a:spcBef>
              <a:spcAft>
                <a:spcPts val="0"/>
              </a:spcAft>
              <a:buClr>
                <a:schemeClr val="dk1"/>
              </a:buClr>
              <a:buSzPts val="2400"/>
              <a:buNone/>
            </a:pPr>
            <a:endParaRPr dirty="0"/>
          </a:p>
        </p:txBody>
      </p:sp>
      <p:sp>
        <p:nvSpPr>
          <p:cNvPr id="235" name="Google Shape;235;p13"/>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236" name="Google Shape;236;p13"/>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237" name="Google Shape;237;p13"/>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4"/>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a:t>What does this mean?</a:t>
            </a:r>
            <a:endParaRPr/>
          </a:p>
        </p:txBody>
      </p:sp>
      <p:sp>
        <p:nvSpPr>
          <p:cNvPr id="243" name="Google Shape;243;p14"/>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b="1" dirty="0"/>
              <a:t>If a private school tells an LEA in April of 2025 that they wish to participate in Title IA for the 2025/26 grant year, they must have:</a:t>
            </a:r>
            <a:endParaRPr dirty="0"/>
          </a:p>
          <a:p>
            <a:pPr marL="0" lvl="0" indent="0" algn="l" rtl="0">
              <a:lnSpc>
                <a:spcPct val="90000"/>
              </a:lnSpc>
              <a:spcBef>
                <a:spcPts val="1000"/>
              </a:spcBef>
              <a:spcAft>
                <a:spcPts val="0"/>
              </a:spcAft>
              <a:buClr>
                <a:schemeClr val="dk1"/>
              </a:buClr>
              <a:buSzPts val="2800"/>
              <a:buNone/>
            </a:pPr>
            <a:endParaRPr dirty="0"/>
          </a:p>
          <a:p>
            <a:pPr marL="228600" lvl="0" indent="-228600" algn="l" rtl="0">
              <a:lnSpc>
                <a:spcPct val="90000"/>
              </a:lnSpc>
              <a:spcBef>
                <a:spcPts val="1000"/>
              </a:spcBef>
              <a:spcAft>
                <a:spcPts val="0"/>
              </a:spcAft>
              <a:buClr>
                <a:schemeClr val="dk1"/>
              </a:buClr>
              <a:buSzPts val="2800"/>
              <a:buChar char="•"/>
            </a:pPr>
            <a:r>
              <a:rPr lang="en-US" dirty="0"/>
              <a:t>Students who reside in the LEA’s attendance area, are low income or categorically eligible, that would have attended a Title I building in the LEA, and that attended the private school during the Fall 2024 count.</a:t>
            </a:r>
            <a:endParaRPr dirty="0"/>
          </a:p>
          <a:p>
            <a:pPr marL="228600" lvl="0" indent="-228600" algn="l" rtl="0">
              <a:lnSpc>
                <a:spcPct val="90000"/>
              </a:lnSpc>
              <a:spcBef>
                <a:spcPts val="1000"/>
              </a:spcBef>
              <a:spcAft>
                <a:spcPts val="0"/>
              </a:spcAft>
              <a:buClr>
                <a:schemeClr val="dk1"/>
              </a:buClr>
              <a:buSzPts val="2800"/>
              <a:buChar char="•"/>
            </a:pPr>
            <a:r>
              <a:rPr lang="en-US" dirty="0"/>
              <a:t>This generates the funds.</a:t>
            </a:r>
            <a:endParaRPr dirty="0"/>
          </a:p>
          <a:p>
            <a:pPr marL="228600" lvl="0" indent="-50800" algn="l" rtl="0">
              <a:lnSpc>
                <a:spcPct val="90000"/>
              </a:lnSpc>
              <a:spcBef>
                <a:spcPts val="1000"/>
              </a:spcBef>
              <a:spcAft>
                <a:spcPts val="0"/>
              </a:spcAft>
              <a:buClr>
                <a:schemeClr val="dk1"/>
              </a:buClr>
              <a:buSzPts val="2800"/>
              <a:buNone/>
            </a:pPr>
            <a:endParaRPr dirty="0"/>
          </a:p>
        </p:txBody>
      </p:sp>
      <p:sp>
        <p:nvSpPr>
          <p:cNvPr id="244" name="Google Shape;244;p14"/>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245" name="Google Shape;245;p14"/>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246" name="Google Shape;246;p14"/>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
        <p:nvSpPr>
          <p:cNvPr id="3" name="TextBox 2">
            <a:extLst>
              <a:ext uri="{FF2B5EF4-FFF2-40B4-BE49-F238E27FC236}">
                <a16:creationId xmlns:a16="http://schemas.microsoft.com/office/drawing/2014/main" id="{5B6DD8CF-02B5-8FC8-4CEE-9A2142444A38}"/>
              </a:ext>
            </a:extLst>
          </p:cNvPr>
          <p:cNvSpPr txBox="1"/>
          <p:nvPr/>
        </p:nvSpPr>
        <p:spPr>
          <a:xfrm>
            <a:off x="2470068" y="4970314"/>
            <a:ext cx="7718960" cy="307777"/>
          </a:xfrm>
          <a:prstGeom prst="rect">
            <a:avLst/>
          </a:prstGeom>
          <a:noFill/>
        </p:spPr>
        <p:txBody>
          <a:bodyPr wrap="square">
            <a:spAutoFit/>
          </a:bodyPr>
          <a:lstStyle/>
          <a:p>
            <a:r>
              <a:rPr lang="en-US" b="0" dirty="0">
                <a:effectLst/>
              </a:rPr>
              <a:t> </a:t>
            </a:r>
            <a:endParaRPr lang="en-US" dirty="0"/>
          </a:p>
        </p:txBody>
      </p:sp>
      <p:sp>
        <p:nvSpPr>
          <p:cNvPr id="5" name="TextBox 4">
            <a:extLst>
              <a:ext uri="{FF2B5EF4-FFF2-40B4-BE49-F238E27FC236}">
                <a16:creationId xmlns:a16="http://schemas.microsoft.com/office/drawing/2014/main" id="{F12F470D-D793-9AA8-33B5-9088228FEE61}"/>
              </a:ext>
            </a:extLst>
          </p:cNvPr>
          <p:cNvSpPr txBox="1"/>
          <p:nvPr/>
        </p:nvSpPr>
        <p:spPr>
          <a:xfrm>
            <a:off x="2470068" y="4970314"/>
            <a:ext cx="7718960" cy="307777"/>
          </a:xfrm>
          <a:prstGeom prst="rect">
            <a:avLst/>
          </a:prstGeom>
          <a:noFill/>
        </p:spPr>
        <p:txBody>
          <a:bodyPr wrap="square">
            <a:spAutoFit/>
          </a:bodyPr>
          <a:lstStyle/>
          <a:p>
            <a:r>
              <a:rPr lang="en-US" b="0" dirty="0">
                <a:effectLst/>
              </a:rPr>
              <a:t>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6DDEA-1C01-7B80-327A-FAFE3E9322DC}"/>
              </a:ext>
            </a:extLst>
          </p:cNvPr>
          <p:cNvSpPr>
            <a:spLocks noGrp="1"/>
          </p:cNvSpPr>
          <p:nvPr>
            <p:ph type="title"/>
          </p:nvPr>
        </p:nvSpPr>
        <p:spPr>
          <a:xfrm>
            <a:off x="1756372" y="771896"/>
            <a:ext cx="9597427" cy="386948"/>
          </a:xfrm>
        </p:spPr>
        <p:txBody>
          <a:bodyPr>
            <a:noAutofit/>
          </a:bodyPr>
          <a:lstStyle/>
          <a:p>
            <a:pPr rtl="0"/>
            <a:r>
              <a:rPr lang="en-US" sz="3200" b="1" i="0" u="sng" strike="noStrike" dirty="0">
                <a:solidFill>
                  <a:srgbClr val="0097A7"/>
                </a:solidFill>
                <a:effectLst/>
                <a:latin typeface="Arial" panose="020B0604020202020204" pitchFamily="34" charset="0"/>
                <a:hlinkClick r:id="rId3"/>
              </a:rPr>
              <a:t>Determining Private School Low-Income Count</a:t>
            </a:r>
            <a:br>
              <a:rPr lang="en-US" sz="3200" b="0" dirty="0">
                <a:effectLst/>
              </a:rPr>
            </a:br>
            <a:br>
              <a:rPr lang="en-US" sz="3200" dirty="0"/>
            </a:br>
            <a:endParaRPr lang="en-US" sz="3200" dirty="0"/>
          </a:p>
        </p:txBody>
      </p:sp>
      <p:sp>
        <p:nvSpPr>
          <p:cNvPr id="3" name="Text Placeholder 2">
            <a:extLst>
              <a:ext uri="{FF2B5EF4-FFF2-40B4-BE49-F238E27FC236}">
                <a16:creationId xmlns:a16="http://schemas.microsoft.com/office/drawing/2014/main" id="{B3BECD71-8957-D398-D636-34E73491226D}"/>
              </a:ext>
            </a:extLst>
          </p:cNvPr>
          <p:cNvSpPr>
            <a:spLocks noGrp="1"/>
          </p:cNvSpPr>
          <p:nvPr>
            <p:ph type="body" idx="1"/>
          </p:nvPr>
        </p:nvSpPr>
        <p:spPr/>
        <p:txBody>
          <a:bodyPr/>
          <a:lstStyle/>
          <a:p>
            <a:pPr rtl="0" fontAlgn="base">
              <a:spcAft>
                <a:spcPts val="1000"/>
              </a:spcAft>
              <a:buFont typeface="+mj-lt"/>
              <a:buAutoNum type="arabicPeriod"/>
            </a:pPr>
            <a:r>
              <a:rPr lang="en-US" b="0" i="0" u="none" strike="noStrike" dirty="0">
                <a:solidFill>
                  <a:srgbClr val="595959"/>
                </a:solidFill>
                <a:effectLst/>
                <a:latin typeface="Arial" panose="020B0604020202020204" pitchFamily="34" charset="0"/>
              </a:rPr>
              <a:t>The same measure of poverty used to count public school children.</a:t>
            </a:r>
            <a:endParaRPr lang="en-US" b="0" i="0" u="none" strike="noStrike" dirty="0">
              <a:solidFill>
                <a:srgbClr val="000000"/>
              </a:solidFill>
              <a:effectLst/>
              <a:latin typeface="Arial" panose="020B0604020202020204" pitchFamily="34" charset="0"/>
            </a:endParaRPr>
          </a:p>
          <a:p>
            <a:pPr rtl="0" fontAlgn="base">
              <a:spcAft>
                <a:spcPts val="1000"/>
              </a:spcAft>
              <a:buFont typeface="+mj-lt"/>
              <a:buAutoNum type="arabicPeriod"/>
            </a:pPr>
            <a:r>
              <a:rPr lang="en-US" b="0" i="0" u="none" strike="noStrike" dirty="0">
                <a:solidFill>
                  <a:srgbClr val="595959"/>
                </a:solidFill>
                <a:effectLst/>
                <a:latin typeface="Arial" panose="020B0604020202020204" pitchFamily="34" charset="0"/>
              </a:rPr>
              <a:t>Comparable poverty data from a survey - Survey to obtain poverty data of private school students that is comparable to those used by the public school.</a:t>
            </a:r>
            <a:endParaRPr lang="en-US" b="0" i="0" u="none" strike="noStrike" dirty="0">
              <a:solidFill>
                <a:srgbClr val="000000"/>
              </a:solidFill>
              <a:effectLst/>
              <a:latin typeface="Arial" panose="020B0604020202020204" pitchFamily="34" charset="0"/>
            </a:endParaRPr>
          </a:p>
          <a:p>
            <a:pPr rtl="0" fontAlgn="base">
              <a:spcAft>
                <a:spcPts val="1000"/>
              </a:spcAft>
              <a:buFont typeface="+mj-lt"/>
              <a:buAutoNum type="arabicPeriod"/>
            </a:pPr>
            <a:r>
              <a:rPr lang="en-US" b="0" i="0" u="none" strike="noStrike" dirty="0">
                <a:solidFill>
                  <a:srgbClr val="595959"/>
                </a:solidFill>
                <a:effectLst/>
                <a:latin typeface="Arial" panose="020B0604020202020204" pitchFamily="34" charset="0"/>
              </a:rPr>
              <a:t>Comparable poverty data from a different source other than a survey - Income threshold used for private school students is generally the same as public schools.</a:t>
            </a:r>
            <a:endParaRPr lang="en-US" b="0" i="0" u="none" strike="noStrike" dirty="0">
              <a:solidFill>
                <a:srgbClr val="000000"/>
              </a:solidFill>
              <a:effectLst/>
              <a:latin typeface="Arial" panose="020B0604020202020204" pitchFamily="34" charset="0"/>
            </a:endParaRPr>
          </a:p>
          <a:p>
            <a:pPr marL="114300" indent="0">
              <a:buNone/>
            </a:pPr>
            <a:r>
              <a:rPr lang="en-US" sz="1800" b="1" i="0" u="none" strike="noStrike" dirty="0">
                <a:solidFill>
                  <a:srgbClr val="FF0000"/>
                </a:solidFill>
                <a:effectLst/>
                <a:latin typeface="Arial" panose="020B0604020202020204" pitchFamily="34" charset="0"/>
              </a:rPr>
              <a:t>Make every effort to keep private school student low-income data anonymous</a:t>
            </a:r>
            <a:endParaRPr lang="en-US" dirty="0"/>
          </a:p>
        </p:txBody>
      </p:sp>
      <p:sp>
        <p:nvSpPr>
          <p:cNvPr id="4" name="Slide Number Placeholder 3">
            <a:extLst>
              <a:ext uri="{FF2B5EF4-FFF2-40B4-BE49-F238E27FC236}">
                <a16:creationId xmlns:a16="http://schemas.microsoft.com/office/drawing/2014/main" id="{9585DA6A-F27C-1514-18F1-5089D170331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extLst>
      <p:ext uri="{BB962C8B-B14F-4D97-AF65-F5344CB8AC3E}">
        <p14:creationId xmlns:p14="http://schemas.microsoft.com/office/powerpoint/2010/main" val="230306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A739D-9AA3-3E66-FC5C-815796E38D0A}"/>
              </a:ext>
            </a:extLst>
          </p:cNvPr>
          <p:cNvSpPr>
            <a:spLocks noGrp="1"/>
          </p:cNvSpPr>
          <p:nvPr>
            <p:ph type="title"/>
          </p:nvPr>
        </p:nvSpPr>
        <p:spPr/>
        <p:txBody>
          <a:bodyPr>
            <a:normAutofit/>
          </a:bodyPr>
          <a:lstStyle/>
          <a:p>
            <a:r>
              <a:rPr lang="en-US" sz="2800" b="1" i="0" u="none" strike="noStrike" dirty="0">
                <a:solidFill>
                  <a:srgbClr val="000000"/>
                </a:solidFill>
                <a:effectLst/>
                <a:latin typeface="Arial" panose="020B0604020202020204" pitchFamily="34" charset="0"/>
              </a:rPr>
              <a:t>Determining Private School Low-Income Count</a:t>
            </a:r>
            <a:endParaRPr lang="en-US" sz="2800" dirty="0"/>
          </a:p>
        </p:txBody>
      </p:sp>
      <p:sp>
        <p:nvSpPr>
          <p:cNvPr id="3" name="Text Placeholder 2">
            <a:extLst>
              <a:ext uri="{FF2B5EF4-FFF2-40B4-BE49-F238E27FC236}">
                <a16:creationId xmlns:a16="http://schemas.microsoft.com/office/drawing/2014/main" id="{73F61160-4452-3619-6C9C-1019558C9DB4}"/>
              </a:ext>
            </a:extLst>
          </p:cNvPr>
          <p:cNvSpPr>
            <a:spLocks noGrp="1"/>
          </p:cNvSpPr>
          <p:nvPr>
            <p:ph type="body" idx="1"/>
          </p:nvPr>
        </p:nvSpPr>
        <p:spPr/>
        <p:txBody>
          <a:bodyPr/>
          <a:lstStyle/>
          <a:p>
            <a:pPr rtl="0" fontAlgn="base">
              <a:spcAft>
                <a:spcPts val="1000"/>
              </a:spcAft>
              <a:buFont typeface="+mj-lt"/>
              <a:buAutoNum type="arabicPeriod" startAt="4"/>
            </a:pPr>
            <a:r>
              <a:rPr lang="en-US" sz="2400" b="0" i="0" u="none" strike="noStrike" dirty="0">
                <a:solidFill>
                  <a:srgbClr val="595959"/>
                </a:solidFill>
                <a:effectLst/>
                <a:latin typeface="Arial" panose="020B0604020202020204" pitchFamily="34" charset="0"/>
              </a:rPr>
              <a:t>Proportionality - An LEA may apply the low-income percentage of each participating Title I public school attendance area to private school students who live in the same area.</a:t>
            </a:r>
            <a:endParaRPr lang="en-US" sz="2400" b="0" i="0" u="none" strike="noStrike" dirty="0">
              <a:solidFill>
                <a:srgbClr val="000000"/>
              </a:solidFill>
              <a:effectLst/>
              <a:latin typeface="Arial" panose="020B0604020202020204" pitchFamily="34" charset="0"/>
            </a:endParaRPr>
          </a:p>
          <a:p>
            <a:pPr rtl="0" fontAlgn="base">
              <a:spcAft>
                <a:spcPts val="1000"/>
              </a:spcAft>
              <a:buFont typeface="+mj-lt"/>
              <a:buAutoNum type="arabicPeriod" startAt="4"/>
            </a:pPr>
            <a:r>
              <a:rPr lang="en-US" sz="2400" b="0" i="0" u="none" strike="noStrike" dirty="0">
                <a:solidFill>
                  <a:srgbClr val="595959"/>
                </a:solidFill>
                <a:effectLst/>
                <a:latin typeface="Arial" panose="020B0604020202020204" pitchFamily="34" charset="0"/>
              </a:rPr>
              <a:t>An equated measure - determining the proportional relationship between two sources of data on public school children and applying that ratio to a known source of data on private school children.</a:t>
            </a:r>
            <a:endParaRPr lang="en-US" sz="2400" b="0" i="0" u="none" strike="noStrike" dirty="0">
              <a:solidFill>
                <a:srgbClr val="000000"/>
              </a:solidFill>
              <a:effectLst/>
              <a:latin typeface="Arial" panose="020B0604020202020204" pitchFamily="34" charset="0"/>
            </a:endParaRPr>
          </a:p>
          <a:p>
            <a:pPr marL="114300" indent="0">
              <a:buNone/>
            </a:pPr>
            <a:r>
              <a:rPr lang="en-US" sz="2400" b="1" i="0" u="none" strike="noStrike" dirty="0">
                <a:solidFill>
                  <a:srgbClr val="FF0000"/>
                </a:solidFill>
                <a:effectLst/>
                <a:latin typeface="Arial" panose="020B0604020202020204" pitchFamily="34" charset="0"/>
              </a:rPr>
              <a:t>After consultation with private school officials occurs, an LEA has the final authority to decide which method it will use to calculate the number of children who are from low-income families and attend private schools</a:t>
            </a:r>
            <a:r>
              <a:rPr lang="en-US" sz="2400" b="0" i="0" u="none" strike="noStrike" dirty="0">
                <a:solidFill>
                  <a:srgbClr val="000000"/>
                </a:solidFill>
                <a:effectLst/>
                <a:latin typeface="Verdana" panose="020B0604030504040204" pitchFamily="34" charset="0"/>
              </a:rPr>
              <a:t>.</a:t>
            </a:r>
            <a:endParaRPr lang="en-US" sz="2400" dirty="0"/>
          </a:p>
        </p:txBody>
      </p:sp>
      <p:sp>
        <p:nvSpPr>
          <p:cNvPr id="4" name="Slide Number Placeholder 3">
            <a:extLst>
              <a:ext uri="{FF2B5EF4-FFF2-40B4-BE49-F238E27FC236}">
                <a16:creationId xmlns:a16="http://schemas.microsoft.com/office/drawing/2014/main" id="{3ACA0079-389D-9D62-B391-456074CEF33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Tree>
    <p:extLst>
      <p:ext uri="{BB962C8B-B14F-4D97-AF65-F5344CB8AC3E}">
        <p14:creationId xmlns:p14="http://schemas.microsoft.com/office/powerpoint/2010/main" val="3167891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5"/>
          <p:cNvSpPr txBox="1">
            <a:spLocks noGrp="1"/>
          </p:cNvSpPr>
          <p:nvPr>
            <p:ph type="title"/>
          </p:nvPr>
        </p:nvSpPr>
        <p:spPr>
          <a:xfrm>
            <a:off x="1756372" y="365126"/>
            <a:ext cx="9597427" cy="62316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2800"/>
              <a:buFont typeface="Verdana"/>
              <a:buNone/>
            </a:pPr>
            <a:r>
              <a:rPr lang="en-US" sz="2800" dirty="0"/>
              <a:t>Title VIII Equitable Services (IC, IIA, III, IV) </a:t>
            </a:r>
            <a:r>
              <a:rPr lang="en-US" sz="2800" b="1" dirty="0"/>
              <a:t>Generating the Funding  </a:t>
            </a:r>
            <a:endParaRPr b="1" dirty="0"/>
          </a:p>
        </p:txBody>
      </p:sp>
      <p:sp>
        <p:nvSpPr>
          <p:cNvPr id="253" name="Google Shape;253;p15"/>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endParaRPr lang="en-US" dirty="0"/>
          </a:p>
          <a:p>
            <a:pPr marL="228600" lvl="0" indent="-228600" algn="l" rtl="0">
              <a:lnSpc>
                <a:spcPct val="90000"/>
              </a:lnSpc>
              <a:spcBef>
                <a:spcPts val="0"/>
              </a:spcBef>
              <a:spcAft>
                <a:spcPts val="0"/>
              </a:spcAft>
              <a:buClr>
                <a:schemeClr val="dk1"/>
              </a:buClr>
              <a:buSzPts val="2800"/>
              <a:buChar char="•"/>
            </a:pPr>
            <a:r>
              <a:rPr lang="en-US" dirty="0"/>
              <a:t>Under Title VIII, private schools within an LEA’s district boundaries, can participate in Titles IC, IIA, III, and IV </a:t>
            </a:r>
            <a:r>
              <a:rPr lang="en-US" b="1" dirty="0"/>
              <a:t>if the LEA receives that funding source.</a:t>
            </a:r>
            <a:endParaRPr b="1" dirty="0"/>
          </a:p>
          <a:p>
            <a:pPr marL="228600" lvl="0" indent="-228600" algn="l" rtl="0">
              <a:lnSpc>
                <a:spcPct val="90000"/>
              </a:lnSpc>
              <a:spcBef>
                <a:spcPts val="1000"/>
              </a:spcBef>
              <a:spcAft>
                <a:spcPts val="0"/>
              </a:spcAft>
              <a:buClr>
                <a:schemeClr val="dk1"/>
              </a:buClr>
              <a:buSzPts val="2800"/>
              <a:buChar char="•"/>
            </a:pPr>
            <a:r>
              <a:rPr lang="en-US" dirty="0"/>
              <a:t>Titles IIA and IVA equitable share is based on the total student population of the private school.</a:t>
            </a:r>
            <a:endParaRPr dirty="0"/>
          </a:p>
          <a:p>
            <a:pPr marL="228600" lvl="0" indent="-228600" algn="l" rtl="0">
              <a:lnSpc>
                <a:spcPct val="90000"/>
              </a:lnSpc>
              <a:spcBef>
                <a:spcPts val="1000"/>
              </a:spcBef>
              <a:spcAft>
                <a:spcPts val="0"/>
              </a:spcAft>
              <a:buClr>
                <a:schemeClr val="dk1"/>
              </a:buClr>
              <a:buSzPts val="2800"/>
              <a:buChar char="•"/>
            </a:pPr>
            <a:r>
              <a:rPr lang="en-US" dirty="0"/>
              <a:t>Titles IC and III equitable share is based on a per pupil amount for eligible students.</a:t>
            </a:r>
            <a:endParaRPr dirty="0"/>
          </a:p>
          <a:p>
            <a:pPr marL="228600" lvl="0" indent="-50800" algn="l" rtl="0">
              <a:lnSpc>
                <a:spcPct val="90000"/>
              </a:lnSpc>
              <a:spcBef>
                <a:spcPts val="1000"/>
              </a:spcBef>
              <a:spcAft>
                <a:spcPts val="0"/>
              </a:spcAft>
              <a:buClr>
                <a:schemeClr val="dk1"/>
              </a:buClr>
              <a:buSzPts val="2800"/>
              <a:buNone/>
            </a:pPr>
            <a:endParaRPr dirty="0"/>
          </a:p>
        </p:txBody>
      </p:sp>
      <p:sp>
        <p:nvSpPr>
          <p:cNvPr id="254" name="Google Shape;254;p15"/>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255" name="Google Shape;255;p15"/>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256" name="Google Shape;256;p15"/>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16"/>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a:t>Student Eligibility: Title I, Part A</a:t>
            </a:r>
            <a:endParaRPr/>
          </a:p>
        </p:txBody>
      </p:sp>
      <p:sp>
        <p:nvSpPr>
          <p:cNvPr id="262" name="Google Shape;262;p16"/>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2800"/>
              <a:buNone/>
            </a:pPr>
            <a:r>
              <a:rPr lang="en-US" dirty="0"/>
              <a:t>Child </a:t>
            </a:r>
            <a:r>
              <a:rPr lang="en-US" b="1" dirty="0"/>
              <a:t>resides in a Title I participating district attendance </a:t>
            </a:r>
            <a:r>
              <a:rPr lang="en-US" dirty="0"/>
              <a:t>area, attends a private school, </a:t>
            </a:r>
            <a:r>
              <a:rPr lang="en-US" b="1" dirty="0"/>
              <a:t>AND</a:t>
            </a:r>
            <a:r>
              <a:rPr lang="en-US" dirty="0"/>
              <a:t> is identified by the LEA as:</a:t>
            </a:r>
            <a:endParaRPr dirty="0"/>
          </a:p>
          <a:p>
            <a:pPr marL="344488" lvl="0" indent="-223838" algn="l" rtl="0">
              <a:lnSpc>
                <a:spcPct val="90000"/>
              </a:lnSpc>
              <a:spcBef>
                <a:spcPts val="1000"/>
              </a:spcBef>
              <a:spcAft>
                <a:spcPts val="0"/>
              </a:spcAft>
              <a:buClr>
                <a:srgbClr val="17468E"/>
              </a:buClr>
              <a:buSzPts val="2800"/>
              <a:buFont typeface="Arial"/>
              <a:buChar char="•"/>
            </a:pPr>
            <a:r>
              <a:rPr lang="en-US" sz="2800" b="1" dirty="0">
                <a:solidFill>
                  <a:srgbClr val="000000"/>
                </a:solidFill>
              </a:rPr>
              <a:t>Low achieving on the basis of multiple, educationally related, objective criteria</a:t>
            </a:r>
            <a:r>
              <a:rPr lang="en-US" sz="2800" dirty="0">
                <a:solidFill>
                  <a:srgbClr val="000000"/>
                </a:solidFill>
              </a:rPr>
              <a:t>; or</a:t>
            </a:r>
            <a:endParaRPr sz="2800" b="1" dirty="0">
              <a:solidFill>
                <a:srgbClr val="000000"/>
              </a:solidFill>
            </a:endParaRPr>
          </a:p>
          <a:p>
            <a:pPr marL="344488" lvl="0" indent="-223838" algn="l" rtl="0">
              <a:lnSpc>
                <a:spcPct val="90000"/>
              </a:lnSpc>
              <a:spcBef>
                <a:spcPts val="1000"/>
              </a:spcBef>
              <a:spcAft>
                <a:spcPts val="0"/>
              </a:spcAft>
              <a:buClr>
                <a:srgbClr val="17468E"/>
              </a:buClr>
              <a:buSzPts val="2800"/>
              <a:buFont typeface="Arial"/>
              <a:buChar char="•"/>
            </a:pPr>
            <a:r>
              <a:rPr lang="en-US" sz="2800" dirty="0">
                <a:solidFill>
                  <a:srgbClr val="000000"/>
                </a:solidFill>
              </a:rPr>
              <a:t>Homeless, in the prior 2 years participated in Head Start, a literacy program under Title II, a Title I preschool program, or Title I, Part C, or is a child in a local institution or community day program for neglected or delinquent children.</a:t>
            </a:r>
            <a:endParaRPr dirty="0"/>
          </a:p>
          <a:p>
            <a:pPr marL="0" lvl="0" indent="0" algn="l" rtl="0">
              <a:lnSpc>
                <a:spcPct val="90000"/>
              </a:lnSpc>
              <a:spcBef>
                <a:spcPts val="1000"/>
              </a:spcBef>
              <a:spcAft>
                <a:spcPts val="0"/>
              </a:spcAft>
              <a:buClr>
                <a:srgbClr val="17468E"/>
              </a:buClr>
              <a:buSzPts val="2800"/>
              <a:buNone/>
            </a:pPr>
            <a:r>
              <a:rPr lang="en-US" i="1" dirty="0">
                <a:solidFill>
                  <a:srgbClr val="17468E"/>
                </a:solidFill>
              </a:rPr>
              <a:t>ESEA sections 1115(c)(1)(B) and 1117(a)(1) </a:t>
            </a:r>
            <a:endParaRPr dirty="0"/>
          </a:p>
          <a:p>
            <a:pPr marL="228600" lvl="0" indent="-50800" algn="l" rtl="0">
              <a:lnSpc>
                <a:spcPct val="90000"/>
              </a:lnSpc>
              <a:spcBef>
                <a:spcPts val="1000"/>
              </a:spcBef>
              <a:spcAft>
                <a:spcPts val="0"/>
              </a:spcAft>
              <a:buClr>
                <a:schemeClr val="dk1"/>
              </a:buClr>
              <a:buSzPts val="2800"/>
              <a:buNone/>
            </a:pPr>
            <a:endParaRPr dirty="0"/>
          </a:p>
        </p:txBody>
      </p:sp>
      <p:sp>
        <p:nvSpPr>
          <p:cNvPr id="263" name="Google Shape;263;p16"/>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264" name="Google Shape;264;p16"/>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265" name="Google Shape;265;p16"/>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7D6CD-D196-C27A-EE80-2CB385189206}"/>
              </a:ext>
            </a:extLst>
          </p:cNvPr>
          <p:cNvSpPr>
            <a:spLocks noGrp="1"/>
          </p:cNvSpPr>
          <p:nvPr>
            <p:ph type="title"/>
          </p:nvPr>
        </p:nvSpPr>
        <p:spPr/>
        <p:txBody>
          <a:bodyPr/>
          <a:lstStyle/>
          <a:p>
            <a:r>
              <a:rPr lang="en-US" dirty="0"/>
              <a:t>Student Eligibility: Title I, Part A</a:t>
            </a:r>
          </a:p>
        </p:txBody>
      </p:sp>
      <p:sp>
        <p:nvSpPr>
          <p:cNvPr id="3" name="Text Placeholder 2">
            <a:extLst>
              <a:ext uri="{FF2B5EF4-FFF2-40B4-BE49-F238E27FC236}">
                <a16:creationId xmlns:a16="http://schemas.microsoft.com/office/drawing/2014/main" id="{907FF270-5D10-9050-EDF2-B2BC67F969D1}"/>
              </a:ext>
            </a:extLst>
          </p:cNvPr>
          <p:cNvSpPr>
            <a:spLocks noGrp="1"/>
          </p:cNvSpPr>
          <p:nvPr>
            <p:ph type="body" idx="1"/>
          </p:nvPr>
        </p:nvSpPr>
        <p:spPr/>
        <p:txBody>
          <a:bodyPr/>
          <a:lstStyle/>
          <a:p>
            <a:pPr marL="114300" indent="0">
              <a:buNone/>
            </a:pPr>
            <a:r>
              <a:rPr lang="en-US" b="1" dirty="0"/>
              <a:t>WHO</a:t>
            </a:r>
            <a:r>
              <a:rPr lang="en-US" dirty="0"/>
              <a:t> determines that students are low achieving on the basis of multiple, educationally related, objective criteria?</a:t>
            </a:r>
          </a:p>
          <a:p>
            <a:r>
              <a:rPr lang="en-US" dirty="0"/>
              <a:t>This is determined through the meaningful consultation process and is part of the consultation conversations.</a:t>
            </a:r>
          </a:p>
          <a:p>
            <a:r>
              <a:rPr lang="en-US" dirty="0"/>
              <a:t>During consultation, the LEA and private school will determine which assessments will be used, who will assess students (how and when), and the criteria for eligibility in the Title IA program.</a:t>
            </a:r>
          </a:p>
        </p:txBody>
      </p:sp>
      <p:sp>
        <p:nvSpPr>
          <p:cNvPr id="4" name="Slide Number Placeholder 3">
            <a:extLst>
              <a:ext uri="{FF2B5EF4-FFF2-40B4-BE49-F238E27FC236}">
                <a16:creationId xmlns:a16="http://schemas.microsoft.com/office/drawing/2014/main" id="{137CEB89-41E5-206A-89D0-7FF1701245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308282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7"/>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a:t>Student Eligibility: Title VIII</a:t>
            </a:r>
            <a:endParaRPr/>
          </a:p>
        </p:txBody>
      </p:sp>
      <p:sp>
        <p:nvSpPr>
          <p:cNvPr id="272" name="Google Shape;272;p17"/>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a:bodyPr>
          <a:lstStyle/>
          <a:p>
            <a:pPr marL="344488" lvl="0" indent="-223838" algn="l" rtl="0">
              <a:lnSpc>
                <a:spcPct val="90000"/>
              </a:lnSpc>
              <a:spcBef>
                <a:spcPts val="0"/>
              </a:spcBef>
              <a:spcAft>
                <a:spcPts val="0"/>
              </a:spcAft>
              <a:buClr>
                <a:srgbClr val="17468E"/>
              </a:buClr>
              <a:buSzPts val="2800"/>
              <a:buFont typeface="Arial"/>
              <a:buChar char="•"/>
            </a:pPr>
            <a:r>
              <a:rPr lang="en-US"/>
              <a:t>Students enrolled in private schools located in the area served by the ESEA program are eligible to participate.</a:t>
            </a:r>
            <a:endParaRPr/>
          </a:p>
          <a:p>
            <a:pPr marL="344488" lvl="0" indent="-223838" algn="l" rtl="0">
              <a:lnSpc>
                <a:spcPct val="90000"/>
              </a:lnSpc>
              <a:spcBef>
                <a:spcPts val="1000"/>
              </a:spcBef>
              <a:spcAft>
                <a:spcPts val="0"/>
              </a:spcAft>
              <a:buClr>
                <a:srgbClr val="17468E"/>
              </a:buClr>
              <a:buSzPts val="2800"/>
              <a:buFont typeface="Arial"/>
              <a:buChar char="•"/>
            </a:pPr>
            <a:r>
              <a:rPr lang="en-US"/>
              <a:t>May be restricted based on the purpose of the ESEA program (ex. Title III, Part A).</a:t>
            </a:r>
            <a:endParaRPr/>
          </a:p>
          <a:p>
            <a:pPr marL="344488" lvl="0" indent="-223838" algn="l" rtl="0">
              <a:lnSpc>
                <a:spcPct val="90000"/>
              </a:lnSpc>
              <a:spcBef>
                <a:spcPts val="1000"/>
              </a:spcBef>
              <a:spcAft>
                <a:spcPts val="0"/>
              </a:spcAft>
              <a:buClr>
                <a:srgbClr val="17468E"/>
              </a:buClr>
              <a:buSzPts val="2800"/>
              <a:buFont typeface="Arial"/>
              <a:buChar char="•"/>
            </a:pPr>
            <a:r>
              <a:rPr lang="en-US"/>
              <a:t>Where funding and resources may limit the number of children who can participate in the program, LEAs must consult with private school officials on this matter.</a:t>
            </a:r>
            <a:br>
              <a:rPr lang="en-US"/>
            </a:br>
            <a:r>
              <a:rPr lang="en-US"/>
              <a:t> </a:t>
            </a:r>
            <a:br>
              <a:rPr lang="en-US"/>
            </a:br>
            <a:r>
              <a:rPr lang="en-US" sz="2800" i="1">
                <a:solidFill>
                  <a:srgbClr val="17468E"/>
                </a:solidFill>
              </a:rPr>
              <a:t>ESEA sections 8501(a)(1) and 8501(b)(2)</a:t>
            </a:r>
            <a:endParaRPr/>
          </a:p>
          <a:p>
            <a:pPr marL="228600" lvl="0" indent="-50800" algn="l" rtl="0">
              <a:lnSpc>
                <a:spcPct val="90000"/>
              </a:lnSpc>
              <a:spcBef>
                <a:spcPts val="1000"/>
              </a:spcBef>
              <a:spcAft>
                <a:spcPts val="0"/>
              </a:spcAft>
              <a:buClr>
                <a:schemeClr val="dk1"/>
              </a:buClr>
              <a:buSzPts val="2800"/>
              <a:buNone/>
            </a:pPr>
            <a:endParaRPr/>
          </a:p>
        </p:txBody>
      </p:sp>
      <p:sp>
        <p:nvSpPr>
          <p:cNvPr id="273" name="Google Shape;273;p17"/>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274" name="Google Shape;274;p17"/>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275" name="Google Shape;275;p17"/>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18"/>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a:t>Equitable Share</a:t>
            </a:r>
            <a:endParaRPr/>
          </a:p>
        </p:txBody>
      </p:sp>
      <p:sp>
        <p:nvSpPr>
          <p:cNvPr id="281" name="Google Shape;281;p18"/>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Educational services and other benefits provided to private school students and educators must be equitable in comparison to the benefits for public school students and educators.</a:t>
            </a:r>
            <a:endParaRPr/>
          </a:p>
          <a:p>
            <a:pPr marL="0" lvl="0" indent="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rgbClr val="17468E"/>
              </a:buClr>
              <a:buSzPts val="2800"/>
              <a:buNone/>
            </a:pPr>
            <a:r>
              <a:rPr lang="en-US" sz="2800" i="1">
                <a:solidFill>
                  <a:srgbClr val="17468E"/>
                </a:solidFill>
              </a:rPr>
              <a:t>ESEA sections 1117(a)(3)(A) and 8501(a)(3)(A)</a:t>
            </a:r>
            <a:endParaRPr/>
          </a:p>
          <a:p>
            <a:pPr marL="0" lvl="0" indent="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sp>
        <p:nvSpPr>
          <p:cNvPr id="282" name="Google Shape;282;p18"/>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283" name="Google Shape;283;p18"/>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284" name="Google Shape;284;p18"/>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9"/>
        <p:cNvGrpSpPr/>
        <p:nvPr/>
      </p:nvGrpSpPr>
      <p:grpSpPr>
        <a:xfrm>
          <a:off x="0" y="0"/>
          <a:ext cx="0" cy="0"/>
          <a:chOff x="0" y="0"/>
          <a:chExt cx="0" cy="0"/>
        </a:xfrm>
      </p:grpSpPr>
      <p:sp>
        <p:nvSpPr>
          <p:cNvPr id="290" name="Google Shape;290;p19"/>
          <p:cNvSpPr txBox="1">
            <a:spLocks noGrp="1"/>
          </p:cNvSpPr>
          <p:nvPr>
            <p:ph type="title"/>
          </p:nvPr>
        </p:nvSpPr>
        <p:spPr>
          <a:xfrm>
            <a:off x="648929" y="1192700"/>
            <a:ext cx="3505495" cy="1931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dirty="0"/>
              <a:t>Questions?</a:t>
            </a:r>
            <a:endParaRPr dirty="0"/>
          </a:p>
        </p:txBody>
      </p:sp>
      <p:sp>
        <p:nvSpPr>
          <p:cNvPr id="291" name="Google Shape;291;p19"/>
          <p:cNvSpPr txBox="1">
            <a:spLocks noGrp="1"/>
          </p:cNvSpPr>
          <p:nvPr>
            <p:ph type="body" idx="1"/>
          </p:nvPr>
        </p:nvSpPr>
        <p:spPr>
          <a:xfrm>
            <a:off x="648931" y="3124200"/>
            <a:ext cx="3505494" cy="3099619"/>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b="1" dirty="0"/>
              <a:t>Questions about which students generate funds for the private school VS. which students are served by the private school?</a:t>
            </a:r>
            <a:endParaRPr dirty="0"/>
          </a:p>
          <a:p>
            <a:pPr marL="228600" lvl="0" indent="-101600" algn="l" rtl="0">
              <a:lnSpc>
                <a:spcPct val="90000"/>
              </a:lnSpc>
              <a:spcBef>
                <a:spcPts val="1000"/>
              </a:spcBef>
              <a:spcAft>
                <a:spcPts val="0"/>
              </a:spcAft>
              <a:buClr>
                <a:schemeClr val="dk1"/>
              </a:buClr>
              <a:buSzPts val="2000"/>
              <a:buNone/>
            </a:pPr>
            <a:endParaRPr sz="2000" dirty="0"/>
          </a:p>
          <a:p>
            <a:pPr marL="0" lvl="0" indent="0" algn="l" rtl="0">
              <a:lnSpc>
                <a:spcPct val="90000"/>
              </a:lnSpc>
              <a:spcBef>
                <a:spcPts val="1000"/>
              </a:spcBef>
              <a:spcAft>
                <a:spcPts val="0"/>
              </a:spcAft>
              <a:buClr>
                <a:schemeClr val="dk1"/>
              </a:buClr>
              <a:buSzPts val="2000"/>
              <a:buNone/>
            </a:pPr>
            <a:endParaRPr sz="2000" dirty="0"/>
          </a:p>
        </p:txBody>
      </p:sp>
      <p:sp>
        <p:nvSpPr>
          <p:cNvPr id="292" name="Google Shape;292;p19"/>
          <p:cNvSpPr/>
          <p:nvPr/>
        </p:nvSpPr>
        <p:spPr>
          <a:xfrm>
            <a:off x="4639056" y="0"/>
            <a:ext cx="7552944" cy="6858000"/>
          </a:xfrm>
          <a:prstGeom prst="rect">
            <a:avLst/>
          </a:prstGeom>
          <a:solidFill>
            <a:srgbClr val="C8CAC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Verdana"/>
              <a:ea typeface="Verdana"/>
              <a:cs typeface="Verdana"/>
              <a:sym typeface="Verdana"/>
            </a:endParaRPr>
          </a:p>
        </p:txBody>
      </p:sp>
      <p:sp>
        <p:nvSpPr>
          <p:cNvPr id="293" name="Google Shape;293;p19"/>
          <p:cNvSpPr/>
          <p:nvPr/>
        </p:nvSpPr>
        <p:spPr>
          <a:xfrm>
            <a:off x="5123688" y="557784"/>
            <a:ext cx="6584098" cy="5739187"/>
          </a:xfrm>
          <a:prstGeom prst="roundRect">
            <a:avLst>
              <a:gd name="adj" fmla="val 0"/>
            </a:avLst>
          </a:prstGeom>
          <a:solidFill>
            <a:srgbClr val="FFFFFF"/>
          </a:solidFill>
          <a:ln w="9525" cap="flat" cmpd="sng">
            <a:solidFill>
              <a:srgbClr val="C8CACA"/>
            </a:solidFill>
            <a:prstDash val="solid"/>
            <a:miter lim="800000"/>
            <a:headEnd type="none" w="sm" len="sm"/>
            <a:tailEnd type="none" w="sm" len="sm"/>
          </a:ln>
          <a:effectLst>
            <a:outerShdw blurRad="57150" dist="19050" dir="5400000" algn="t"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Verdana"/>
              <a:ea typeface="Verdana"/>
              <a:cs typeface="Verdana"/>
              <a:sym typeface="Verdana"/>
            </a:endParaRPr>
          </a:p>
        </p:txBody>
      </p:sp>
      <p:pic>
        <p:nvPicPr>
          <p:cNvPr id="294" name="Google Shape;294;p19" descr="Shape&#10;&#10;Description automatically generated with medium confidence"/>
          <p:cNvPicPr preferRelativeResize="0"/>
          <p:nvPr/>
        </p:nvPicPr>
        <p:blipFill rotWithShape="1">
          <a:blip r:embed="rId3">
            <a:alphaModFix/>
          </a:blip>
          <a:srcRect/>
          <a:stretch/>
        </p:blipFill>
        <p:spPr>
          <a:xfrm>
            <a:off x="5405862" y="1192700"/>
            <a:ext cx="6019331" cy="4469353"/>
          </a:xfrm>
          <a:prstGeom prst="rect">
            <a:avLst/>
          </a:prstGeom>
          <a:noFill/>
          <a:ln>
            <a:noFill/>
          </a:ln>
        </p:spPr>
      </p:pic>
      <p:sp>
        <p:nvSpPr>
          <p:cNvPr id="295" name="Google Shape;29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a:t>2/24/2023</a:t>
            </a:r>
            <a:endParaRPr/>
          </a:p>
        </p:txBody>
      </p:sp>
      <p:sp>
        <p:nvSpPr>
          <p:cNvPr id="296" name="Google Shape;296;p19"/>
          <p:cNvSpPr txBox="1">
            <a:spLocks noGrp="1"/>
          </p:cNvSpPr>
          <p:nvPr>
            <p:ph type="ftr" idx="11"/>
          </p:nvPr>
        </p:nvSpPr>
        <p:spPr>
          <a:xfrm>
            <a:off x="5123688" y="6356350"/>
            <a:ext cx="4114800" cy="36512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a:solidFill>
                  <a:srgbClr val="303030"/>
                </a:solidFill>
              </a:rPr>
              <a:t>www.michigan.gov/mde</a:t>
            </a:r>
            <a:endParaRPr/>
          </a:p>
        </p:txBody>
      </p:sp>
      <p:sp>
        <p:nvSpPr>
          <p:cNvPr id="297" name="Google Shape;29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solidFill>
                  <a:srgbClr val="303030"/>
                </a:solidFill>
              </a:rPr>
              <a:t>24</a:t>
            </a:fld>
            <a:endParaRPr>
              <a:solidFill>
                <a:srgbClr val="30303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0"/>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Verdana"/>
              <a:buNone/>
            </a:pPr>
            <a:r>
              <a:rPr lang="en-US"/>
              <a:t>Key Point #4: LEA’s Responsibility</a:t>
            </a:r>
            <a:endParaRPr/>
          </a:p>
        </p:txBody>
      </p:sp>
      <p:sp>
        <p:nvSpPr>
          <p:cNvPr id="303" name="Google Shape;303;p20"/>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An LEA remains in control of the federal funds </a:t>
            </a:r>
            <a:br>
              <a:rPr lang="en-US"/>
            </a:br>
            <a:r>
              <a:rPr lang="en-US"/>
              <a:t>and maintains title to materials, equipment </a:t>
            </a:r>
            <a:br>
              <a:rPr lang="en-US"/>
            </a:br>
            <a:r>
              <a:rPr lang="en-US"/>
              <a:t>and property purchased with such funds.</a:t>
            </a:r>
            <a:endParaRPr/>
          </a:p>
          <a:p>
            <a:pPr marL="0" lvl="0" indent="0" algn="l" rtl="0">
              <a:lnSpc>
                <a:spcPct val="90000"/>
              </a:lnSpc>
              <a:spcBef>
                <a:spcPts val="1000"/>
              </a:spcBef>
              <a:spcAft>
                <a:spcPts val="0"/>
              </a:spcAft>
              <a:buClr>
                <a:schemeClr val="dk1"/>
              </a:buClr>
              <a:buSzPts val="2800"/>
              <a:buNone/>
            </a:pPr>
            <a:endParaRPr sz="2800" b="0" i="1" u="none" strike="noStrike">
              <a:solidFill>
                <a:srgbClr val="17468E"/>
              </a:solidFill>
              <a:latin typeface="Calibri"/>
              <a:ea typeface="Calibri"/>
              <a:cs typeface="Calibri"/>
              <a:sym typeface="Calibri"/>
            </a:endParaRPr>
          </a:p>
          <a:p>
            <a:pPr marL="0" lvl="0" indent="0" algn="l" rtl="0">
              <a:lnSpc>
                <a:spcPct val="90000"/>
              </a:lnSpc>
              <a:spcBef>
                <a:spcPts val="1000"/>
              </a:spcBef>
              <a:spcAft>
                <a:spcPts val="0"/>
              </a:spcAft>
              <a:buClr>
                <a:srgbClr val="17468E"/>
              </a:buClr>
              <a:buSzPts val="2800"/>
              <a:buNone/>
            </a:pPr>
            <a:r>
              <a:rPr lang="en-US" sz="2800" b="0" i="1" u="none" strike="noStrike">
                <a:solidFill>
                  <a:srgbClr val="17468E"/>
                </a:solidFill>
                <a:latin typeface="Calibri"/>
                <a:ea typeface="Calibri"/>
                <a:cs typeface="Calibri"/>
                <a:sym typeface="Calibri"/>
              </a:rPr>
              <a:t>ESEA sections 1117(d)(1) and 8501(d)(1)</a:t>
            </a:r>
            <a:endParaRPr i="1">
              <a:solidFill>
                <a:srgbClr val="17468E"/>
              </a:solidFill>
            </a:endParaRPr>
          </a:p>
          <a:p>
            <a:pPr marL="228600" lvl="0" indent="-50800" algn="l" rtl="0">
              <a:lnSpc>
                <a:spcPct val="90000"/>
              </a:lnSpc>
              <a:spcBef>
                <a:spcPts val="1000"/>
              </a:spcBef>
              <a:spcAft>
                <a:spcPts val="0"/>
              </a:spcAft>
              <a:buClr>
                <a:schemeClr val="dk1"/>
              </a:buClr>
              <a:buSzPts val="2800"/>
              <a:buNone/>
            </a:pPr>
            <a:endParaRPr/>
          </a:p>
        </p:txBody>
      </p:sp>
      <p:sp>
        <p:nvSpPr>
          <p:cNvPr id="304" name="Google Shape;304;p20"/>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305" name="Google Shape;305;p20"/>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306" name="Google Shape;306;p20"/>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1"/>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600"/>
              <a:buFont typeface="Verdana"/>
              <a:buNone/>
            </a:pPr>
            <a:r>
              <a:rPr lang="en-US" sz="3600"/>
              <a:t>Key Point #5: Characteristics of Services</a:t>
            </a:r>
            <a:endParaRPr/>
          </a:p>
        </p:txBody>
      </p:sp>
      <p:sp>
        <p:nvSpPr>
          <p:cNvPr id="312" name="Google Shape;312;p21"/>
          <p:cNvSpPr txBox="1">
            <a:spLocks noGrp="1"/>
          </p:cNvSpPr>
          <p:nvPr>
            <p:ph type="body" idx="1"/>
          </p:nvPr>
        </p:nvSpPr>
        <p:spPr>
          <a:xfrm>
            <a:off x="692727" y="1548143"/>
            <a:ext cx="10661073" cy="4628820"/>
          </a:xfrm>
          <a:prstGeom prst="rect">
            <a:avLst/>
          </a:prstGeom>
          <a:noFill/>
          <a:ln>
            <a:noFill/>
          </a:ln>
        </p:spPr>
        <p:txBody>
          <a:bodyPr spcFirstLastPara="1" wrap="square" lIns="91425" tIns="45700" rIns="91425" bIns="45700" anchor="t" anchorCtr="0">
            <a:normAutofit/>
          </a:bodyPr>
          <a:lstStyle/>
          <a:p>
            <a:pPr marL="344488" lvl="0" indent="-223838" algn="l" rtl="0">
              <a:lnSpc>
                <a:spcPct val="90000"/>
              </a:lnSpc>
              <a:spcBef>
                <a:spcPts val="0"/>
              </a:spcBef>
              <a:spcAft>
                <a:spcPts val="0"/>
              </a:spcAft>
              <a:buClr>
                <a:srgbClr val="17468E"/>
              </a:buClr>
              <a:buSzPts val="2800"/>
              <a:buFont typeface="Arial"/>
              <a:buChar char="•"/>
            </a:pPr>
            <a:r>
              <a:rPr lang="en-US"/>
              <a:t>Services, materials, and equipment must be secular, neutral, and non-ideological.</a:t>
            </a:r>
            <a:endParaRPr/>
          </a:p>
          <a:p>
            <a:pPr marL="344488" lvl="0" indent="-223838" algn="l" rtl="0">
              <a:lnSpc>
                <a:spcPct val="90000"/>
              </a:lnSpc>
              <a:spcBef>
                <a:spcPts val="1000"/>
              </a:spcBef>
              <a:spcAft>
                <a:spcPts val="0"/>
              </a:spcAft>
              <a:buClr>
                <a:srgbClr val="17468E"/>
              </a:buClr>
              <a:buSzPts val="2800"/>
              <a:buFont typeface="Arial"/>
              <a:buChar char="•"/>
            </a:pPr>
            <a:r>
              <a:rPr lang="en-US"/>
              <a:t>Services must be supplemental in nature; they may not supplant what the private school would otherwise provide absent the federal education services. </a:t>
            </a:r>
            <a:endParaRPr/>
          </a:p>
          <a:p>
            <a:pPr marL="344488" lvl="0" indent="-223838" algn="l" rtl="0">
              <a:lnSpc>
                <a:spcPct val="90000"/>
              </a:lnSpc>
              <a:spcBef>
                <a:spcPts val="1000"/>
              </a:spcBef>
              <a:spcAft>
                <a:spcPts val="0"/>
              </a:spcAft>
              <a:buClr>
                <a:srgbClr val="17468E"/>
              </a:buClr>
              <a:buSzPts val="2800"/>
              <a:buFont typeface="Arial"/>
              <a:buChar char="•"/>
            </a:pPr>
            <a:r>
              <a:rPr lang="en-US"/>
              <a:t>The services must be allowable, reasonable, and necessary in meeting the needs of private school students and teachers.  </a:t>
            </a:r>
            <a:endParaRPr/>
          </a:p>
          <a:p>
            <a:pPr marL="120650" lvl="0" indent="0" algn="l" rtl="0">
              <a:lnSpc>
                <a:spcPct val="90000"/>
              </a:lnSpc>
              <a:spcBef>
                <a:spcPts val="1000"/>
              </a:spcBef>
              <a:spcAft>
                <a:spcPts val="0"/>
              </a:spcAft>
              <a:buClr>
                <a:srgbClr val="17468E"/>
              </a:buClr>
              <a:buSzPts val="2400"/>
              <a:buNone/>
            </a:pPr>
            <a:r>
              <a:rPr lang="en-US" sz="2400" b="1" i="1" u="none" strike="noStrike">
                <a:solidFill>
                  <a:srgbClr val="0070C0"/>
                </a:solidFill>
                <a:latin typeface="Calibri"/>
                <a:ea typeface="Calibri"/>
                <a:cs typeface="Calibri"/>
                <a:sym typeface="Calibri"/>
              </a:rPr>
              <a:t>ESEA sections 1117(a)(2) and 8501(a)(2); 34 CFR 299.8; and 2 CFR Part 200.  </a:t>
            </a:r>
            <a:endParaRPr sz="2400" b="1" i="1">
              <a:solidFill>
                <a:srgbClr val="0070C0"/>
              </a:solidFill>
            </a:endParaRPr>
          </a:p>
          <a:p>
            <a:pPr marL="0" lvl="0" indent="0" algn="l" rtl="0">
              <a:lnSpc>
                <a:spcPct val="90000"/>
              </a:lnSpc>
              <a:spcBef>
                <a:spcPts val="1000"/>
              </a:spcBef>
              <a:spcAft>
                <a:spcPts val="0"/>
              </a:spcAft>
              <a:buClr>
                <a:schemeClr val="dk1"/>
              </a:buClr>
              <a:buSzPts val="2800"/>
              <a:buNone/>
            </a:pPr>
            <a:endParaRPr/>
          </a:p>
        </p:txBody>
      </p:sp>
      <p:sp>
        <p:nvSpPr>
          <p:cNvPr id="313" name="Google Shape;313;p21"/>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314" name="Google Shape;314;p21"/>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315" name="Google Shape;315;p21"/>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22"/>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a:t>Key Point #6: Formal Complaint</a:t>
            </a:r>
            <a:endParaRPr/>
          </a:p>
        </p:txBody>
      </p:sp>
      <p:sp>
        <p:nvSpPr>
          <p:cNvPr id="321" name="Google Shape;321;p22"/>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Private school officials, or any interested party, have the right to file a formal written complaint with an SEA if they believe that timely and meaningful consultation has not occurred, the LEA did not give due consideration to the views of the private school officials, or that equitable services have not been provided.</a:t>
            </a:r>
            <a:endParaRPr/>
          </a:p>
          <a:p>
            <a:pPr marL="228600" lvl="0" indent="-228600" algn="l" rtl="0">
              <a:lnSpc>
                <a:spcPct val="90000"/>
              </a:lnSpc>
              <a:spcBef>
                <a:spcPts val="1000"/>
              </a:spcBef>
              <a:spcAft>
                <a:spcPts val="0"/>
              </a:spcAft>
              <a:buClr>
                <a:srgbClr val="17468E"/>
              </a:buClr>
              <a:buSzPts val="2800"/>
              <a:buChar char="•"/>
            </a:pPr>
            <a:r>
              <a:rPr lang="en-US" i="1">
                <a:solidFill>
                  <a:srgbClr val="17468E"/>
                </a:solidFill>
              </a:rPr>
              <a:t>ESEA sections 1117(b)(6) and 8501(c)(6)</a:t>
            </a:r>
            <a:endParaRPr/>
          </a:p>
          <a:p>
            <a:pPr marL="228600" lvl="0" indent="-50800" algn="l" rtl="0">
              <a:lnSpc>
                <a:spcPct val="90000"/>
              </a:lnSpc>
              <a:spcBef>
                <a:spcPts val="1000"/>
              </a:spcBef>
              <a:spcAft>
                <a:spcPts val="0"/>
              </a:spcAft>
              <a:buClr>
                <a:schemeClr val="dk1"/>
              </a:buClr>
              <a:buSzPts val="2800"/>
              <a:buNone/>
            </a:pPr>
            <a:endParaRPr/>
          </a:p>
        </p:txBody>
      </p:sp>
      <p:sp>
        <p:nvSpPr>
          <p:cNvPr id="322" name="Google Shape;322;p22"/>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323" name="Google Shape;323;p22"/>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324" name="Google Shape;324;p22"/>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EFC62-D340-12FF-2C58-D24D5EBD1EA2}"/>
              </a:ext>
            </a:extLst>
          </p:cNvPr>
          <p:cNvSpPr>
            <a:spLocks noGrp="1"/>
          </p:cNvSpPr>
          <p:nvPr>
            <p:ph type="title"/>
          </p:nvPr>
        </p:nvSpPr>
        <p:spPr/>
        <p:txBody>
          <a:bodyPr>
            <a:normAutofit/>
          </a:bodyPr>
          <a:lstStyle/>
          <a:p>
            <a:r>
              <a:rPr lang="en-US" sz="3600" dirty="0"/>
              <a:t>MDE Equitable Services Ombudsman</a:t>
            </a:r>
          </a:p>
        </p:txBody>
      </p:sp>
      <p:sp>
        <p:nvSpPr>
          <p:cNvPr id="3" name="Text Placeholder 2">
            <a:extLst>
              <a:ext uri="{FF2B5EF4-FFF2-40B4-BE49-F238E27FC236}">
                <a16:creationId xmlns:a16="http://schemas.microsoft.com/office/drawing/2014/main" id="{389F75F4-BD93-1532-F18B-2CAF366DF0AE}"/>
              </a:ext>
            </a:extLst>
          </p:cNvPr>
          <p:cNvSpPr>
            <a:spLocks noGrp="1"/>
          </p:cNvSpPr>
          <p:nvPr>
            <p:ph type="body" idx="1"/>
          </p:nvPr>
        </p:nvSpPr>
        <p:spPr/>
        <p:txBody>
          <a:bodyPr>
            <a:normAutofit/>
          </a:bodyPr>
          <a:lstStyle/>
          <a:p>
            <a:pPr marL="114300" indent="0">
              <a:buNone/>
            </a:pPr>
            <a:r>
              <a:rPr lang="en-US" dirty="0"/>
              <a:t>Chanel F. DeGuzman, Ph.D.</a:t>
            </a:r>
          </a:p>
          <a:p>
            <a:pPr marL="114300" indent="0">
              <a:buNone/>
            </a:pPr>
            <a:r>
              <a:rPr lang="en-US" dirty="0"/>
              <a:t>Equitable Services Ombudsman</a:t>
            </a:r>
          </a:p>
          <a:p>
            <a:pPr marL="114300" indent="0">
              <a:buNone/>
            </a:pPr>
            <a:r>
              <a:rPr lang="en-US" dirty="0"/>
              <a:t>Office of Educational Supports</a:t>
            </a:r>
          </a:p>
          <a:p>
            <a:endParaRPr lang="en-US" dirty="0"/>
          </a:p>
          <a:p>
            <a:pPr marL="114300" indent="0">
              <a:buNone/>
            </a:pPr>
            <a:r>
              <a:rPr lang="en-US" dirty="0"/>
              <a:t> </a:t>
            </a:r>
          </a:p>
          <a:p>
            <a:pPr marL="114300" indent="0">
              <a:buNone/>
            </a:pPr>
            <a:r>
              <a:rPr lang="en-US" dirty="0"/>
              <a:t>Phone: (517) 241-5391</a:t>
            </a:r>
          </a:p>
          <a:p>
            <a:pPr marL="114300" indent="0">
              <a:buNone/>
            </a:pPr>
            <a:r>
              <a:rPr lang="en-US" dirty="0"/>
              <a:t>E-Mail: </a:t>
            </a:r>
            <a:r>
              <a:rPr lang="en-US" u="sng" dirty="0">
                <a:hlinkClick r:id="rId2"/>
              </a:rPr>
              <a:t>DeGuzmanC@michigan.gov</a:t>
            </a:r>
            <a:r>
              <a:rPr lang="en-US" dirty="0"/>
              <a:t> </a:t>
            </a:r>
          </a:p>
          <a:p>
            <a:pPr marL="114300" indent="0">
              <a:buNone/>
            </a:pPr>
            <a:endParaRPr lang="en-US" dirty="0"/>
          </a:p>
        </p:txBody>
      </p:sp>
      <p:sp>
        <p:nvSpPr>
          <p:cNvPr id="4" name="Slide Number Placeholder 3">
            <a:extLst>
              <a:ext uri="{FF2B5EF4-FFF2-40B4-BE49-F238E27FC236}">
                <a16:creationId xmlns:a16="http://schemas.microsoft.com/office/drawing/2014/main" id="{A035E37D-7076-B0B4-F71E-426946EE2C4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Tree>
    <p:extLst>
      <p:ext uri="{BB962C8B-B14F-4D97-AF65-F5344CB8AC3E}">
        <p14:creationId xmlns:p14="http://schemas.microsoft.com/office/powerpoint/2010/main" val="4056452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3"/>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a:t>Important Considerations</a:t>
            </a:r>
            <a:endParaRPr/>
          </a:p>
        </p:txBody>
      </p:sp>
      <p:sp>
        <p:nvSpPr>
          <p:cNvPr id="330" name="Google Shape;330;p23"/>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b="1"/>
              <a:t>Relationships	</a:t>
            </a:r>
            <a:endParaRPr/>
          </a:p>
          <a:p>
            <a:pPr marL="0" lvl="0" indent="0" algn="l" rtl="0">
              <a:lnSpc>
                <a:spcPct val="90000"/>
              </a:lnSpc>
              <a:spcBef>
                <a:spcPts val="1000"/>
              </a:spcBef>
              <a:spcAft>
                <a:spcPts val="0"/>
              </a:spcAft>
              <a:buClr>
                <a:schemeClr val="dk1"/>
              </a:buClr>
              <a:buSzPts val="2800"/>
              <a:buNone/>
            </a:pPr>
            <a:endParaRPr/>
          </a:p>
          <a:p>
            <a:pPr marL="685800" lvl="1" indent="-228600" algn="l" rtl="0">
              <a:lnSpc>
                <a:spcPct val="90000"/>
              </a:lnSpc>
              <a:spcBef>
                <a:spcPts val="500"/>
              </a:spcBef>
              <a:spcAft>
                <a:spcPts val="0"/>
              </a:spcAft>
              <a:buClr>
                <a:schemeClr val="dk1"/>
              </a:buClr>
              <a:buSzPts val="2400"/>
              <a:buChar char="•"/>
            </a:pPr>
            <a:r>
              <a:rPr lang="en-US"/>
              <a:t>Building relationships with private schools that participate in federal funding is critical to ensure that eligible students, teachers, and parents benefit.</a:t>
            </a:r>
            <a:endParaRPr/>
          </a:p>
          <a:p>
            <a:pPr marL="685800" lvl="1" indent="-228600" algn="l" rtl="0">
              <a:lnSpc>
                <a:spcPct val="90000"/>
              </a:lnSpc>
              <a:spcBef>
                <a:spcPts val="500"/>
              </a:spcBef>
              <a:spcAft>
                <a:spcPts val="0"/>
              </a:spcAft>
              <a:buClr>
                <a:schemeClr val="dk1"/>
              </a:buClr>
              <a:buSzPts val="2400"/>
              <a:buChar char="•"/>
            </a:pPr>
            <a:r>
              <a:rPr lang="en-US"/>
              <a:t>Convey a helpful attitude when working with your private schools.</a:t>
            </a:r>
            <a:endParaRPr/>
          </a:p>
          <a:p>
            <a:pPr marL="685800" lvl="1" indent="-228600" algn="l" rtl="0">
              <a:lnSpc>
                <a:spcPct val="90000"/>
              </a:lnSpc>
              <a:spcBef>
                <a:spcPts val="500"/>
              </a:spcBef>
              <a:spcAft>
                <a:spcPts val="0"/>
              </a:spcAft>
              <a:buClr>
                <a:schemeClr val="dk1"/>
              </a:buClr>
              <a:buSzPts val="2400"/>
              <a:buChar char="•"/>
            </a:pPr>
            <a:r>
              <a:rPr lang="en-US"/>
              <a:t>Consider helpful suggestions for resolving common issues.</a:t>
            </a:r>
            <a:endParaRPr/>
          </a:p>
          <a:p>
            <a:pPr marL="685800" lvl="1" indent="-76200" algn="l" rtl="0">
              <a:lnSpc>
                <a:spcPct val="90000"/>
              </a:lnSpc>
              <a:spcBef>
                <a:spcPts val="500"/>
              </a:spcBef>
              <a:spcAft>
                <a:spcPts val="0"/>
              </a:spcAft>
              <a:buClr>
                <a:schemeClr val="dk1"/>
              </a:buClr>
              <a:buSzPts val="2400"/>
              <a:buNone/>
            </a:pPr>
            <a:endParaRPr/>
          </a:p>
        </p:txBody>
      </p:sp>
      <p:sp>
        <p:nvSpPr>
          <p:cNvPr id="331" name="Google Shape;331;p23"/>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332" name="Google Shape;332;p23"/>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333" name="Google Shape;333;p23"/>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24"/>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a:t>Important Considerations Cont.</a:t>
            </a:r>
            <a:endParaRPr/>
          </a:p>
        </p:txBody>
      </p:sp>
      <p:sp>
        <p:nvSpPr>
          <p:cNvPr id="340" name="Google Shape;340;p24"/>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b="1"/>
              <a:t>Communication</a:t>
            </a:r>
            <a:endParaRPr/>
          </a:p>
          <a:p>
            <a:pPr marL="228600" lvl="0" indent="-50800" algn="l" rtl="0">
              <a:lnSpc>
                <a:spcPct val="90000"/>
              </a:lnSpc>
              <a:spcBef>
                <a:spcPts val="1000"/>
              </a:spcBef>
              <a:spcAft>
                <a:spcPts val="0"/>
              </a:spcAft>
              <a:buClr>
                <a:schemeClr val="dk1"/>
              </a:buClr>
              <a:buSzPts val="2800"/>
              <a:buNone/>
            </a:pPr>
            <a:endParaRPr/>
          </a:p>
          <a:p>
            <a:pPr marL="685800" lvl="1" indent="-228600" algn="l" rtl="0">
              <a:lnSpc>
                <a:spcPct val="90000"/>
              </a:lnSpc>
              <a:spcBef>
                <a:spcPts val="500"/>
              </a:spcBef>
              <a:spcAft>
                <a:spcPts val="0"/>
              </a:spcAft>
              <a:buClr>
                <a:schemeClr val="dk1"/>
              </a:buClr>
              <a:buSzPts val="2400"/>
              <a:buChar char="•"/>
            </a:pPr>
            <a:r>
              <a:rPr lang="en-US"/>
              <a:t>The LEA is required to maintain and provide to the private school the following documentation about the consultation process:</a:t>
            </a:r>
            <a:endParaRPr/>
          </a:p>
          <a:p>
            <a:pPr marL="1143000" lvl="2" indent="-228600" algn="l" rtl="0">
              <a:lnSpc>
                <a:spcPct val="90000"/>
              </a:lnSpc>
              <a:spcBef>
                <a:spcPts val="500"/>
              </a:spcBef>
              <a:spcAft>
                <a:spcPts val="0"/>
              </a:spcAft>
              <a:buClr>
                <a:schemeClr val="dk1"/>
              </a:buClr>
              <a:buSzPts val="2000"/>
              <a:buChar char="•"/>
            </a:pPr>
            <a:r>
              <a:rPr lang="en-US"/>
              <a:t>Written Affirmation (ESEA section 1117(b)(5))</a:t>
            </a:r>
            <a:endParaRPr/>
          </a:p>
          <a:p>
            <a:pPr marL="1143000" lvl="2" indent="-228600" algn="l" rtl="0">
              <a:lnSpc>
                <a:spcPct val="90000"/>
              </a:lnSpc>
              <a:spcBef>
                <a:spcPts val="500"/>
              </a:spcBef>
              <a:spcAft>
                <a:spcPts val="0"/>
              </a:spcAft>
              <a:buClr>
                <a:schemeClr val="dk1"/>
              </a:buClr>
              <a:buSzPts val="2000"/>
              <a:buChar char="•"/>
            </a:pPr>
            <a:r>
              <a:rPr lang="en-US"/>
              <a:t>Results of the Agreement (ESEA section 1117(b)(1))</a:t>
            </a:r>
            <a:endParaRPr/>
          </a:p>
          <a:p>
            <a:pPr marL="1143000" lvl="2" indent="-228600" algn="l" rtl="0">
              <a:lnSpc>
                <a:spcPct val="90000"/>
              </a:lnSpc>
              <a:spcBef>
                <a:spcPts val="500"/>
              </a:spcBef>
              <a:spcAft>
                <a:spcPts val="0"/>
              </a:spcAft>
              <a:buClr>
                <a:schemeClr val="dk1"/>
              </a:buClr>
              <a:buSzPts val="2000"/>
              <a:buChar char="•"/>
            </a:pPr>
            <a:r>
              <a:rPr lang="en-US"/>
              <a:t>Reason for Disagreement (ESEA section 1117(b)(2))</a:t>
            </a:r>
            <a:endParaRPr/>
          </a:p>
          <a:p>
            <a:pPr marL="228600" lvl="0" indent="-50800" algn="l" rtl="0">
              <a:lnSpc>
                <a:spcPct val="90000"/>
              </a:lnSpc>
              <a:spcBef>
                <a:spcPts val="1000"/>
              </a:spcBef>
              <a:spcAft>
                <a:spcPts val="0"/>
              </a:spcAft>
              <a:buClr>
                <a:schemeClr val="dk1"/>
              </a:buClr>
              <a:buSzPts val="2800"/>
              <a:buNone/>
            </a:pPr>
            <a:endParaRPr/>
          </a:p>
        </p:txBody>
      </p:sp>
      <p:sp>
        <p:nvSpPr>
          <p:cNvPr id="341" name="Google Shape;341;p24"/>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342" name="Google Shape;342;p24"/>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343" name="Google Shape;343;p24"/>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2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b="1"/>
              <a:t>Evidence of Communication</a:t>
            </a:r>
            <a:endParaRPr/>
          </a:p>
        </p:txBody>
      </p:sp>
      <p:sp>
        <p:nvSpPr>
          <p:cNvPr id="350" name="Google Shape;350;p25"/>
          <p:cNvSpPr txBox="1">
            <a:spLocks noGrp="1"/>
          </p:cNvSpPr>
          <p:nvPr>
            <p:ph type="body" idx="1"/>
          </p:nvPr>
        </p:nvSpPr>
        <p:spPr>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chemeClr val="dk1"/>
              </a:buClr>
              <a:buSzPct val="100000"/>
              <a:buNone/>
            </a:pPr>
            <a:r>
              <a:rPr lang="en-US" dirty="0"/>
              <a:t>In addition to the required documentation on the previous slide, it is also good practice for an LEA to keep the following documentation:</a:t>
            </a:r>
            <a:endParaRPr dirty="0"/>
          </a:p>
          <a:p>
            <a:pPr marL="0" lvl="0" indent="0" algn="l" rtl="0">
              <a:lnSpc>
                <a:spcPct val="90000"/>
              </a:lnSpc>
              <a:spcBef>
                <a:spcPts val="1000"/>
              </a:spcBef>
              <a:spcAft>
                <a:spcPts val="0"/>
              </a:spcAft>
              <a:buClr>
                <a:schemeClr val="dk1"/>
              </a:buClr>
              <a:buSzPct val="100000"/>
              <a:buNone/>
            </a:pPr>
            <a:endParaRPr dirty="0"/>
          </a:p>
          <a:p>
            <a:pPr marL="342900" marR="0" lvl="0" indent="-342900" algn="l" rtl="0">
              <a:lnSpc>
                <a:spcPct val="105000"/>
              </a:lnSpc>
              <a:spcBef>
                <a:spcPts val="0"/>
              </a:spcBef>
              <a:spcAft>
                <a:spcPts val="0"/>
              </a:spcAft>
              <a:buClr>
                <a:schemeClr val="dk1"/>
              </a:buClr>
              <a:buSzPct val="100000"/>
              <a:buFont typeface="Noto Sans Symbols"/>
              <a:buChar char="∙"/>
            </a:pPr>
            <a:r>
              <a:rPr lang="en-US" dirty="0">
                <a:latin typeface="Verdana"/>
                <a:ea typeface="Verdana"/>
                <a:cs typeface="Verdana"/>
                <a:sym typeface="Verdana"/>
              </a:rPr>
              <a:t>Copies of emails, letters</a:t>
            </a:r>
            <a:endParaRPr dirty="0"/>
          </a:p>
          <a:p>
            <a:pPr marL="342900" marR="0" lvl="0" indent="-342900" algn="l" rtl="0">
              <a:lnSpc>
                <a:spcPct val="105000"/>
              </a:lnSpc>
              <a:spcBef>
                <a:spcPts val="0"/>
              </a:spcBef>
              <a:spcAft>
                <a:spcPts val="0"/>
              </a:spcAft>
              <a:buClr>
                <a:schemeClr val="dk1"/>
              </a:buClr>
              <a:buSzPct val="100000"/>
              <a:buFont typeface="Noto Sans Symbols"/>
              <a:buChar char="∙"/>
            </a:pPr>
            <a:r>
              <a:rPr lang="en-US" dirty="0">
                <a:latin typeface="Verdana"/>
                <a:ea typeface="Verdana"/>
                <a:cs typeface="Verdana"/>
                <a:sym typeface="Verdana"/>
              </a:rPr>
              <a:t>Signature Receipts from Certified mail</a:t>
            </a:r>
            <a:endParaRPr dirty="0">
              <a:latin typeface="Verdana"/>
              <a:ea typeface="Verdana"/>
              <a:cs typeface="Verdana"/>
              <a:sym typeface="Verdana"/>
            </a:endParaRPr>
          </a:p>
          <a:p>
            <a:pPr marL="342900" marR="0" lvl="0" indent="-342900" algn="l" rtl="0">
              <a:lnSpc>
                <a:spcPct val="105000"/>
              </a:lnSpc>
              <a:spcBef>
                <a:spcPts val="0"/>
              </a:spcBef>
              <a:spcAft>
                <a:spcPts val="0"/>
              </a:spcAft>
              <a:buClr>
                <a:schemeClr val="dk1"/>
              </a:buClr>
              <a:buSzPct val="100000"/>
              <a:buFont typeface="Noto Sans Symbols"/>
              <a:buChar char="∙"/>
            </a:pPr>
            <a:r>
              <a:rPr lang="en-US" dirty="0">
                <a:latin typeface="Verdana"/>
                <a:ea typeface="Verdana"/>
                <a:cs typeface="Verdana"/>
                <a:sym typeface="Verdana"/>
              </a:rPr>
              <a:t>Phone Logs</a:t>
            </a:r>
            <a:endParaRPr dirty="0">
              <a:latin typeface="Verdana"/>
              <a:ea typeface="Verdana"/>
              <a:cs typeface="Verdana"/>
              <a:sym typeface="Verdana"/>
            </a:endParaRPr>
          </a:p>
          <a:p>
            <a:pPr marL="342900" marR="0" lvl="0" indent="-342900" algn="l" rtl="0">
              <a:lnSpc>
                <a:spcPct val="105000"/>
              </a:lnSpc>
              <a:spcBef>
                <a:spcPts val="0"/>
              </a:spcBef>
              <a:spcAft>
                <a:spcPts val="0"/>
              </a:spcAft>
              <a:buClr>
                <a:schemeClr val="dk1"/>
              </a:buClr>
              <a:buSzPct val="100000"/>
              <a:buFont typeface="Noto Sans Symbols"/>
              <a:buChar char="∙"/>
            </a:pPr>
            <a:r>
              <a:rPr lang="en-US" dirty="0">
                <a:latin typeface="Verdana"/>
                <a:ea typeface="Verdana"/>
                <a:cs typeface="Verdana"/>
                <a:sym typeface="Verdana"/>
              </a:rPr>
              <a:t>Meeting Minutes and Agendas, including virtual meetings</a:t>
            </a:r>
            <a:endParaRPr dirty="0">
              <a:latin typeface="Verdana"/>
              <a:ea typeface="Verdana"/>
              <a:cs typeface="Verdana"/>
              <a:sym typeface="Verdana"/>
            </a:endParaRPr>
          </a:p>
          <a:p>
            <a:pPr marL="342900" marR="0" lvl="0" indent="-342900" algn="l" rtl="0">
              <a:lnSpc>
                <a:spcPct val="105000"/>
              </a:lnSpc>
              <a:spcBef>
                <a:spcPts val="0"/>
              </a:spcBef>
              <a:spcAft>
                <a:spcPts val="0"/>
              </a:spcAft>
              <a:buClr>
                <a:schemeClr val="dk1"/>
              </a:buClr>
              <a:buSzPct val="100000"/>
              <a:buFont typeface="Noto Sans Symbols"/>
              <a:buChar char="∙"/>
            </a:pPr>
            <a:r>
              <a:rPr lang="en-US" dirty="0">
                <a:latin typeface="Verdana"/>
                <a:ea typeface="Verdana"/>
                <a:cs typeface="Verdana"/>
                <a:sym typeface="Verdana"/>
              </a:rPr>
              <a:t>Written Process for how the LEA works with Private Schools</a:t>
            </a:r>
            <a:endParaRPr dirty="0">
              <a:latin typeface="Verdana"/>
              <a:ea typeface="Verdana"/>
              <a:cs typeface="Verdana"/>
              <a:sym typeface="Verdana"/>
            </a:endParaRPr>
          </a:p>
          <a:p>
            <a:pPr marL="342900" marR="0" lvl="0" indent="-342900" algn="l" rtl="0">
              <a:lnSpc>
                <a:spcPct val="105000"/>
              </a:lnSpc>
              <a:spcBef>
                <a:spcPts val="0"/>
              </a:spcBef>
              <a:spcAft>
                <a:spcPts val="0"/>
              </a:spcAft>
              <a:buClr>
                <a:schemeClr val="dk1"/>
              </a:buClr>
              <a:buSzPct val="100000"/>
              <a:buFont typeface="Noto Sans Symbols"/>
              <a:buChar char="∙"/>
            </a:pPr>
            <a:r>
              <a:rPr lang="en-US" dirty="0">
                <a:latin typeface="Verdana"/>
                <a:ea typeface="Verdana"/>
                <a:cs typeface="Verdana"/>
                <a:sym typeface="Verdana"/>
              </a:rPr>
              <a:t>Timeline</a:t>
            </a:r>
            <a:endParaRPr dirty="0"/>
          </a:p>
          <a:p>
            <a:pPr marL="342900" marR="0" lvl="0" indent="-342900" algn="l" rtl="0">
              <a:lnSpc>
                <a:spcPct val="105000"/>
              </a:lnSpc>
              <a:spcBef>
                <a:spcPts val="0"/>
              </a:spcBef>
              <a:spcAft>
                <a:spcPts val="0"/>
              </a:spcAft>
              <a:buClr>
                <a:schemeClr val="dk1"/>
              </a:buClr>
              <a:buSzPct val="100000"/>
              <a:buFont typeface="Noto Sans Symbols"/>
              <a:buChar char="∙"/>
            </a:pPr>
            <a:r>
              <a:rPr lang="en-US" dirty="0">
                <a:latin typeface="Verdana"/>
                <a:ea typeface="Verdana"/>
                <a:cs typeface="Verdana"/>
                <a:sym typeface="Verdana"/>
              </a:rPr>
              <a:t>Any other documentation the LEA may have</a:t>
            </a:r>
            <a:endParaRPr dirty="0">
              <a:latin typeface="Verdana"/>
              <a:ea typeface="Verdana"/>
              <a:cs typeface="Verdana"/>
              <a:sym typeface="Verdana"/>
            </a:endParaRPr>
          </a:p>
          <a:p>
            <a:pPr marL="228600" lvl="0" indent="-64135" algn="l" rtl="0">
              <a:lnSpc>
                <a:spcPct val="90000"/>
              </a:lnSpc>
              <a:spcBef>
                <a:spcPts val="1000"/>
              </a:spcBef>
              <a:spcAft>
                <a:spcPts val="0"/>
              </a:spcAft>
              <a:buClr>
                <a:schemeClr val="dk1"/>
              </a:buClr>
              <a:buSzPct val="100000"/>
              <a:buNone/>
            </a:pPr>
            <a:endParaRPr dirty="0"/>
          </a:p>
        </p:txBody>
      </p:sp>
      <p:sp>
        <p:nvSpPr>
          <p:cNvPr id="351" name="Google Shape;351;p25"/>
          <p:cNvSpPr txBox="1">
            <a:spLocks noGrp="1"/>
          </p:cNvSpPr>
          <p:nvPr>
            <p:ph type="dt"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 </a:t>
            </a:r>
            <a:endParaRPr/>
          </a:p>
          <a:p>
            <a:pPr marL="0" lvl="0" indent="0" algn="l" rtl="0">
              <a:spcBef>
                <a:spcPts val="0"/>
              </a:spcBef>
              <a:spcAft>
                <a:spcPts val="0"/>
              </a:spcAft>
              <a:buNone/>
            </a:pPr>
            <a:r>
              <a:rPr lang="en-US"/>
              <a:t>Office of Educational Supports</a:t>
            </a:r>
            <a:endParaRPr/>
          </a:p>
          <a:p>
            <a:pPr marL="0" lvl="0" indent="0" algn="l" rtl="0">
              <a:spcBef>
                <a:spcPts val="0"/>
              </a:spcBef>
              <a:spcAft>
                <a:spcPts val="0"/>
              </a:spcAft>
              <a:buNone/>
            </a:pPr>
            <a:endParaRPr/>
          </a:p>
        </p:txBody>
      </p:sp>
      <p:sp>
        <p:nvSpPr>
          <p:cNvPr id="352" name="Google Shape;352;p25"/>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353" name="Google Shape;353;p25"/>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6"/>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a:t>Important Considerations, Cont.</a:t>
            </a:r>
            <a:endParaRPr/>
          </a:p>
        </p:txBody>
      </p:sp>
      <p:sp>
        <p:nvSpPr>
          <p:cNvPr id="359" name="Google Shape;359;p26"/>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The LEA is the fiscal and program agent for the private school program.</a:t>
            </a:r>
            <a:endParaRPr dirty="0"/>
          </a:p>
          <a:p>
            <a:pPr marL="228600" lvl="0" indent="-228600" algn="l" rtl="0">
              <a:lnSpc>
                <a:spcPct val="90000"/>
              </a:lnSpc>
              <a:spcBef>
                <a:spcPts val="1000"/>
              </a:spcBef>
              <a:spcAft>
                <a:spcPts val="0"/>
              </a:spcAft>
              <a:buClr>
                <a:schemeClr val="dk1"/>
              </a:buClr>
              <a:buSzPts val="2800"/>
              <a:buChar char="•"/>
            </a:pPr>
            <a:r>
              <a:rPr lang="en-US" dirty="0"/>
              <a:t>It is the responsibility of the LEA to ensure that all programming for the private school has been implemented during the grant year.</a:t>
            </a:r>
            <a:endParaRPr dirty="0"/>
          </a:p>
          <a:p>
            <a:pPr marL="228600" lvl="0" indent="-228600" algn="l" rtl="0">
              <a:lnSpc>
                <a:spcPct val="90000"/>
              </a:lnSpc>
              <a:spcBef>
                <a:spcPts val="1000"/>
              </a:spcBef>
              <a:spcAft>
                <a:spcPts val="0"/>
              </a:spcAft>
              <a:buClr>
                <a:schemeClr val="dk1"/>
              </a:buClr>
              <a:buSzPts val="2800"/>
              <a:buChar char="•"/>
            </a:pPr>
            <a:r>
              <a:rPr lang="en-US" dirty="0"/>
              <a:t>Any unspent funds for the private school must be returned to the private school for equitable services in the following grant year.</a:t>
            </a: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p:txBody>
      </p:sp>
      <p:sp>
        <p:nvSpPr>
          <p:cNvPr id="360" name="Google Shape;360;p26"/>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361" name="Google Shape;361;p26"/>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362" name="Google Shape;362;p26"/>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636CA-8CAE-089D-7E2F-CCA086E7ED7F}"/>
              </a:ext>
            </a:extLst>
          </p:cNvPr>
          <p:cNvSpPr>
            <a:spLocks noGrp="1"/>
          </p:cNvSpPr>
          <p:nvPr>
            <p:ph type="ctrTitle"/>
          </p:nvPr>
        </p:nvSpPr>
        <p:spPr/>
        <p:txBody>
          <a:bodyPr/>
          <a:lstStyle/>
          <a:p>
            <a:r>
              <a:rPr lang="en-US" dirty="0"/>
              <a:t>Frequently Asked Questions</a:t>
            </a:r>
          </a:p>
        </p:txBody>
      </p:sp>
      <p:sp>
        <p:nvSpPr>
          <p:cNvPr id="3" name="Subtitle 2">
            <a:extLst>
              <a:ext uri="{FF2B5EF4-FFF2-40B4-BE49-F238E27FC236}">
                <a16:creationId xmlns:a16="http://schemas.microsoft.com/office/drawing/2014/main" id="{B8D4B19D-5616-9737-2BBF-1D29CED3E240}"/>
              </a:ext>
            </a:extLst>
          </p:cNvPr>
          <p:cNvSpPr>
            <a:spLocks noGrp="1"/>
          </p:cNvSpPr>
          <p:nvPr>
            <p:ph type="subTitle" idx="1"/>
          </p:nvPr>
        </p:nvSpPr>
        <p:spPr/>
        <p:txBody>
          <a:bodyPr/>
          <a:lstStyle/>
          <a:p>
            <a:r>
              <a:rPr lang="en-US" dirty="0"/>
              <a:t>Providing programs to Private Schools</a:t>
            </a:r>
          </a:p>
        </p:txBody>
      </p:sp>
    </p:spTree>
    <p:extLst>
      <p:ext uri="{BB962C8B-B14F-4D97-AF65-F5344CB8AC3E}">
        <p14:creationId xmlns:p14="http://schemas.microsoft.com/office/powerpoint/2010/main" val="11162329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5137E-3581-00A6-70DF-86A56095F009}"/>
              </a:ext>
            </a:extLst>
          </p:cNvPr>
          <p:cNvSpPr>
            <a:spLocks noGrp="1"/>
          </p:cNvSpPr>
          <p:nvPr>
            <p:ph type="title"/>
          </p:nvPr>
        </p:nvSpPr>
        <p:spPr>
          <a:xfrm>
            <a:off x="1756372" y="365125"/>
            <a:ext cx="9597427" cy="600075"/>
          </a:xfrm>
        </p:spPr>
        <p:txBody>
          <a:bodyPr>
            <a:noAutofit/>
          </a:bodyPr>
          <a:lstStyle/>
          <a:p>
            <a:r>
              <a:rPr lang="en-US" sz="3200" dirty="0"/>
              <a:t>What types of services are available for private school participants?</a:t>
            </a:r>
          </a:p>
        </p:txBody>
      </p:sp>
      <p:sp>
        <p:nvSpPr>
          <p:cNvPr id="3" name="Text Placeholder 2">
            <a:extLst>
              <a:ext uri="{FF2B5EF4-FFF2-40B4-BE49-F238E27FC236}">
                <a16:creationId xmlns:a16="http://schemas.microsoft.com/office/drawing/2014/main" id="{A4298061-6FAD-8E3E-3B55-E0DD45736BFA}"/>
              </a:ext>
            </a:extLst>
          </p:cNvPr>
          <p:cNvSpPr>
            <a:spLocks noGrp="1"/>
          </p:cNvSpPr>
          <p:nvPr>
            <p:ph type="body" idx="1"/>
          </p:nvPr>
        </p:nvSpPr>
        <p:spPr/>
        <p:txBody>
          <a:bodyPr/>
          <a:lstStyle/>
          <a:p>
            <a:r>
              <a:rPr lang="en-US" dirty="0"/>
              <a:t>Instructional services providing by public school employees or third-party contractors;</a:t>
            </a:r>
          </a:p>
          <a:p>
            <a:r>
              <a:rPr lang="en-US" dirty="0"/>
              <a:t>Expanded learning time, including before and after school programs;</a:t>
            </a:r>
          </a:p>
          <a:p>
            <a:r>
              <a:rPr lang="en-US" dirty="0"/>
              <a:t>One on one tutoring;</a:t>
            </a:r>
          </a:p>
          <a:p>
            <a:r>
              <a:rPr lang="en-US" dirty="0"/>
              <a:t>Summer school programs;</a:t>
            </a:r>
          </a:p>
          <a:p>
            <a:r>
              <a:rPr lang="en-US" dirty="0"/>
              <a:t>Family literacy programs;</a:t>
            </a:r>
          </a:p>
          <a:p>
            <a:r>
              <a:rPr lang="en-US" dirty="0"/>
              <a:t>Counseling programs;</a:t>
            </a:r>
          </a:p>
          <a:p>
            <a:endParaRPr lang="en-US" dirty="0"/>
          </a:p>
        </p:txBody>
      </p:sp>
      <p:sp>
        <p:nvSpPr>
          <p:cNvPr id="4" name="Slide Number Placeholder 3">
            <a:extLst>
              <a:ext uri="{FF2B5EF4-FFF2-40B4-BE49-F238E27FC236}">
                <a16:creationId xmlns:a16="http://schemas.microsoft.com/office/drawing/2014/main" id="{10B754B4-FBD9-FCE5-DF3F-590DE26788B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Tree>
    <p:extLst>
      <p:ext uri="{BB962C8B-B14F-4D97-AF65-F5344CB8AC3E}">
        <p14:creationId xmlns:p14="http://schemas.microsoft.com/office/powerpoint/2010/main" val="22515738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CAAC6-2347-A690-C827-5EBE4A5F6D8D}"/>
              </a:ext>
            </a:extLst>
          </p:cNvPr>
          <p:cNvSpPr>
            <a:spLocks noGrp="1"/>
          </p:cNvSpPr>
          <p:nvPr>
            <p:ph type="title"/>
          </p:nvPr>
        </p:nvSpPr>
        <p:spPr>
          <a:xfrm>
            <a:off x="1756372" y="136525"/>
            <a:ext cx="9597427" cy="1022319"/>
          </a:xfrm>
        </p:spPr>
        <p:txBody>
          <a:bodyPr>
            <a:noAutofit/>
          </a:bodyPr>
          <a:lstStyle/>
          <a:p>
            <a:r>
              <a:rPr lang="en-US" sz="3200" dirty="0"/>
              <a:t>What types of services are available for private school participants?</a:t>
            </a:r>
          </a:p>
        </p:txBody>
      </p:sp>
      <p:sp>
        <p:nvSpPr>
          <p:cNvPr id="3" name="Text Placeholder 2">
            <a:extLst>
              <a:ext uri="{FF2B5EF4-FFF2-40B4-BE49-F238E27FC236}">
                <a16:creationId xmlns:a16="http://schemas.microsoft.com/office/drawing/2014/main" id="{A9A196FF-1925-621D-8B35-1692F9CC7A58}"/>
              </a:ext>
            </a:extLst>
          </p:cNvPr>
          <p:cNvSpPr>
            <a:spLocks noGrp="1"/>
          </p:cNvSpPr>
          <p:nvPr>
            <p:ph type="body" idx="1"/>
          </p:nvPr>
        </p:nvSpPr>
        <p:spPr/>
        <p:txBody>
          <a:bodyPr/>
          <a:lstStyle/>
          <a:p>
            <a:r>
              <a:rPr lang="en-US" dirty="0"/>
              <a:t>Mentoring programs;</a:t>
            </a:r>
          </a:p>
          <a:p>
            <a:r>
              <a:rPr lang="en-US" dirty="0"/>
              <a:t>Computer-assisted instruction;</a:t>
            </a:r>
          </a:p>
          <a:p>
            <a:r>
              <a:rPr lang="en-US" dirty="0"/>
              <a:t>Home tutoring;</a:t>
            </a:r>
          </a:p>
          <a:p>
            <a:r>
              <a:rPr lang="en-US" dirty="0"/>
              <a:t>Instruction using take-home computers; and</a:t>
            </a:r>
          </a:p>
          <a:p>
            <a:r>
              <a:rPr lang="en-US" dirty="0"/>
              <a:t>Any combination of the above.</a:t>
            </a:r>
          </a:p>
          <a:p>
            <a:endParaRPr lang="en-US" dirty="0"/>
          </a:p>
          <a:p>
            <a:pPr marL="114300" indent="0">
              <a:buNone/>
            </a:pPr>
            <a:r>
              <a:rPr lang="en-US" dirty="0"/>
              <a:t>C-15 </a:t>
            </a:r>
            <a:r>
              <a:rPr lang="en-US" dirty="0">
                <a:hlinkClick r:id="rId2"/>
              </a:rPr>
              <a:t>Non-Regulatory Guidance</a:t>
            </a:r>
            <a:endParaRPr lang="en-US" dirty="0"/>
          </a:p>
        </p:txBody>
      </p:sp>
      <p:sp>
        <p:nvSpPr>
          <p:cNvPr id="4" name="Slide Number Placeholder 3">
            <a:extLst>
              <a:ext uri="{FF2B5EF4-FFF2-40B4-BE49-F238E27FC236}">
                <a16:creationId xmlns:a16="http://schemas.microsoft.com/office/drawing/2014/main" id="{952C4909-664B-A16A-D5C9-2B180C5672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Tree>
    <p:extLst>
      <p:ext uri="{BB962C8B-B14F-4D97-AF65-F5344CB8AC3E}">
        <p14:creationId xmlns:p14="http://schemas.microsoft.com/office/powerpoint/2010/main" val="34462492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10151-2878-A601-D92E-68B5C9544E99}"/>
              </a:ext>
            </a:extLst>
          </p:cNvPr>
          <p:cNvSpPr>
            <a:spLocks noGrp="1"/>
          </p:cNvSpPr>
          <p:nvPr>
            <p:ph type="title"/>
          </p:nvPr>
        </p:nvSpPr>
        <p:spPr>
          <a:xfrm>
            <a:off x="1756372" y="279401"/>
            <a:ext cx="9597427" cy="660400"/>
          </a:xfrm>
        </p:spPr>
        <p:txBody>
          <a:bodyPr>
            <a:normAutofit fontScale="90000"/>
          </a:bodyPr>
          <a:lstStyle/>
          <a:p>
            <a:r>
              <a:rPr lang="en-US" dirty="0"/>
              <a:t>FAQs Continued</a:t>
            </a:r>
          </a:p>
        </p:txBody>
      </p:sp>
      <p:sp>
        <p:nvSpPr>
          <p:cNvPr id="3" name="Text Placeholder 2">
            <a:extLst>
              <a:ext uri="{FF2B5EF4-FFF2-40B4-BE49-F238E27FC236}">
                <a16:creationId xmlns:a16="http://schemas.microsoft.com/office/drawing/2014/main" id="{AE4907B2-6557-06D0-5CFC-653E991C064E}"/>
              </a:ext>
            </a:extLst>
          </p:cNvPr>
          <p:cNvSpPr>
            <a:spLocks noGrp="1"/>
          </p:cNvSpPr>
          <p:nvPr>
            <p:ph type="body" idx="1"/>
          </p:nvPr>
        </p:nvSpPr>
        <p:spPr/>
        <p:txBody>
          <a:bodyPr/>
          <a:lstStyle/>
          <a:p>
            <a:r>
              <a:rPr lang="en-US" dirty="0"/>
              <a:t>May an LEA provide a private school ONLY with instructional materials and supplies paid for with Title IA fund?</a:t>
            </a:r>
          </a:p>
          <a:p>
            <a:pPr lvl="1"/>
            <a:r>
              <a:rPr lang="en-US" dirty="0"/>
              <a:t>No.  This does not meet the LEA’s obligation to provide equitable services because it is not a proper Title IA program, nor does it meet the requirement that services be equitable.</a:t>
            </a:r>
          </a:p>
          <a:p>
            <a:pPr lvl="1"/>
            <a:endParaRPr lang="en-US" dirty="0"/>
          </a:p>
          <a:p>
            <a:pPr lvl="1"/>
            <a:r>
              <a:rPr lang="en-US" dirty="0"/>
              <a:t>C-19 </a:t>
            </a:r>
            <a:r>
              <a:rPr lang="en-US" dirty="0">
                <a:hlinkClick r:id="rId3"/>
              </a:rPr>
              <a:t> Non-Regulatory Guidance</a:t>
            </a:r>
            <a:endParaRPr lang="en-US" dirty="0"/>
          </a:p>
        </p:txBody>
      </p:sp>
      <p:sp>
        <p:nvSpPr>
          <p:cNvPr id="4" name="Slide Number Placeholder 3">
            <a:extLst>
              <a:ext uri="{FF2B5EF4-FFF2-40B4-BE49-F238E27FC236}">
                <a16:creationId xmlns:a16="http://schemas.microsoft.com/office/drawing/2014/main" id="{CB4257E3-F010-FC19-A7F7-B574807CEE5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Tree>
    <p:extLst>
      <p:ext uri="{BB962C8B-B14F-4D97-AF65-F5344CB8AC3E}">
        <p14:creationId xmlns:p14="http://schemas.microsoft.com/office/powerpoint/2010/main" val="21350091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DE8B7-7893-0D34-9DF9-6FFF571F39EC}"/>
              </a:ext>
            </a:extLst>
          </p:cNvPr>
          <p:cNvSpPr>
            <a:spLocks noGrp="1"/>
          </p:cNvSpPr>
          <p:nvPr>
            <p:ph type="title"/>
          </p:nvPr>
        </p:nvSpPr>
        <p:spPr/>
        <p:txBody>
          <a:bodyPr/>
          <a:lstStyle/>
          <a:p>
            <a:r>
              <a:rPr lang="en-US" dirty="0"/>
              <a:t>FAQs Continued	</a:t>
            </a:r>
          </a:p>
        </p:txBody>
      </p:sp>
      <p:sp>
        <p:nvSpPr>
          <p:cNvPr id="3" name="Text Placeholder 2">
            <a:extLst>
              <a:ext uri="{FF2B5EF4-FFF2-40B4-BE49-F238E27FC236}">
                <a16:creationId xmlns:a16="http://schemas.microsoft.com/office/drawing/2014/main" id="{8CFD9184-4D59-F3F8-35B2-DD400993234B}"/>
              </a:ext>
            </a:extLst>
          </p:cNvPr>
          <p:cNvSpPr>
            <a:spLocks noGrp="1"/>
          </p:cNvSpPr>
          <p:nvPr>
            <p:ph type="body" idx="1"/>
          </p:nvPr>
        </p:nvSpPr>
        <p:spPr/>
        <p:txBody>
          <a:bodyPr>
            <a:normAutofit/>
          </a:bodyPr>
          <a:lstStyle/>
          <a:p>
            <a:r>
              <a:rPr lang="en-US" dirty="0"/>
              <a:t>May an LEA send a paraprofessional to provide instructional support to students without sending a certified teacher?</a:t>
            </a:r>
          </a:p>
          <a:p>
            <a:pPr lvl="1"/>
            <a:r>
              <a:rPr lang="en-US" sz="2100" dirty="0"/>
              <a:t>No.  Michigan law required Highly Qualified paraprofessionals to be directly supervised by a certified teacher.  Sending the para without a certified teacher would violate this requirement.</a:t>
            </a:r>
          </a:p>
          <a:p>
            <a:pPr lvl="1"/>
            <a:r>
              <a:rPr lang="en-US" sz="2100" dirty="0"/>
              <a:t>The para cannot be directly supervised by a private school teacher unless the private school teacher is the one hired by the LEA to provide Title I services to the private school students.</a:t>
            </a:r>
          </a:p>
          <a:p>
            <a:pPr lvl="1"/>
            <a:r>
              <a:rPr lang="en-US" sz="2100" dirty="0"/>
              <a:t>An LEA may hire a para in addition to a certified teacher to provide support to Title I students in the private school. </a:t>
            </a:r>
          </a:p>
        </p:txBody>
      </p:sp>
      <p:sp>
        <p:nvSpPr>
          <p:cNvPr id="4" name="Slide Number Placeholder 3">
            <a:extLst>
              <a:ext uri="{FF2B5EF4-FFF2-40B4-BE49-F238E27FC236}">
                <a16:creationId xmlns:a16="http://schemas.microsoft.com/office/drawing/2014/main" id="{24BD4AB7-F34E-3928-0AB2-C02DEF0F08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Tree>
    <p:extLst>
      <p:ext uri="{BB962C8B-B14F-4D97-AF65-F5344CB8AC3E}">
        <p14:creationId xmlns:p14="http://schemas.microsoft.com/office/powerpoint/2010/main" val="22168971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1404B-0DCC-1110-B811-CE2BE0FC1CFE}"/>
              </a:ext>
            </a:extLst>
          </p:cNvPr>
          <p:cNvSpPr>
            <a:spLocks noGrp="1"/>
          </p:cNvSpPr>
          <p:nvPr>
            <p:ph type="title"/>
          </p:nvPr>
        </p:nvSpPr>
        <p:spPr/>
        <p:txBody>
          <a:bodyPr/>
          <a:lstStyle/>
          <a:p>
            <a:r>
              <a:rPr lang="en-US" dirty="0"/>
              <a:t>FAQs Continued		</a:t>
            </a:r>
          </a:p>
        </p:txBody>
      </p:sp>
      <p:sp>
        <p:nvSpPr>
          <p:cNvPr id="3" name="Text Placeholder 2">
            <a:extLst>
              <a:ext uri="{FF2B5EF4-FFF2-40B4-BE49-F238E27FC236}">
                <a16:creationId xmlns:a16="http://schemas.microsoft.com/office/drawing/2014/main" id="{B6DE55BD-50C0-1389-6D28-7D065864E968}"/>
              </a:ext>
            </a:extLst>
          </p:cNvPr>
          <p:cNvSpPr>
            <a:spLocks noGrp="1"/>
          </p:cNvSpPr>
          <p:nvPr>
            <p:ph type="body" idx="1"/>
          </p:nvPr>
        </p:nvSpPr>
        <p:spPr/>
        <p:txBody>
          <a:bodyPr>
            <a:normAutofit lnSpcReduction="10000"/>
          </a:bodyPr>
          <a:lstStyle/>
          <a:p>
            <a:r>
              <a:rPr lang="en-US" dirty="0"/>
              <a:t>May an LEA use a third-party contractor to provide equitable services?</a:t>
            </a:r>
          </a:p>
          <a:p>
            <a:pPr lvl="1"/>
            <a:r>
              <a:rPr lang="en-US" dirty="0"/>
              <a:t>Yes. Following consultation an LEA may choose to provide services through a third-party contractor.</a:t>
            </a:r>
          </a:p>
          <a:p>
            <a:pPr lvl="1"/>
            <a:r>
              <a:rPr lang="en-US" dirty="0"/>
              <a:t>The third-party contractor must be independent of the private school in the provision of those services.</a:t>
            </a:r>
          </a:p>
          <a:p>
            <a:pPr lvl="1"/>
            <a:r>
              <a:rPr lang="en-US" dirty="0"/>
              <a:t>The LEA remains responsible for the oversight of the Title I program.</a:t>
            </a:r>
          </a:p>
          <a:p>
            <a:pPr lvl="1"/>
            <a:r>
              <a:rPr lang="en-US" dirty="0"/>
              <a:t>The contract must be signed between the LEA and the third-party contract. The private school does not contract with the third party for services.</a:t>
            </a:r>
          </a:p>
          <a:p>
            <a:pPr lvl="1"/>
            <a:endParaRPr lang="en-US" dirty="0"/>
          </a:p>
          <a:p>
            <a:pPr lvl="1"/>
            <a:r>
              <a:rPr lang="en-US" dirty="0"/>
              <a:t>C-27 </a:t>
            </a:r>
            <a:r>
              <a:rPr lang="en-US" dirty="0">
                <a:hlinkClick r:id="rId3"/>
              </a:rPr>
              <a:t>Non-Regulatory Guidance</a:t>
            </a:r>
            <a:endParaRPr lang="en-US" dirty="0"/>
          </a:p>
        </p:txBody>
      </p:sp>
      <p:sp>
        <p:nvSpPr>
          <p:cNvPr id="4" name="Slide Number Placeholder 3">
            <a:extLst>
              <a:ext uri="{FF2B5EF4-FFF2-40B4-BE49-F238E27FC236}">
                <a16:creationId xmlns:a16="http://schemas.microsoft.com/office/drawing/2014/main" id="{3B9CE312-772A-70A3-84D3-BA26F0F9C1A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extLst>
      <p:ext uri="{BB962C8B-B14F-4D97-AF65-F5344CB8AC3E}">
        <p14:creationId xmlns:p14="http://schemas.microsoft.com/office/powerpoint/2010/main" val="7495211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1AF79-A5AB-C12B-B81C-DC28A5FC0037}"/>
              </a:ext>
            </a:extLst>
          </p:cNvPr>
          <p:cNvSpPr>
            <a:spLocks noGrp="1"/>
          </p:cNvSpPr>
          <p:nvPr>
            <p:ph type="title"/>
          </p:nvPr>
        </p:nvSpPr>
        <p:spPr/>
        <p:txBody>
          <a:bodyPr/>
          <a:lstStyle/>
          <a:p>
            <a:r>
              <a:rPr lang="en-US" dirty="0"/>
              <a:t>FAQs Continued</a:t>
            </a:r>
          </a:p>
        </p:txBody>
      </p:sp>
      <p:sp>
        <p:nvSpPr>
          <p:cNvPr id="3" name="Text Placeholder 2">
            <a:extLst>
              <a:ext uri="{FF2B5EF4-FFF2-40B4-BE49-F238E27FC236}">
                <a16:creationId xmlns:a16="http://schemas.microsoft.com/office/drawing/2014/main" id="{6E7F340A-0235-D491-DA78-4C10F5D292FE}"/>
              </a:ext>
            </a:extLst>
          </p:cNvPr>
          <p:cNvSpPr>
            <a:spLocks noGrp="1"/>
          </p:cNvSpPr>
          <p:nvPr>
            <p:ph type="body" idx="1"/>
          </p:nvPr>
        </p:nvSpPr>
        <p:spPr/>
        <p:txBody>
          <a:bodyPr/>
          <a:lstStyle/>
          <a:p>
            <a:r>
              <a:rPr lang="en-US" dirty="0"/>
              <a:t>May an LEA or a third-party contractor employ a private school teacher to provide Title I services to private school participants.</a:t>
            </a:r>
          </a:p>
          <a:p>
            <a:pPr lvl="1"/>
            <a:r>
              <a:rPr lang="en-US" dirty="0"/>
              <a:t>Yes, if certain conditions are met.</a:t>
            </a:r>
          </a:p>
          <a:p>
            <a:pPr lvl="1"/>
            <a:r>
              <a:rPr lang="en-US" dirty="0"/>
              <a:t>The teacher must be independent of the private school during the provision of services.</a:t>
            </a:r>
          </a:p>
          <a:p>
            <a:pPr lvl="1"/>
            <a:r>
              <a:rPr lang="en-US" dirty="0"/>
              <a:t>The private school teacher must be employed by the LEA for Title I purposes outside of the time they are employed by the private school and must be under the direct supervision of the LEA with respect to all Title IA activities.</a:t>
            </a:r>
          </a:p>
          <a:p>
            <a:pPr lvl="1"/>
            <a:r>
              <a:rPr lang="en-US" dirty="0"/>
              <a:t>C-30 </a:t>
            </a:r>
            <a:r>
              <a:rPr lang="en-US" dirty="0">
                <a:hlinkClick r:id="rId2"/>
              </a:rPr>
              <a:t>Non-Regulatory Guidance</a:t>
            </a:r>
            <a:endParaRPr lang="en-US" dirty="0"/>
          </a:p>
        </p:txBody>
      </p:sp>
      <p:sp>
        <p:nvSpPr>
          <p:cNvPr id="4" name="Slide Number Placeholder 3">
            <a:extLst>
              <a:ext uri="{FF2B5EF4-FFF2-40B4-BE49-F238E27FC236}">
                <a16:creationId xmlns:a16="http://schemas.microsoft.com/office/drawing/2014/main" id="{D96DC3D6-A8A0-1D66-B531-769270C3783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Tree>
    <p:extLst>
      <p:ext uri="{BB962C8B-B14F-4D97-AF65-F5344CB8AC3E}">
        <p14:creationId xmlns:p14="http://schemas.microsoft.com/office/powerpoint/2010/main" val="12298649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27"/>
          <p:cNvSpPr txBox="1">
            <a:spLocks noGrp="1"/>
          </p:cNvSpPr>
          <p:nvPr>
            <p:ph type="title"/>
          </p:nvPr>
        </p:nvSpPr>
        <p:spPr>
          <a:xfrm>
            <a:off x="1756372" y="365125"/>
            <a:ext cx="9597427" cy="7937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Verdana"/>
              <a:buNone/>
            </a:pPr>
            <a:r>
              <a:rPr lang="en-US"/>
              <a:t>RESOURCES</a:t>
            </a:r>
            <a:endParaRPr/>
          </a:p>
        </p:txBody>
      </p:sp>
      <p:sp>
        <p:nvSpPr>
          <p:cNvPr id="369" name="Google Shape;369;p27"/>
          <p:cNvSpPr txBox="1">
            <a:spLocks noGrp="1"/>
          </p:cNvSpPr>
          <p:nvPr>
            <p:ph type="body" idx="1"/>
          </p:nvPr>
        </p:nvSpPr>
        <p:spPr>
          <a:xfrm>
            <a:off x="1376127" y="1548143"/>
            <a:ext cx="9977673" cy="462882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u="sng">
                <a:solidFill>
                  <a:schemeClr val="hlink"/>
                </a:solidFill>
                <a:hlinkClick r:id="rId3"/>
              </a:rPr>
              <a:t>Technical Assistance for Working With Private Schools OES Website</a:t>
            </a:r>
            <a:endParaRPr/>
          </a:p>
          <a:p>
            <a:pPr marL="685800" lvl="1" indent="-228600" algn="l" rtl="0">
              <a:lnSpc>
                <a:spcPct val="90000"/>
              </a:lnSpc>
              <a:spcBef>
                <a:spcPts val="500"/>
              </a:spcBef>
              <a:spcAft>
                <a:spcPts val="0"/>
              </a:spcAft>
              <a:buClr>
                <a:schemeClr val="dk1"/>
              </a:buClr>
              <a:buSzPts val="2400"/>
              <a:buChar char="•"/>
            </a:pPr>
            <a:r>
              <a:rPr lang="en-US"/>
              <a:t>Sample In and Out of District Letters</a:t>
            </a:r>
            <a:endParaRPr/>
          </a:p>
          <a:p>
            <a:pPr marL="685800" lvl="1" indent="-228600" algn="l" rtl="0">
              <a:lnSpc>
                <a:spcPct val="90000"/>
              </a:lnSpc>
              <a:spcBef>
                <a:spcPts val="500"/>
              </a:spcBef>
              <a:spcAft>
                <a:spcPts val="0"/>
              </a:spcAft>
              <a:buClr>
                <a:schemeClr val="dk1"/>
              </a:buClr>
              <a:buSzPts val="2400"/>
              <a:buChar char="•"/>
            </a:pPr>
            <a:r>
              <a:rPr lang="en-US"/>
              <a:t>Documentation of Private School Consultation</a:t>
            </a:r>
            <a:endParaRPr/>
          </a:p>
          <a:p>
            <a:pPr marL="685800" lvl="1" indent="-228600" algn="l" rtl="0">
              <a:lnSpc>
                <a:spcPct val="90000"/>
              </a:lnSpc>
              <a:spcBef>
                <a:spcPts val="500"/>
              </a:spcBef>
              <a:spcAft>
                <a:spcPts val="0"/>
              </a:spcAft>
              <a:buClr>
                <a:schemeClr val="dk1"/>
              </a:buClr>
              <a:buSzPts val="2400"/>
              <a:buChar char="•"/>
            </a:pPr>
            <a:r>
              <a:rPr lang="en-US"/>
              <a:t>Memorandum of Understanding for Private Schools</a:t>
            </a:r>
            <a:endParaRPr/>
          </a:p>
          <a:p>
            <a:pPr marL="685800" lvl="1" indent="-228600" algn="l" rtl="0">
              <a:lnSpc>
                <a:spcPct val="90000"/>
              </a:lnSpc>
              <a:spcBef>
                <a:spcPts val="500"/>
              </a:spcBef>
              <a:spcAft>
                <a:spcPts val="0"/>
              </a:spcAft>
              <a:buClr>
                <a:schemeClr val="dk1"/>
              </a:buClr>
              <a:buSzPts val="2400"/>
              <a:buChar char="•"/>
            </a:pPr>
            <a:r>
              <a:rPr lang="en-US"/>
              <a:t>Title III Consortium Equitable Services Worksheet</a:t>
            </a:r>
            <a:endParaRPr/>
          </a:p>
          <a:p>
            <a:pPr marL="228600" lvl="0" indent="-228600" algn="l" rtl="0">
              <a:lnSpc>
                <a:spcPct val="90000"/>
              </a:lnSpc>
              <a:spcBef>
                <a:spcPts val="1000"/>
              </a:spcBef>
              <a:spcAft>
                <a:spcPts val="0"/>
              </a:spcAft>
              <a:buClr>
                <a:schemeClr val="dk1"/>
              </a:buClr>
              <a:buSzPts val="2000"/>
              <a:buChar char="•"/>
            </a:pPr>
            <a:r>
              <a:rPr lang="en-US" sz="2000" u="sng">
                <a:solidFill>
                  <a:schemeClr val="hlink"/>
                </a:solidFill>
                <a:hlinkClick r:id="rId4"/>
              </a:rPr>
              <a:t>Providing Equitable Services to Eligible Private School Children, Teacher, and Families Non-Regulatory Guidance </a:t>
            </a:r>
            <a:endParaRPr sz="2000"/>
          </a:p>
          <a:p>
            <a:pPr marL="228600" lvl="0" indent="-228600" algn="l" rtl="0">
              <a:lnSpc>
                <a:spcPct val="90000"/>
              </a:lnSpc>
              <a:spcBef>
                <a:spcPts val="1000"/>
              </a:spcBef>
              <a:spcAft>
                <a:spcPts val="0"/>
              </a:spcAft>
              <a:buClr>
                <a:schemeClr val="dk1"/>
              </a:buClr>
              <a:buSzPts val="2000"/>
              <a:buChar char="•"/>
            </a:pPr>
            <a:r>
              <a:rPr lang="en-US" sz="2000" u="sng">
                <a:solidFill>
                  <a:schemeClr val="hlink"/>
                </a:solidFill>
                <a:hlinkClick r:id="rId5"/>
              </a:rPr>
              <a:t>Fiscal Changes and Equitable Servicies Requirements Under ESEA as Amended  by ESSA Non-Regulatory Guidance</a:t>
            </a:r>
            <a:endParaRPr sz="2000"/>
          </a:p>
        </p:txBody>
      </p:sp>
      <p:sp>
        <p:nvSpPr>
          <p:cNvPr id="370" name="Google Shape;370;p27"/>
          <p:cNvSpPr txBox="1">
            <a:spLocks noGrp="1"/>
          </p:cNvSpPr>
          <p:nvPr>
            <p:ph type="dt" idx="10"/>
          </p:nvPr>
        </p:nvSpPr>
        <p:spPr>
          <a:xfrm>
            <a:off x="1376126" y="6356350"/>
            <a:ext cx="2205273"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2/23/2023</a:t>
            </a:r>
            <a:endParaRPr/>
          </a:p>
        </p:txBody>
      </p:sp>
      <p:sp>
        <p:nvSpPr>
          <p:cNvPr id="371" name="Google Shape;371;p27"/>
          <p:cNvSpPr txBox="1">
            <a:spLocks noGrp="1"/>
          </p:cNvSpPr>
          <p:nvPr>
            <p:ph type="ftr" idx="11"/>
          </p:nvPr>
        </p:nvSpPr>
        <p:spPr>
          <a:xfrm>
            <a:off x="3766242" y="6356350"/>
            <a:ext cx="438715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www.michigan.gov/mde</a:t>
            </a:r>
            <a:endParaRPr/>
          </a:p>
        </p:txBody>
      </p:sp>
      <p:sp>
        <p:nvSpPr>
          <p:cNvPr id="372" name="Google Shape;372;p27"/>
          <p:cNvSpPr txBox="1">
            <a:spLocks noGrp="1"/>
          </p:cNvSpPr>
          <p:nvPr>
            <p:ph type="sldNum" idx="12"/>
          </p:nvPr>
        </p:nvSpPr>
        <p:spPr>
          <a:xfrm>
            <a:off x="8347295" y="6356350"/>
            <a:ext cx="63374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6"/>
        <p:cNvGrpSpPr/>
        <p:nvPr/>
      </p:nvGrpSpPr>
      <p:grpSpPr>
        <a:xfrm>
          <a:off x="0" y="0"/>
          <a:ext cx="0" cy="0"/>
          <a:chOff x="0" y="0"/>
          <a:chExt cx="0" cy="0"/>
        </a:xfrm>
      </p:grpSpPr>
      <p:sp>
        <p:nvSpPr>
          <p:cNvPr id="377" name="Google Shape;377;p28"/>
          <p:cNvSpPr/>
          <p:nvPr/>
        </p:nvSpPr>
        <p:spPr>
          <a:xfrm>
            <a:off x="638175" y="0"/>
            <a:ext cx="3248025" cy="3400426"/>
          </a:xfrm>
          <a:prstGeom prst="flowChartDocument">
            <a:avLst/>
          </a:prstGeom>
          <a:solidFill>
            <a:srgbClr val="3248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Verdana"/>
              <a:ea typeface="Verdana"/>
              <a:cs typeface="Verdana"/>
              <a:sym typeface="Verdana"/>
            </a:endParaRPr>
          </a:p>
        </p:txBody>
      </p:sp>
      <p:sp>
        <p:nvSpPr>
          <p:cNvPr id="378" name="Google Shape;378;p28"/>
          <p:cNvSpPr txBox="1">
            <a:spLocks noGrp="1"/>
          </p:cNvSpPr>
          <p:nvPr>
            <p:ph type="title"/>
          </p:nvPr>
        </p:nvSpPr>
        <p:spPr>
          <a:xfrm>
            <a:off x="838200" y="171162"/>
            <a:ext cx="2840182" cy="237114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200"/>
              <a:buFont typeface="Verdana"/>
              <a:buNone/>
            </a:pPr>
            <a:r>
              <a:rPr lang="en-US" sz="3200">
                <a:solidFill>
                  <a:srgbClr val="FFFFFF"/>
                </a:solidFill>
                <a:latin typeface="Verdana"/>
                <a:ea typeface="Verdana"/>
                <a:cs typeface="Verdana"/>
                <a:sym typeface="Verdana"/>
              </a:rPr>
              <a:t>QUESTIONS</a:t>
            </a:r>
            <a:endParaRPr/>
          </a:p>
        </p:txBody>
      </p:sp>
      <p:pic>
        <p:nvPicPr>
          <p:cNvPr id="379" name="Google Shape;379;p28" descr="Icon&#10;&#10;Description automatically generated"/>
          <p:cNvPicPr preferRelativeResize="0">
            <a:picLocks noGrp="1"/>
          </p:cNvPicPr>
          <p:nvPr>
            <p:ph type="body" idx="1"/>
          </p:nvPr>
        </p:nvPicPr>
        <p:blipFill rotWithShape="1">
          <a:blip r:embed="rId3">
            <a:alphaModFix/>
          </a:blip>
          <a:srcRect/>
          <a:stretch/>
        </p:blipFill>
        <p:spPr>
          <a:xfrm>
            <a:off x="4204382" y="1614081"/>
            <a:ext cx="7347537" cy="4371783"/>
          </a:xfrm>
          <a:prstGeom prst="rect">
            <a:avLst/>
          </a:prstGeom>
          <a:noFill/>
          <a:ln>
            <a:noFill/>
          </a:ln>
        </p:spPr>
      </p:pic>
      <p:sp>
        <p:nvSpPr>
          <p:cNvPr id="380" name="Google Shape;380;p28"/>
          <p:cNvSpPr txBox="1">
            <a:spLocks noGrp="1"/>
          </p:cNvSpPr>
          <p:nvPr>
            <p:ph type="ftr" idx="11"/>
          </p:nvPr>
        </p:nvSpPr>
        <p:spPr>
          <a:xfrm>
            <a:off x="838200" y="6356350"/>
            <a:ext cx="5960951" cy="36512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a:solidFill>
                  <a:srgbClr val="888888"/>
                </a:solidFill>
                <a:latin typeface="Verdana"/>
                <a:ea typeface="Verdana"/>
                <a:cs typeface="Verdana"/>
                <a:sym typeface="Verdana"/>
              </a:rPr>
              <a:t>www.michigan.gov/mde</a:t>
            </a:r>
            <a:endParaRPr/>
          </a:p>
        </p:txBody>
      </p:sp>
      <p:sp>
        <p:nvSpPr>
          <p:cNvPr id="381" name="Google Shape;381;p28"/>
          <p:cNvSpPr txBox="1">
            <a:spLocks noGrp="1"/>
          </p:cNvSpPr>
          <p:nvPr>
            <p:ph type="dt" idx="10"/>
          </p:nvPr>
        </p:nvSpPr>
        <p:spPr>
          <a:xfrm>
            <a:off x="8047083" y="6356350"/>
            <a:ext cx="2556791"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r>
              <a:rPr lang="en-US"/>
              <a:t>2/23/2023</a:t>
            </a:r>
            <a:endParaRPr/>
          </a:p>
        </p:txBody>
      </p:sp>
      <p:sp>
        <p:nvSpPr>
          <p:cNvPr id="382" name="Google Shape;382;p28"/>
          <p:cNvSpPr txBox="1">
            <a:spLocks noGrp="1"/>
          </p:cNvSpPr>
          <p:nvPr>
            <p:ph type="sldNum" idx="12"/>
          </p:nvPr>
        </p:nvSpPr>
        <p:spPr>
          <a:xfrm>
            <a:off x="10926476" y="6356350"/>
            <a:ext cx="625443" cy="36512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fld id="{00000000-1234-1234-1234-123412341234}" type="slidenum">
              <a:rPr lang="en-US"/>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0E16C-602F-073E-1FC1-981E09B50D95}"/>
              </a:ext>
            </a:extLst>
          </p:cNvPr>
          <p:cNvSpPr>
            <a:spLocks noGrp="1"/>
          </p:cNvSpPr>
          <p:nvPr>
            <p:ph type="title"/>
          </p:nvPr>
        </p:nvSpPr>
        <p:spPr/>
        <p:txBody>
          <a:bodyPr/>
          <a:lstStyle/>
          <a:p>
            <a:r>
              <a:rPr lang="en-US" dirty="0"/>
              <a:t>Contact Information</a:t>
            </a:r>
          </a:p>
        </p:txBody>
      </p:sp>
      <p:sp>
        <p:nvSpPr>
          <p:cNvPr id="3" name="Text Placeholder 2">
            <a:extLst>
              <a:ext uri="{FF2B5EF4-FFF2-40B4-BE49-F238E27FC236}">
                <a16:creationId xmlns:a16="http://schemas.microsoft.com/office/drawing/2014/main" id="{3C803222-04F3-FABE-7F15-ECFE929D1FAA}"/>
              </a:ext>
            </a:extLst>
          </p:cNvPr>
          <p:cNvSpPr>
            <a:spLocks noGrp="1"/>
          </p:cNvSpPr>
          <p:nvPr>
            <p:ph type="body" idx="1"/>
          </p:nvPr>
        </p:nvSpPr>
        <p:spPr/>
        <p:txBody>
          <a:bodyPr/>
          <a:lstStyle/>
          <a:p>
            <a:pPr marL="114300" indent="0">
              <a:buNone/>
            </a:pPr>
            <a:r>
              <a:rPr lang="en-US" dirty="0"/>
              <a:t>Andrea Rogers</a:t>
            </a:r>
          </a:p>
          <a:p>
            <a:pPr marL="114300" indent="0">
              <a:buNone/>
            </a:pPr>
            <a:r>
              <a:rPr lang="en-US" dirty="0"/>
              <a:t>Regional Education Consultant</a:t>
            </a:r>
          </a:p>
          <a:p>
            <a:pPr marL="114300" indent="0">
              <a:buNone/>
            </a:pPr>
            <a:r>
              <a:rPr lang="en-US" dirty="0"/>
              <a:t>Office of Educational Supports</a:t>
            </a:r>
          </a:p>
          <a:p>
            <a:pPr marL="114300" indent="0">
              <a:buNone/>
            </a:pPr>
            <a:endParaRPr lang="en-US" dirty="0"/>
          </a:p>
          <a:p>
            <a:pPr marL="114300" indent="0">
              <a:buNone/>
            </a:pPr>
            <a:r>
              <a:rPr lang="en-US" dirty="0">
                <a:hlinkClick r:id="rId3"/>
              </a:rPr>
              <a:t>RogersA19@michigan.gov</a:t>
            </a:r>
            <a:endParaRPr lang="en-US" dirty="0"/>
          </a:p>
          <a:p>
            <a:pPr marL="114300" indent="0">
              <a:buNone/>
            </a:pPr>
            <a:r>
              <a:rPr lang="en-US" dirty="0"/>
              <a:t>517-243-7191</a:t>
            </a:r>
          </a:p>
        </p:txBody>
      </p:sp>
      <p:sp>
        <p:nvSpPr>
          <p:cNvPr id="4" name="Slide Number Placeholder 3">
            <a:extLst>
              <a:ext uri="{FF2B5EF4-FFF2-40B4-BE49-F238E27FC236}">
                <a16:creationId xmlns:a16="http://schemas.microsoft.com/office/drawing/2014/main" id="{68AB7363-8E55-20EE-E42B-6933D5CA897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Tree>
    <p:extLst>
      <p:ext uri="{BB962C8B-B14F-4D97-AF65-F5344CB8AC3E}">
        <p14:creationId xmlns:p14="http://schemas.microsoft.com/office/powerpoint/2010/main" val="91226566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06D5CF27024784492915A20DBC98732" ma:contentTypeVersion="15" ma:contentTypeDescription="Create a new document." ma:contentTypeScope="" ma:versionID="4c9ff6e54b9d9779da681fe4036e8224">
  <xsd:schema xmlns:xsd="http://www.w3.org/2001/XMLSchema" xmlns:xs="http://www.w3.org/2001/XMLSchema" xmlns:p="http://schemas.microsoft.com/office/2006/metadata/properties" xmlns:ns3="e9069f4c-2351-45e3-876c-5e6656c5cccd" xmlns:ns4="4711857c-a598-4da0-a3aa-097235a1eec7" targetNamespace="http://schemas.microsoft.com/office/2006/metadata/properties" ma:root="true" ma:fieldsID="8cc244676b7ba91acbeedce7cbedd18c" ns3:_="" ns4:_="">
    <xsd:import namespace="e9069f4c-2351-45e3-876c-5e6656c5cccd"/>
    <xsd:import namespace="4711857c-a598-4da0-a3aa-097235a1eec7"/>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OCR" minOccurs="0"/>
                <xsd:element ref="ns4:MediaServiceDateTaken" minOccurs="0"/>
                <xsd:element ref="ns4:MediaLengthInSeconds" minOccurs="0"/>
                <xsd:element ref="ns4:_activity" minOccurs="0"/>
                <xsd:element ref="ns4:MediaServiceObjectDetectorVersions" minOccurs="0"/>
                <xsd:element ref="ns4:MediaServiceSystemTag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069f4c-2351-45e3-876c-5e6656c5ccc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711857c-a598-4da0-a3aa-097235a1eec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4711857c-a598-4da0-a3aa-097235a1eec7" xsi:nil="true"/>
  </documentManagement>
</p:properties>
</file>

<file path=customXml/itemProps1.xml><?xml version="1.0" encoding="utf-8"?>
<ds:datastoreItem xmlns:ds="http://schemas.openxmlformats.org/officeDocument/2006/customXml" ds:itemID="{52214BEA-F503-4B3D-8C14-F2F2EFB734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069f4c-2351-45e3-876c-5e6656c5cccd"/>
    <ds:schemaRef ds:uri="4711857c-a598-4da0-a3aa-097235a1ee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78A121F-8627-425E-AB32-708A2598611F}">
  <ds:schemaRefs>
    <ds:schemaRef ds:uri="http://schemas.microsoft.com/sharepoint/v3/contenttype/forms"/>
  </ds:schemaRefs>
</ds:datastoreItem>
</file>

<file path=customXml/itemProps3.xml><?xml version="1.0" encoding="utf-8"?>
<ds:datastoreItem xmlns:ds="http://schemas.openxmlformats.org/officeDocument/2006/customXml" ds:itemID="{623D9CD3-9770-4C1F-B18E-2C8FB7E7BD6A}">
  <ds:schemaRefs>
    <ds:schemaRef ds:uri="http://schemas.microsoft.com/office/infopath/2007/PartnerControls"/>
    <ds:schemaRef ds:uri="http://purl.org/dc/elements/1.1/"/>
    <ds:schemaRef ds:uri="http://schemas.microsoft.com/office/2006/documentManagement/types"/>
    <ds:schemaRef ds:uri="http://purl.org/dc/terms/"/>
    <ds:schemaRef ds:uri="http://schemas.openxmlformats.org/package/2006/metadata/core-properties"/>
    <ds:schemaRef ds:uri="4711857c-a598-4da0-a3aa-097235a1eec7"/>
    <ds:schemaRef ds:uri="http://purl.org/dc/dcmitype/"/>
    <ds:schemaRef ds:uri="e9069f4c-2351-45e3-876c-5e6656c5cccd"/>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7275</TotalTime>
  <Words>4152</Words>
  <Application>Microsoft Office PowerPoint</Application>
  <PresentationFormat>Widescreen</PresentationFormat>
  <Paragraphs>375</Paragraphs>
  <Slides>42</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Noto Sans Symbols</vt:lpstr>
      <vt:lpstr>Verdana</vt:lpstr>
      <vt:lpstr>Office Theme</vt:lpstr>
      <vt:lpstr>ESEA Equitable Services Requirements </vt:lpstr>
      <vt:lpstr>Why Do Private Schools Participate in Federal Funding?</vt:lpstr>
      <vt:lpstr>Equitable Services: 6 Key Points</vt:lpstr>
      <vt:lpstr>Key Point #1 Equitable Participation</vt:lpstr>
      <vt:lpstr>Title I, Part A</vt:lpstr>
      <vt:lpstr>Equitable Services Defined</vt:lpstr>
      <vt:lpstr>Requirements of ALL LEAs</vt:lpstr>
      <vt:lpstr>Requirements of all LEAs cont.</vt:lpstr>
      <vt:lpstr>When a private school says yes…</vt:lpstr>
      <vt:lpstr>Key Point #2: Consultation</vt:lpstr>
      <vt:lpstr>Consultation</vt:lpstr>
      <vt:lpstr>Consultation</vt:lpstr>
      <vt:lpstr>MDE Consultation Requirements</vt:lpstr>
      <vt:lpstr>Questions?</vt:lpstr>
      <vt:lpstr>Title IA Equitable Services – Generating the Funding</vt:lpstr>
      <vt:lpstr>What does this mean?</vt:lpstr>
      <vt:lpstr>Determining Private School Low-Income Count  </vt:lpstr>
      <vt:lpstr>Determining Private School Low-Income Count</vt:lpstr>
      <vt:lpstr>Title VIII Equitable Services (IC, IIA, III, IV) Generating the Funding  </vt:lpstr>
      <vt:lpstr>Student Eligibility: Title I, Part A</vt:lpstr>
      <vt:lpstr>Student Eligibility: Title I, Part A</vt:lpstr>
      <vt:lpstr>Student Eligibility: Title VIII</vt:lpstr>
      <vt:lpstr>Equitable Share</vt:lpstr>
      <vt:lpstr>Questions?</vt:lpstr>
      <vt:lpstr>Key Point #4: LEA’s Responsibility</vt:lpstr>
      <vt:lpstr>Key Point #5: Characteristics of Services</vt:lpstr>
      <vt:lpstr>Key Point #6: Formal Complaint</vt:lpstr>
      <vt:lpstr>MDE Equitable Services Ombudsman</vt:lpstr>
      <vt:lpstr>Important Considerations</vt:lpstr>
      <vt:lpstr>Important Considerations Cont.</vt:lpstr>
      <vt:lpstr>Evidence of Communication</vt:lpstr>
      <vt:lpstr>Important Considerations, Cont.</vt:lpstr>
      <vt:lpstr>Frequently Asked Questions</vt:lpstr>
      <vt:lpstr>What types of services are available for private school participants?</vt:lpstr>
      <vt:lpstr>What types of services are available for private school participants?</vt:lpstr>
      <vt:lpstr>FAQs Continued</vt:lpstr>
      <vt:lpstr>FAQs Continued </vt:lpstr>
      <vt:lpstr>FAQs Continued  </vt:lpstr>
      <vt:lpstr>FAQs Continued</vt:lpstr>
      <vt:lpstr>RESOURCES</vt:lpstr>
      <vt:lpstr>QUESTIONS</vt:lpstr>
      <vt:lpstr>Contact Information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Lopez, Christi (MDE)</dc:creator>
  <cp:lastModifiedBy>Rogers, Andrea (MDE)</cp:lastModifiedBy>
  <cp:revision>1</cp:revision>
  <dcterms:created xsi:type="dcterms:W3CDTF">2020-01-13T15:25:15Z</dcterms:created>
  <dcterms:modified xsi:type="dcterms:W3CDTF">2025-09-30T16:15:49Z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0x010100B06D5CF27024784492915A20DBC98732</vt:lpwstr>
  </property>
  <property fmtid="{D5CDD505-2E9C-101B-9397-08002B2CF9AE}" pid="3" name="MSIP_Label_3a2fed65-62e7-46ea-af74-187e0c17143a_Enabled">
    <vt:lpwstr>true</vt:lpwstr>
  </property>
  <property fmtid="{D5CDD505-2E9C-101B-9397-08002B2CF9AE}" pid="4" name="MSIP_Label_3a2fed65-62e7-46ea-af74-187e0c17143a_SetDate">
    <vt:lpwstr>2023-02-21T17:50:39Z</vt:lpwstr>
  </property>
  <property fmtid="{D5CDD505-2E9C-101B-9397-08002B2CF9AE}" pid="5" name="MSIP_Label_3a2fed65-62e7-46ea-af74-187e0c17143a_Method">
    <vt:lpwstr>Privileged</vt:lpwstr>
  </property>
  <property fmtid="{D5CDD505-2E9C-101B-9397-08002B2CF9AE}" pid="6" name="MSIP_Label_3a2fed65-62e7-46ea-af74-187e0c17143a_Name">
    <vt:lpwstr>3a2fed65-62e7-46ea-af74-187e0c17143a</vt:lpwstr>
  </property>
  <property fmtid="{D5CDD505-2E9C-101B-9397-08002B2CF9AE}" pid="7" name="MSIP_Label_3a2fed65-62e7-46ea-af74-187e0c17143a_SiteId">
    <vt:lpwstr>d5fb7087-3777-42ad-966a-892ef47225d1</vt:lpwstr>
  </property>
  <property fmtid="{D5CDD505-2E9C-101B-9397-08002B2CF9AE}" pid="8" name="MSIP_Label_3a2fed65-62e7-46ea-af74-187e0c17143a_ActionId">
    <vt:lpwstr>bcc4b205-bad6-4b9d-a65b-7c6cd25a1adb</vt:lpwstr>
  </property>
  <property fmtid="{D5CDD505-2E9C-101B-9397-08002B2CF9AE}" pid="9" name="MSIP_Label_3a2fed65-62e7-46ea-af74-187e0c17143a_ContentBits">
    <vt:lpwstr>0</vt:lpwstr>
  </property>
</Properties>
</file>