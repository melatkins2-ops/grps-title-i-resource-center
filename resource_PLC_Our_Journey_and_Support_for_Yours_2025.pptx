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Dosis"/>
      <p:regular r:id="rId50"/>
      <p:bold r:id="rId51"/>
    </p:embeddedFont>
    <p:embeddedFont>
      <p:font typeface="Raleway"/>
      <p:regular r:id="rId52"/>
      <p:bold r:id="rId53"/>
      <p:italic r:id="rId54"/>
      <p:boldItalic r:id="rId55"/>
    </p:embeddedFont>
    <p:embeddedFont>
      <p:font typeface="Roboto"/>
      <p:regular r:id="rId56"/>
      <p:bold r:id="rId57"/>
      <p:italic r:id="rId58"/>
      <p:boldItalic r:id="rId59"/>
    </p:embeddedFont>
    <p:embeddedFont>
      <p:font typeface="Lato"/>
      <p:regular r:id="rId60"/>
      <p:bold r:id="rId61"/>
      <p:italic r:id="rId62"/>
      <p:boldItalic r:id="rId63"/>
    </p:embeddedFont>
    <p:embeddedFont>
      <p:font typeface="Alegreya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Lato-italic.fntdata"/><Relationship Id="rId61" Type="http://schemas.openxmlformats.org/officeDocument/2006/relationships/font" Target="fonts/Lato-bold.fntdata"/><Relationship Id="rId20" Type="http://schemas.openxmlformats.org/officeDocument/2006/relationships/slide" Target="slides/slide15.xml"/><Relationship Id="rId64" Type="http://schemas.openxmlformats.org/officeDocument/2006/relationships/font" Target="fonts/Alegreya-regular.fntdata"/><Relationship Id="rId63" Type="http://schemas.openxmlformats.org/officeDocument/2006/relationships/font" Target="fonts/Lato-boldItalic.fntdata"/><Relationship Id="rId22" Type="http://schemas.openxmlformats.org/officeDocument/2006/relationships/slide" Target="slides/slide17.xml"/><Relationship Id="rId66" Type="http://schemas.openxmlformats.org/officeDocument/2006/relationships/font" Target="fonts/Alegreya-italic.fntdata"/><Relationship Id="rId21" Type="http://schemas.openxmlformats.org/officeDocument/2006/relationships/slide" Target="slides/slide16.xml"/><Relationship Id="rId65" Type="http://schemas.openxmlformats.org/officeDocument/2006/relationships/font" Target="fonts/Alegreya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schemas.openxmlformats.org/officeDocument/2006/relationships/font" Target="fonts/Alegreya-boldItalic.fntdata"/><Relationship Id="rId60" Type="http://schemas.openxmlformats.org/officeDocument/2006/relationships/font" Target="fonts/Lato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Dosis-bold.fntdata"/><Relationship Id="rId50" Type="http://schemas.openxmlformats.org/officeDocument/2006/relationships/font" Target="fonts/Dosis-regular.fntdata"/><Relationship Id="rId53" Type="http://schemas.openxmlformats.org/officeDocument/2006/relationships/font" Target="fonts/Raleway-bold.fntdata"/><Relationship Id="rId52" Type="http://schemas.openxmlformats.org/officeDocument/2006/relationships/font" Target="fonts/Raleway-regular.fntdata"/><Relationship Id="rId11" Type="http://schemas.openxmlformats.org/officeDocument/2006/relationships/slide" Target="slides/slide6.xml"/><Relationship Id="rId55" Type="http://schemas.openxmlformats.org/officeDocument/2006/relationships/font" Target="fonts/Raleway-boldItalic.fntdata"/><Relationship Id="rId10" Type="http://schemas.openxmlformats.org/officeDocument/2006/relationships/slide" Target="slides/slide5.xml"/><Relationship Id="rId54" Type="http://schemas.openxmlformats.org/officeDocument/2006/relationships/font" Target="fonts/Raleway-italic.fntdata"/><Relationship Id="rId13" Type="http://schemas.openxmlformats.org/officeDocument/2006/relationships/slide" Target="slides/slide8.xml"/><Relationship Id="rId57" Type="http://schemas.openxmlformats.org/officeDocument/2006/relationships/font" Target="fonts/Roboto-bold.fntdata"/><Relationship Id="rId12" Type="http://schemas.openxmlformats.org/officeDocument/2006/relationships/slide" Target="slides/slide7.xml"/><Relationship Id="rId56" Type="http://schemas.openxmlformats.org/officeDocument/2006/relationships/font" Target="fonts/Roboto-regular.fntdata"/><Relationship Id="rId15" Type="http://schemas.openxmlformats.org/officeDocument/2006/relationships/slide" Target="slides/slide10.xml"/><Relationship Id="rId59" Type="http://schemas.openxmlformats.org/officeDocument/2006/relationships/font" Target="fonts/Roboto-boldItalic.fntdata"/><Relationship Id="rId14" Type="http://schemas.openxmlformats.org/officeDocument/2006/relationships/slide" Target="slides/slide9.xml"/><Relationship Id="rId58" Type="http://schemas.openxmlformats.org/officeDocument/2006/relationships/font" Target="fonts/Robot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c0c3d1c37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c0c3d1c37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f788ed50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f788ed50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685a2e2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685a2e2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a63a1c66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a63a1c66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a63a1c66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a63a1c66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a63a1c66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a63a1c66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a63a1c66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a63a1c66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a63a1c66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a63a1c66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f788ed5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4f788ed5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caebe76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caebe76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a63a1c66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a63a1c66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9bd153b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9bd153b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cut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9bd153b7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9bd153b7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9bd153b7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9bd153b7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9bd153b7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9bd153b7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9bd153b7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49bd153b7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9bd153b7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49bd153b7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4fe33c0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4fe33c0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4a4fe33c04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4a4fe33c04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a4fe33c04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4a4fe33c04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4a4fe33c04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4a4fe33c04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4a4fe33c04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4a4fe33c04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4a4fe33c04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4a4fe33c04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4a4fe33c04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4a4fe33c04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4a4fe33c04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4a4fe33c04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4f978f3d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4f978f3d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4a6ed769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4a6ed769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4a6ed7690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4a6ed7690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c0c3d1c37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c0c3d1c37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c0c3d1c37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c0c3d1c37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c0c3d1c37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c0c3d1c37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c0c3d1c370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c0c3d1c370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f6a9e525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f6a9e525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c0c3d1c37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c0c3d1c37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0376f013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0376f013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0376f0136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0376f0136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4f788ed50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4f788ed50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4f788ed50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4f788ed50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4f788ed50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4f788ed50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0376f0136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0376f0136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4685ac270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4685ac270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4685ac270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4685ac270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f6a9e525a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f6a9e525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file/d/1G4k8lkZCb4Fkrn4qGJIZsCLijpnGSumv/view?usp=drive_link" TargetMode="External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presentation/d/1Kl2ad7pVG9AdvM4PH5-PSRY5wK_YNdmxVkE4JikHMbA/edit?usp=sharing" TargetMode="External"/><Relationship Id="rId4" Type="http://schemas.openxmlformats.org/officeDocument/2006/relationships/hyperlink" Target="https://docs.google.com/document/d/1pojVyC-nkWzGQq3Xy9AnW3Z_WpHrtOKtg5iiIFKled4/edit?usp=sharing" TargetMode="External"/><Relationship Id="rId5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document/d/11ubIRVNBhaDExXSI4aHCZ0ghye55d05JFbanexL3jpY/edit?usp=sharing" TargetMode="External"/><Relationship Id="rId4" Type="http://schemas.openxmlformats.org/officeDocument/2006/relationships/hyperlink" Target="https://drive.google.com/file/d/1EjyC9VzsFZm64swV1hjkzVwHDzlLkE3-/view?usp=sharing" TargetMode="External"/><Relationship Id="rId5" Type="http://schemas.openxmlformats.org/officeDocument/2006/relationships/hyperlink" Target="https://docs.google.com/presentation/d/1iZWagMuUtzYsxD-D85PsodYGBSEbI3aql1c6cgzJL6M/edit?usp=sharing" TargetMode="External"/><Relationship Id="rId6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spreadsheets/d/1G48KIKPOwyOdWZwen6bT-th0ppo1ua0ecqOQbGd2mn0/edit?usp=sharing" TargetMode="External"/><Relationship Id="rId4" Type="http://schemas.openxmlformats.org/officeDocument/2006/relationships/hyperlink" Target="https://docs.google.com/document/d/14ZaCJqfJxpAZ17aH2Gyiul_32H9lZT8Mldox6TPZhxU/edit?usp=sharing" TargetMode="External"/><Relationship Id="rId5" Type="http://schemas.openxmlformats.org/officeDocument/2006/relationships/image" Target="../media/image1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ocs.google.com/document/d/1KgGsSrxaZrpuyH1paJhELeuqWzPIRVPLquHzghGCfT4/edit" TargetMode="External"/><Relationship Id="rId4" Type="http://schemas.openxmlformats.org/officeDocument/2006/relationships/hyperlink" Target="https://docs.google.com/document/d/1Yz3RuQNXvOldwaaw5VZnI3z0MGHNpvp0OVa2zZchbcA/edit" TargetMode="External"/><Relationship Id="rId5" Type="http://schemas.openxmlformats.org/officeDocument/2006/relationships/hyperlink" Target="https://docs.google.com/document/d/1xzJ85jZOzu9C78fIo7fK6PxfUQnXOA7qWEraMpDigWU/edit?usp=sharing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rive.google.com/file/d/1fBF5C5shIZcJcnDX-v9OY-N1omDx-iQs/view?usp=sharing" TargetMode="External"/><Relationship Id="rId4" Type="http://schemas.openxmlformats.org/officeDocument/2006/relationships/hyperlink" Target="https://docs.google.com/document/d/1tMwh0_y7xjWKuUMi_MbcV_yqklY-axYXEpkXEYSnlHE/edit?usp=sharing" TargetMode="External"/><Relationship Id="rId5" Type="http://schemas.openxmlformats.org/officeDocument/2006/relationships/hyperlink" Target="https://docs.google.com/document/d/17wEMFaX1YanEnItkJ1mFCYNxpFu_0Vww/edit?usp=sharing&amp;ouid=116769730982639171715&amp;rtpof=true&amp;sd=true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mailto:mark.french@mybedford.us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A0115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31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20"/>
              <a:t>Professional Learning Communities</a:t>
            </a:r>
            <a:r>
              <a:rPr lang="en" sz="3920"/>
              <a:t>: </a:t>
            </a:r>
            <a:endParaRPr sz="3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920"/>
              <a:t>Our Journey and Support for Yours</a:t>
            </a:r>
            <a:endParaRPr i="1" sz="2920"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283125" y="2776375"/>
            <a:ext cx="6331500" cy="17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5500" u="sng"/>
              <a:t>Presented by:</a:t>
            </a:r>
            <a:endParaRPr b="1" i="1" sz="55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5500"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/>
              <a:t>Dr. Mark W. French, </a:t>
            </a:r>
            <a:r>
              <a:rPr b="1" i="1" lang="en" sz="5500"/>
              <a:t>Assistant Superintendent, Bedford Public Schools</a:t>
            </a:r>
            <a:endParaRPr b="1" i="1" sz="5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/>
              <a:t>Mrs. Sherry Farnan, </a:t>
            </a:r>
            <a:r>
              <a:rPr b="1" i="1" lang="en" sz="5500"/>
              <a:t>Principal, Jackman Road Elementary School</a:t>
            </a:r>
            <a:endParaRPr b="1" i="1" sz="5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/>
              <a:t>Mr. Roderick Hurley, </a:t>
            </a:r>
            <a:r>
              <a:rPr b="1" i="1" lang="en" sz="5500"/>
              <a:t>Principal, Bedford Junior High School</a:t>
            </a:r>
            <a:endParaRPr b="1" i="1" sz="5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/>
              <a:t>Mr. Kevin Weber, </a:t>
            </a:r>
            <a:r>
              <a:rPr b="1" i="1" lang="en" sz="5500"/>
              <a:t>Principal, Bedford Senior High School</a:t>
            </a:r>
            <a:endParaRPr b="1" i="1" sz="5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  <p:pic>
        <p:nvPicPr>
          <p:cNvPr id="74" name="Google Shape;74;p13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5486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</a:t>
            </a:r>
            <a:r>
              <a:rPr lang="en">
                <a:highlight>
                  <a:srgbClr val="E06666"/>
                </a:highlight>
              </a:rPr>
              <a:t>OUTCOMES</a:t>
            </a:r>
            <a:r>
              <a:rPr lang="en"/>
              <a:t>…</a:t>
            </a:r>
            <a:endParaRPr/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4178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b="1" lang="en" sz="2300"/>
              <a:t>Learn/Know important PLC Definitions</a:t>
            </a:r>
            <a:endParaRPr b="1" sz="2300"/>
          </a:p>
          <a:p>
            <a:pPr indent="-34178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b="1" lang="en" sz="2300"/>
              <a:t>Describe the background and process for our district and schools becoming PLCs</a:t>
            </a:r>
            <a:endParaRPr b="1" sz="2300"/>
          </a:p>
          <a:p>
            <a:pPr indent="-34178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b="1" lang="en" sz="2300"/>
              <a:t>Describe how PLC dispositions and processes have been implemented at each grade level span</a:t>
            </a:r>
            <a:endParaRPr b="1" sz="2300"/>
          </a:p>
          <a:p>
            <a:pPr indent="-34178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b="1" lang="en" sz="2300"/>
              <a:t>What does the data tell us about the impact of our PLC journey?</a:t>
            </a:r>
            <a:endParaRPr b="1" sz="2300"/>
          </a:p>
          <a:p>
            <a:pPr indent="-34178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b="1" lang="en" sz="2300"/>
              <a:t>What are the remaining/ongoing challenges for our journey?</a:t>
            </a:r>
            <a:endParaRPr b="1" sz="2300"/>
          </a:p>
          <a:p>
            <a:pPr indent="-34178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b="1" lang="en" sz="2300"/>
              <a:t>Questions and Support</a:t>
            </a:r>
            <a:endParaRPr b="1" sz="2300"/>
          </a:p>
        </p:txBody>
      </p:sp>
      <p:pic>
        <p:nvPicPr>
          <p:cNvPr id="81" name="Google Shape;81;p14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5486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PLC FOCUS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Arial"/>
              <a:buNone/>
            </a:pPr>
            <a:r>
              <a:rPr b="1" lang="en" sz="2500">
                <a:latin typeface="Dosis"/>
                <a:ea typeface="Dosis"/>
                <a:cs typeface="Dosis"/>
                <a:sym typeface="Dosis"/>
              </a:rPr>
              <a:t>“[Great organizations] simplify a complex world into a single organizing idea, a basic principle, or concept that unifies and guides everything.... [They] see what is essential, and ignore the rest.” —Jim Collins, 2001</a:t>
            </a:r>
            <a:endParaRPr/>
          </a:p>
        </p:txBody>
      </p:sp>
      <p:pic>
        <p:nvPicPr>
          <p:cNvPr id="88" name="Google Shape;88;p15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5486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PLC Definitions</a:t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2400262" y="15689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 u="sng"/>
              <a:t>What IS a PLC?</a:t>
            </a:r>
            <a:endParaRPr b="1" i="1" sz="2200"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Elbow partner…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15-30 second ‘elevator pitch’....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/>
              <a:t>Take turns…</a:t>
            </a:r>
            <a:endParaRPr sz="2200"/>
          </a:p>
        </p:txBody>
      </p:sp>
      <p:pic>
        <p:nvPicPr>
          <p:cNvPr id="95" name="Google Shape;95;p16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5486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PLC: Definition</a:t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2410100" y="1211350"/>
            <a:ext cx="6321600" cy="3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highlight>
                  <a:srgbClr val="FFFFFF"/>
                </a:highlight>
              </a:rPr>
              <a:t>A </a:t>
            </a:r>
            <a:r>
              <a:rPr b="1" i="1" lang="en" sz="1700" u="sng">
                <a:highlight>
                  <a:srgbClr val="EA9999"/>
                </a:highlight>
              </a:rPr>
              <a:t>Professional Learning Community</a:t>
            </a:r>
            <a:r>
              <a:rPr b="1" i="1" lang="en" sz="1500">
                <a:highlight>
                  <a:srgbClr val="FFFFFF"/>
                </a:highlight>
              </a:rPr>
              <a:t> is an ongoing (never ending) process in which educators work collaboratively in recurring cycles of collective inquiry (‘Four Question Cycles’) and action research to achieve better results for the students they serve</a:t>
            </a:r>
            <a:r>
              <a:rPr b="1" lang="en" sz="1500">
                <a:highlight>
                  <a:srgbClr val="FFFFFF"/>
                </a:highlight>
              </a:rPr>
              <a:t>. </a:t>
            </a:r>
            <a:endParaRPr b="1" sz="15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highlight>
                  <a:srgbClr val="FFFFFF"/>
                </a:highlight>
              </a:rPr>
              <a:t>PLCs operate under the assumption that the key to improved learning for students is </a:t>
            </a:r>
            <a:r>
              <a:rPr b="1" i="1" lang="en" sz="1500" u="sng">
                <a:highlight>
                  <a:srgbClr val="FFFFFF"/>
                </a:highlight>
              </a:rPr>
              <a:t>continuous job-embedded learning</a:t>
            </a:r>
            <a:r>
              <a:rPr b="1" lang="en" sz="1500">
                <a:highlight>
                  <a:srgbClr val="FFFFFF"/>
                </a:highlight>
              </a:rPr>
              <a:t> for educators.</a:t>
            </a:r>
            <a:endParaRPr sz="2100"/>
          </a:p>
        </p:txBody>
      </p:sp>
      <p:pic>
        <p:nvPicPr>
          <p:cNvPr id="102" name="Google Shape;102;p17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5486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PLC: THREE Big Ideas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228600" lvl="0" marL="457200" rtl="0" algn="l">
              <a:lnSpc>
                <a:spcPct val="1375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None/>
            </a:pPr>
            <a:r>
              <a:rPr b="1" lang="en" sz="5600">
                <a:highlight>
                  <a:srgbClr val="FFFFFF"/>
                </a:highlight>
              </a:rPr>
              <a:t>Focus on Learning:</a:t>
            </a:r>
            <a:br>
              <a:rPr b="1" lang="en" sz="5600">
                <a:highlight>
                  <a:srgbClr val="FFFFFF"/>
                </a:highlight>
              </a:rPr>
            </a:br>
            <a:r>
              <a:rPr lang="en" sz="5600">
                <a:highlight>
                  <a:srgbClr val="FFFFFF"/>
                </a:highlight>
              </a:rPr>
              <a:t>The primary purpose of a PLC is to ensure that all students learn at high levels, with a focus on what students should know and be able to do.</a:t>
            </a:r>
            <a:endParaRPr sz="5600">
              <a:highlight>
                <a:srgbClr val="FFFFFF"/>
              </a:highlight>
            </a:endParaRPr>
          </a:p>
          <a:p>
            <a:pPr indent="-2286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None/>
            </a:pPr>
            <a:r>
              <a:t/>
            </a:r>
            <a:endParaRPr sz="5600">
              <a:highlight>
                <a:srgbClr val="FFFFFF"/>
              </a:highlight>
            </a:endParaRPr>
          </a:p>
          <a:p>
            <a:pPr indent="-2286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None/>
            </a:pPr>
            <a:r>
              <a:rPr b="1" lang="en" sz="5600">
                <a:highlight>
                  <a:srgbClr val="FFFFFF"/>
                </a:highlight>
              </a:rPr>
              <a:t>Collaborative Culture and Collective Responsibility:</a:t>
            </a:r>
            <a:br>
              <a:rPr b="1" lang="en" sz="5600">
                <a:highlight>
                  <a:srgbClr val="FFFFFF"/>
                </a:highlight>
              </a:rPr>
            </a:br>
            <a:r>
              <a:rPr lang="en" sz="5600">
                <a:highlight>
                  <a:srgbClr val="FFFFFF"/>
                </a:highlight>
              </a:rPr>
              <a:t>PLCs emphasize working together, sharing expertise, and taking collective responsibility for student success.</a:t>
            </a:r>
            <a:endParaRPr sz="5600">
              <a:highlight>
                <a:srgbClr val="FFFFFF"/>
              </a:highlight>
            </a:endParaRPr>
          </a:p>
          <a:p>
            <a:pPr indent="-2286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None/>
            </a:pPr>
            <a:r>
              <a:t/>
            </a:r>
            <a:endParaRPr sz="5600">
              <a:highlight>
                <a:srgbClr val="FFFFFF"/>
              </a:highlight>
            </a:endParaRPr>
          </a:p>
          <a:p>
            <a:pPr indent="-228600" lvl="0" marL="45720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Roboto"/>
              <a:buNone/>
            </a:pPr>
            <a:r>
              <a:rPr b="1" lang="en" sz="5600">
                <a:highlight>
                  <a:srgbClr val="FFFFFF"/>
                </a:highlight>
              </a:rPr>
              <a:t>Results Orientation:</a:t>
            </a:r>
            <a:br>
              <a:rPr b="1" lang="en" sz="5600">
                <a:highlight>
                  <a:srgbClr val="FFFFFF"/>
                </a:highlight>
              </a:rPr>
            </a:br>
            <a:r>
              <a:rPr lang="en" sz="5600">
                <a:highlight>
                  <a:srgbClr val="FFFFFF"/>
                </a:highlight>
              </a:rPr>
              <a:t>PLCs are driven by results, using data to inform instruction and measure the effectiveness of their efforts to improve student learning.</a:t>
            </a:r>
            <a:endParaRPr sz="56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8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5486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PLC:  FOUR Pillars 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➢"/>
            </a:pPr>
            <a:r>
              <a:rPr b="1" lang="en"/>
              <a:t>MISSION</a:t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What is our day to day work?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➢"/>
            </a:pPr>
            <a:r>
              <a:rPr b="1" lang="en"/>
              <a:t>VISION</a:t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What do we want to become?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➢"/>
            </a:pPr>
            <a:r>
              <a:rPr b="1" lang="en"/>
              <a:t>VALUES (NORMS)</a:t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What behaviors will govern our collaborative work?</a:t>
            </a:r>
            <a:endParaRPr b="1"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➢"/>
            </a:pPr>
            <a:r>
              <a:rPr b="1" lang="en"/>
              <a:t>GOALS</a:t>
            </a:r>
            <a:endParaRPr b="1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What short and long term SMART Goals are we measuring?</a:t>
            </a:r>
            <a:endParaRPr b="1"/>
          </a:p>
        </p:txBody>
      </p:sp>
      <p:pic>
        <p:nvPicPr>
          <p:cNvPr id="116" name="Google Shape;116;p19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5486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PLC: FOUR Key Questions</a:t>
            </a:r>
            <a:endParaRPr/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2410100" y="1318100"/>
            <a:ext cx="6321600" cy="35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09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1D35"/>
              </a:buClr>
              <a:buSzPts val="1819"/>
              <a:buAutoNum type="arabicParenR"/>
            </a:pPr>
            <a:r>
              <a:rPr b="1" lang="en" sz="1818">
                <a:solidFill>
                  <a:srgbClr val="001D35"/>
                </a:solidFill>
                <a:highlight>
                  <a:srgbClr val="FFFFFF"/>
                </a:highlight>
              </a:rPr>
              <a:t>What do we want students to know and be able to do? </a:t>
            </a:r>
            <a:endParaRPr b="1" sz="1818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1818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4409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1D35"/>
              </a:buClr>
              <a:buSzPts val="1819"/>
              <a:buAutoNum type="arabicParenR"/>
            </a:pPr>
            <a:r>
              <a:rPr b="1" lang="en" sz="1818">
                <a:solidFill>
                  <a:srgbClr val="001D35"/>
                </a:solidFill>
                <a:highlight>
                  <a:srgbClr val="FFFFFF"/>
                </a:highlight>
              </a:rPr>
              <a:t>How will we know if they have learned it?</a:t>
            </a:r>
            <a:endParaRPr b="1" sz="1818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1818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4409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1D35"/>
              </a:buClr>
              <a:buSzPts val="1819"/>
              <a:buAutoNum type="arabicParenR"/>
            </a:pPr>
            <a:r>
              <a:rPr b="1" lang="en" sz="1818">
                <a:solidFill>
                  <a:srgbClr val="001D35"/>
                </a:solidFill>
                <a:highlight>
                  <a:srgbClr val="FFFFFF"/>
                </a:highlight>
              </a:rPr>
              <a:t>What will we do to provide time and support during the day if they don't learn it? </a:t>
            </a:r>
            <a:endParaRPr b="1" sz="1818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1818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4409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1D35"/>
              </a:buClr>
              <a:buSzPts val="1819"/>
              <a:buAutoNum type="arabicParenR"/>
            </a:pPr>
            <a:r>
              <a:rPr b="1" lang="en" sz="1818">
                <a:solidFill>
                  <a:srgbClr val="001D35"/>
                </a:solidFill>
                <a:highlight>
                  <a:srgbClr val="FFFFFF"/>
                </a:highlight>
              </a:rPr>
              <a:t>What will we do to extend and enrich during the day if they already know it?</a:t>
            </a:r>
            <a:endParaRPr b="1" sz="2235"/>
          </a:p>
        </p:txBody>
      </p:sp>
      <p:pic>
        <p:nvPicPr>
          <p:cNvPr id="123" name="Google Shape;123;p20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5486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PLC: FIVE Essentials</a:t>
            </a:r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2410100" y="1211350"/>
            <a:ext cx="6321600" cy="36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legreya"/>
              <a:buAutoNum type="arabicParenR"/>
            </a:pPr>
            <a:r>
              <a:rPr b="1" lang="en" sz="1500">
                <a:solidFill>
                  <a:srgbClr val="212121"/>
                </a:solidFill>
                <a:highlight>
                  <a:srgbClr val="FFFFFF"/>
                </a:highlight>
                <a:latin typeface="Alegreya"/>
                <a:ea typeface="Alegreya"/>
                <a:cs typeface="Alegreya"/>
                <a:sym typeface="Alegreya"/>
              </a:rPr>
              <a:t>All educators work in collaborative teams and take collective responsibility for student learning (rather than working in isolation).</a:t>
            </a:r>
            <a:endParaRPr b="1" sz="1500">
              <a:solidFill>
                <a:srgbClr val="212121"/>
              </a:solidFill>
              <a:highlight>
                <a:srgbClr val="FFFFFF"/>
              </a:highlight>
              <a:latin typeface="Alegreya"/>
              <a:ea typeface="Alegreya"/>
              <a:cs typeface="Alegreya"/>
              <a:sym typeface="Alegreya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legreya"/>
              <a:buAutoNum type="arabicParenR"/>
            </a:pPr>
            <a:r>
              <a:rPr b="1" lang="en" sz="1500">
                <a:solidFill>
                  <a:srgbClr val="212121"/>
                </a:solidFill>
                <a:highlight>
                  <a:srgbClr val="FFFFFF"/>
                </a:highlight>
                <a:latin typeface="Alegreya"/>
                <a:ea typeface="Alegreya"/>
                <a:cs typeface="Alegreya"/>
                <a:sym typeface="Alegreya"/>
              </a:rPr>
              <a:t>Implementation of a guaranteed and viable curriculum standard by standard, unit by unit. (ELA, Mathematics, Core, Other)</a:t>
            </a:r>
            <a:endParaRPr b="1" sz="1500">
              <a:solidFill>
                <a:srgbClr val="212121"/>
              </a:solidFill>
              <a:highlight>
                <a:srgbClr val="FFFFFF"/>
              </a:highlight>
              <a:latin typeface="Alegreya"/>
              <a:ea typeface="Alegreya"/>
              <a:cs typeface="Alegreya"/>
              <a:sym typeface="Alegreya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legreya"/>
              <a:buAutoNum type="arabicParenR"/>
            </a:pPr>
            <a:r>
              <a:rPr b="1" lang="en" sz="1500">
                <a:solidFill>
                  <a:srgbClr val="212121"/>
                </a:solidFill>
                <a:highlight>
                  <a:srgbClr val="FFFFFF"/>
                </a:highlight>
                <a:latin typeface="Alegreya"/>
                <a:ea typeface="Alegreya"/>
                <a:cs typeface="Alegreya"/>
                <a:sym typeface="Alegreya"/>
              </a:rPr>
              <a:t>Monitoring of student learning through an ongoing assessment process that includes frequent, team-developed common formative assessments.</a:t>
            </a:r>
            <a:endParaRPr b="1" sz="1500">
              <a:solidFill>
                <a:srgbClr val="212121"/>
              </a:solidFill>
              <a:highlight>
                <a:srgbClr val="FFFFFF"/>
              </a:highlight>
              <a:latin typeface="Alegreya"/>
              <a:ea typeface="Alegreya"/>
              <a:cs typeface="Alegreya"/>
              <a:sym typeface="Alegreya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legreya"/>
              <a:buAutoNum type="arabicParenR"/>
            </a:pPr>
            <a:r>
              <a:rPr b="1" lang="en" sz="1500">
                <a:solidFill>
                  <a:srgbClr val="212121"/>
                </a:solidFill>
                <a:highlight>
                  <a:srgbClr val="FFFFFF"/>
                </a:highlight>
                <a:latin typeface="Alegreya"/>
                <a:ea typeface="Alegreya"/>
                <a:cs typeface="Alegreya"/>
                <a:sym typeface="Alegreya"/>
              </a:rPr>
              <a:t>Use the results of common assessments to:</a:t>
            </a:r>
            <a:endParaRPr b="1" sz="1500">
              <a:solidFill>
                <a:srgbClr val="212121"/>
              </a:solidFill>
              <a:highlight>
                <a:srgbClr val="FFFFFF"/>
              </a:highlight>
              <a:latin typeface="Alegreya"/>
              <a:ea typeface="Alegreya"/>
              <a:cs typeface="Alegreya"/>
              <a:sym typeface="Alegreya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legreya"/>
              <a:buAutoNum type="alphaLcParenR"/>
            </a:pPr>
            <a:r>
              <a:rPr b="1" lang="en" sz="1500">
                <a:solidFill>
                  <a:srgbClr val="212121"/>
                </a:solidFill>
                <a:highlight>
                  <a:srgbClr val="FFFFFF"/>
                </a:highlight>
                <a:latin typeface="Alegreya"/>
                <a:ea typeface="Alegreya"/>
                <a:cs typeface="Alegreya"/>
                <a:sym typeface="Alegreya"/>
              </a:rPr>
              <a:t>Improve individual teacher practice</a:t>
            </a:r>
            <a:endParaRPr b="1" sz="1500">
              <a:solidFill>
                <a:srgbClr val="212121"/>
              </a:solidFill>
              <a:highlight>
                <a:srgbClr val="FFFFFF"/>
              </a:highlight>
              <a:latin typeface="Alegreya"/>
              <a:ea typeface="Alegreya"/>
              <a:cs typeface="Alegreya"/>
              <a:sym typeface="Alegreya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legreya"/>
              <a:buAutoNum type="alphaLcParenR"/>
            </a:pPr>
            <a:r>
              <a:rPr b="1" lang="en" sz="1500">
                <a:solidFill>
                  <a:srgbClr val="212121"/>
                </a:solidFill>
                <a:highlight>
                  <a:srgbClr val="FFFFFF"/>
                </a:highlight>
                <a:latin typeface="Alegreya"/>
                <a:ea typeface="Alegreya"/>
                <a:cs typeface="Alegreya"/>
                <a:sym typeface="Alegreya"/>
              </a:rPr>
              <a:t>Build the team’s capacity to achieve its goals</a:t>
            </a:r>
            <a:endParaRPr b="1" sz="1500">
              <a:solidFill>
                <a:srgbClr val="212121"/>
              </a:solidFill>
              <a:highlight>
                <a:srgbClr val="FFFFFF"/>
              </a:highlight>
              <a:latin typeface="Alegreya"/>
              <a:ea typeface="Alegreya"/>
              <a:cs typeface="Alegreya"/>
              <a:sym typeface="Alegreya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legreya"/>
              <a:buAutoNum type="alphaLcParenR"/>
            </a:pPr>
            <a:r>
              <a:rPr b="1" lang="en" sz="1500">
                <a:solidFill>
                  <a:srgbClr val="212121"/>
                </a:solidFill>
                <a:highlight>
                  <a:srgbClr val="FFFFFF"/>
                </a:highlight>
                <a:latin typeface="Alegreya"/>
                <a:ea typeface="Alegreya"/>
                <a:cs typeface="Alegreya"/>
                <a:sym typeface="Alegreya"/>
              </a:rPr>
              <a:t>Intervene or extend for students according to their need</a:t>
            </a:r>
            <a:endParaRPr b="1" sz="1500">
              <a:solidFill>
                <a:srgbClr val="212121"/>
              </a:solidFill>
              <a:highlight>
                <a:srgbClr val="FFFFFF"/>
              </a:highlight>
              <a:latin typeface="Alegreya"/>
              <a:ea typeface="Alegreya"/>
              <a:cs typeface="Alegreya"/>
              <a:sym typeface="Alegreya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500">
                <a:solidFill>
                  <a:srgbClr val="212121"/>
                </a:solidFill>
                <a:highlight>
                  <a:srgbClr val="FFFFFF"/>
                </a:highlight>
                <a:latin typeface="Alegreya"/>
                <a:ea typeface="Alegreya"/>
                <a:cs typeface="Alegreya"/>
                <a:sym typeface="Alegreya"/>
              </a:rPr>
              <a:t>  5) Provide systematic, embedded (during the day)  interventions and     enrichment</a:t>
            </a:r>
            <a:endParaRPr sz="1900">
              <a:highlight>
                <a:srgbClr val="FFFFFF"/>
              </a:highlight>
            </a:endParaRPr>
          </a:p>
        </p:txBody>
      </p:sp>
      <p:pic>
        <p:nvPicPr>
          <p:cNvPr id="130" name="Google Shape;130;p21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5486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2400250" y="575950"/>
            <a:ext cx="6321600" cy="9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00"/>
              <a:t>Critical Issues for Team Consideration</a:t>
            </a:r>
            <a:endParaRPr sz="2600"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2332437" y="1686201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hlink"/>
                </a:solidFill>
                <a:highlight>
                  <a:srgbClr val="F5F5F5"/>
                </a:highlight>
                <a:hlinkClick r:id="rId3"/>
              </a:rPr>
              <a:t>BPS Annotated Critical Issues for Team Consideration</a:t>
            </a:r>
            <a:endParaRPr b="1">
              <a:highlight>
                <a:srgbClr val="F5F5F5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Teamwork</a:t>
            </a:r>
            <a:r>
              <a:rPr b="1" lang="en"/>
              <a:t> and Team Products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Monitor the TEAM PRODUCTS</a:t>
            </a:r>
            <a:endParaRPr b="1"/>
          </a:p>
        </p:txBody>
      </p:sp>
      <p:pic>
        <p:nvPicPr>
          <p:cNvPr id="137" name="Google Shape;137;p22" title="Bedford-Logo-26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200" y="5486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PLC Trivia:  The first authentic PLC…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The first authentic, high functioning PLC was a: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NO PEEKING!! :)</a:t>
            </a:r>
            <a:endParaRPr b="1"/>
          </a:p>
        </p:txBody>
      </p:sp>
      <p:pic>
        <p:nvPicPr>
          <p:cNvPr id="144" name="Google Shape;144;p23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5486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Bedford’s PLC Journey…</a:t>
            </a:r>
            <a:endParaRPr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2410100" y="1211350"/>
            <a:ext cx="63216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2018: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PLC Institute, Lincolnshire, IL (and ongoing…)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Introductory Professional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Use the time you have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Identify Promise (Essential) Standards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2022-2025: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Breakthrough in negotiations: More time, PLT Leaders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Intervention/Enrichment Time/WIN Time</a:t>
            </a:r>
            <a:endParaRPr/>
          </a:p>
        </p:txBody>
      </p:sp>
      <p:pic>
        <p:nvPicPr>
          <p:cNvPr id="151" name="Google Shape;151;p24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7010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BHS </a:t>
            </a:r>
            <a:r>
              <a:rPr lang="en"/>
              <a:t>recipe</a:t>
            </a:r>
            <a:r>
              <a:rPr lang="en"/>
              <a:t>…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2115437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Essential Ingredients, but you have to adjust them according to your situation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District support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Collaborative leadership team to develop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Tiered Supports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Building teams</a:t>
            </a:r>
            <a:endParaRPr/>
          </a:p>
        </p:txBody>
      </p:sp>
      <p:pic>
        <p:nvPicPr>
          <p:cNvPr descr="File:Mojito made with rum, lime, sugar, mint, club soda, served in ..." id="158" name="Google Shape;1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000" y="141750"/>
            <a:ext cx="1639651" cy="246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District Vision</a:t>
            </a:r>
            <a:endParaRPr/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PLC </a:t>
            </a:r>
            <a:r>
              <a:rPr lang="en"/>
              <a:t>Institute</a:t>
            </a:r>
            <a:r>
              <a:rPr lang="en"/>
              <a:t> each year (7 years running)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Contractual Language - increase requirement for PLT </a:t>
            </a:r>
            <a:r>
              <a:rPr lang="en"/>
              <a:t>meeting</a:t>
            </a:r>
            <a:r>
              <a:rPr lang="en"/>
              <a:t> time (last 3 years)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District support with local EA- They will question things (why do we have to meet, I am a singleton, data takes time,)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Priority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Solution Tree online videos</a:t>
            </a:r>
            <a:endParaRPr/>
          </a:p>
        </p:txBody>
      </p:sp>
      <p:pic>
        <p:nvPicPr>
          <p:cNvPr descr="green sliced lime free image | Peakpx" id="165" name="Google Shape;16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3750"/>
            <a:ext cx="2105312" cy="2676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Collaborative Leadership Team</a:t>
            </a:r>
            <a:endParaRPr/>
          </a:p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 was JHS and BHS teachers and one admin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Team had common learning, then set course with a deadline (very Mattos- 3 months- design it)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 as team and made </a:t>
            </a:r>
            <a:r>
              <a:rPr lang="en"/>
              <a:t>decision</a:t>
            </a:r>
            <a:r>
              <a:rPr lang="en"/>
              <a:t>- bell schedule, times per week, norms for meetings, reviewed how to communicate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3"/>
              </a:rPr>
              <a:t>Videos shared</a:t>
            </a:r>
            <a:r>
              <a:rPr lang="en" sz="1000"/>
              <a:t>    </a:t>
            </a:r>
            <a:r>
              <a:rPr lang="en" sz="1000" u="sng">
                <a:solidFill>
                  <a:schemeClr val="hlink"/>
                </a:solidFill>
                <a:hlinkClick r:id="rId4"/>
              </a:rPr>
              <a:t> Agenda from first Meeting</a:t>
            </a:r>
            <a:endParaRPr sz="1000"/>
          </a:p>
        </p:txBody>
      </p:sp>
      <p:pic>
        <p:nvPicPr>
          <p:cNvPr descr="File:Honey dripper load.jpg - Wikimedia Commons" id="172" name="Google Shape;17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363750"/>
            <a:ext cx="2105311" cy="263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Collaborative Leadership Team</a:t>
            </a:r>
            <a:endParaRPr/>
          </a:p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RTI Scheduler			First two presentations to staff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Lowell HS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Staff Guidelines and Expectations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WIN Time At- A-Glance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1st WIN Time- Common Presentation</a:t>
            </a:r>
            <a:endParaRPr/>
          </a:p>
        </p:txBody>
      </p:sp>
      <p:pic>
        <p:nvPicPr>
          <p:cNvPr descr="File:Maple Syrup Grade.jpg - Wikimedia Commons" id="179" name="Google Shape;179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0975" y="1313400"/>
            <a:ext cx="2006298" cy="148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Tiered Supports</a:t>
            </a:r>
            <a:endParaRPr/>
          </a:p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Enriched Homeroom/At-risk Coordinator- Failure rate is at just over 3% for three consecutive semesters- down from 5-over 6%.  - coupled with common grading by department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Math Foundations- Double Dose Math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Restructuring of special education- Support in HR and Individual Skills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Tutoring and Math Lab</a:t>
            </a:r>
            <a:endParaRPr/>
          </a:p>
        </p:txBody>
      </p:sp>
      <p:pic>
        <p:nvPicPr>
          <p:cNvPr descr="File:Mint-leaves-2007.jpg - Wikipedia"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50" y="638975"/>
            <a:ext cx="2013876" cy="15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Teams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Principal- Lead learner- Learning by Doing, plus all the things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Common Assessments for Promise Standards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Focus on products not minutes- Tracking Documents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Early Tracking Document</a:t>
            </a:r>
            <a:r>
              <a:rPr lang="en" sz="1500"/>
              <a:t>          </a:t>
            </a:r>
            <a:r>
              <a:rPr lang="en" sz="1500" u="sng">
                <a:solidFill>
                  <a:schemeClr val="hlink"/>
                </a:solidFill>
                <a:hlinkClick r:id="rId4"/>
              </a:rPr>
              <a:t>PLT Outcomes- Current format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PLT Leads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PLT Lead Meetings (Guiding Coalition)</a:t>
            </a:r>
            <a:endParaRPr/>
          </a:p>
        </p:txBody>
      </p:sp>
      <p:pic>
        <p:nvPicPr>
          <p:cNvPr descr="HD wallpaper: bartender, gin, cocktail, actor, mixology ..." id="193" name="Google Shape;193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520" y="809325"/>
            <a:ext cx="2224424" cy="148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JHS Story</a:t>
            </a:r>
            <a:endParaRPr/>
          </a:p>
        </p:txBody>
      </p:sp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2444550" y="1061601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Teamwork and Responsibility</a:t>
            </a:r>
            <a:endParaRPr/>
          </a:p>
        </p:txBody>
      </p:sp>
      <p:pic>
        <p:nvPicPr>
          <p:cNvPr id="200" name="Google Shape;200;p31" title="staff 2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550" y="1556501"/>
            <a:ext cx="6656671" cy="260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Teams</a:t>
            </a:r>
            <a:endParaRPr/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1271650" y="1211350"/>
            <a:ext cx="7509900" cy="326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Contractual Language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Group Responsibility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Meeting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Scheduling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300" y="3098025"/>
            <a:ext cx="7324950" cy="77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Guaranteed and Viable Curriculum</a:t>
            </a:r>
            <a:endParaRPr/>
          </a:p>
        </p:txBody>
      </p:sp>
      <p:pic>
        <p:nvPicPr>
          <p:cNvPr id="213" name="Google Shape;21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5713" y="1055925"/>
            <a:ext cx="5030677" cy="36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Assessment Process</a:t>
            </a:r>
            <a:endParaRPr/>
          </a:p>
        </p:txBody>
      </p:sp>
      <p:pic>
        <p:nvPicPr>
          <p:cNvPr id="219" name="Google Shape;21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5975" y="1085725"/>
            <a:ext cx="6492451" cy="346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5"/>
          <p:cNvSpPr txBox="1"/>
          <p:nvPr>
            <p:ph type="title"/>
          </p:nvPr>
        </p:nvSpPr>
        <p:spPr>
          <a:xfrm>
            <a:off x="2429013" y="61567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Results/Data</a:t>
            </a:r>
            <a:endParaRPr/>
          </a:p>
        </p:txBody>
      </p:sp>
      <p:pic>
        <p:nvPicPr>
          <p:cNvPr id="225" name="Google Shape;22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9500" y="1158125"/>
            <a:ext cx="2894500" cy="220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4000" y="1158125"/>
            <a:ext cx="3428698" cy="220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7675" y="3295575"/>
            <a:ext cx="5744275" cy="139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200">
                <a:highlight>
                  <a:srgbClr val="E69138"/>
                </a:highlight>
                <a:latin typeface="Lato"/>
                <a:ea typeface="Lato"/>
                <a:cs typeface="Lato"/>
                <a:sym typeface="Lato"/>
              </a:rPr>
              <a:t>PLC/PLT </a:t>
            </a:r>
            <a:r>
              <a:rPr lang="en" sz="2200">
                <a:latin typeface="Lato"/>
                <a:ea typeface="Lato"/>
                <a:cs typeface="Lato"/>
                <a:sym typeface="Lato"/>
              </a:rPr>
              <a:t>Four Critical Questions</a:t>
            </a:r>
            <a:endParaRPr sz="3400"/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/>
              <a:t> </a:t>
            </a:r>
            <a:r>
              <a:rPr b="1" lang="en">
                <a:highlight>
                  <a:schemeClr val="accent2"/>
                </a:highlight>
              </a:rPr>
              <a:t>4 Critical Questions</a:t>
            </a:r>
            <a:r>
              <a:rPr b="1" lang="en"/>
              <a:t> of Learning: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b="1" lang="en"/>
              <a:t>What do you want the students to know and be able to do?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b="1" lang="en"/>
              <a:t>How will you know if they learned?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b="1" lang="en"/>
              <a:t>How will you provide time and support for those who have not learned yet?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b="1" lang="en"/>
              <a:t>How will you extend and enrich for those who have learned?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2400250" y="575950"/>
            <a:ext cx="2613300" cy="23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200">
                <a:latin typeface="Lato"/>
                <a:ea typeface="Lato"/>
                <a:cs typeface="Lato"/>
                <a:sym typeface="Lato"/>
              </a:rPr>
              <a:t>Four Critical Questions Example</a:t>
            </a:r>
            <a:endParaRPr sz="3400"/>
          </a:p>
        </p:txBody>
      </p:sp>
      <p:pic>
        <p:nvPicPr>
          <p:cNvPr id="239" name="Google Shape;2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3550" y="111500"/>
            <a:ext cx="3825650" cy="4497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 3 &amp; 4</a:t>
            </a:r>
            <a:endParaRPr/>
          </a:p>
        </p:txBody>
      </p:sp>
      <p:sp>
        <p:nvSpPr>
          <p:cNvPr id="245" name="Google Shape;245;p38"/>
          <p:cNvSpPr txBox="1"/>
          <p:nvPr>
            <p:ph idx="1" type="body"/>
          </p:nvPr>
        </p:nvSpPr>
        <p:spPr>
          <a:xfrm>
            <a:off x="2400250" y="1302850"/>
            <a:ext cx="3976200" cy="5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Interventionist, WIN Time, Math Lab</a:t>
            </a:r>
            <a:endParaRPr/>
          </a:p>
        </p:txBody>
      </p:sp>
      <p:pic>
        <p:nvPicPr>
          <p:cNvPr id="246" name="Google Shape;24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0250" y="1902850"/>
            <a:ext cx="5784700" cy="228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8" title="WIN TIME TODA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0550" y="371525"/>
            <a:ext cx="1339198" cy="17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JHS Links</a:t>
            </a:r>
            <a:endParaRPr/>
          </a:p>
        </p:txBody>
      </p:sp>
      <p:sp>
        <p:nvSpPr>
          <p:cNvPr id="253" name="Google Shape;253;p39"/>
          <p:cNvSpPr txBox="1"/>
          <p:nvPr>
            <p:ph idx="1" type="body"/>
          </p:nvPr>
        </p:nvSpPr>
        <p:spPr>
          <a:xfrm>
            <a:off x="240026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PLC Outcomes Template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PLC 4 Question Data Protocol Template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u="sng">
                <a:solidFill>
                  <a:srgbClr val="1155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PLC Promise Standard Template</a:t>
            </a:r>
            <a:endParaRPr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>
            <p:ph type="title"/>
          </p:nvPr>
        </p:nvSpPr>
        <p:spPr>
          <a:xfrm>
            <a:off x="1009000" y="575950"/>
            <a:ext cx="77130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Elementary Story</a:t>
            </a:r>
            <a:endParaRPr/>
          </a:p>
        </p:txBody>
      </p:sp>
      <p:sp>
        <p:nvSpPr>
          <p:cNvPr id="259" name="Google Shape;259;p40"/>
          <p:cNvSpPr txBox="1"/>
          <p:nvPr>
            <p:ph idx="1" type="body"/>
          </p:nvPr>
        </p:nvSpPr>
        <p:spPr>
          <a:xfrm>
            <a:off x="1370150" y="1595775"/>
            <a:ext cx="7361400" cy="31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Define what is “tight” in this process: </a:t>
            </a:r>
            <a:endParaRPr b="1" sz="7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 u="sng">
                <a:solidFill>
                  <a:schemeClr val="hlink"/>
                </a:solidFill>
                <a:hlinkClick r:id="rId3"/>
              </a:rPr>
              <a:t>Elementary Master Schedules</a:t>
            </a:r>
            <a:endParaRPr b="1" sz="4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 u="sng">
                <a:solidFill>
                  <a:schemeClr val="hlink"/>
                </a:solidFill>
                <a:hlinkClick r:id="rId4"/>
              </a:rPr>
              <a:t>Student Teacher Assistant Team: Defined process for STAT meeting </a:t>
            </a:r>
            <a:endParaRPr b="1" sz="4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 u="sng">
                <a:solidFill>
                  <a:schemeClr val="hlink"/>
                </a:solidFill>
                <a:hlinkClick r:id="rId5"/>
              </a:rPr>
              <a:t>Meeting Schedules with Clear Agendas: Weekly meetings</a:t>
            </a:r>
            <a:endParaRPr b="1" sz="4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/>
              <a:t>Data Driven Decisions: </a:t>
            </a:r>
            <a:r>
              <a:rPr lang="en" sz="4400"/>
              <a:t>Assessments and data reviewed and instruction is driven by these results. </a:t>
            </a:r>
            <a:endParaRPr sz="4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400"/>
              <a:t>After School and Summer School Programs, including enrichment</a:t>
            </a:r>
            <a:endParaRPr b="1" sz="4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7200">
                <a:highlight>
                  <a:srgbClr val="EA9999"/>
                </a:highlight>
              </a:rPr>
              <a:t>All hands on deck for learning!</a:t>
            </a:r>
            <a:endParaRPr b="1" sz="7200">
              <a:highlight>
                <a:srgbClr val="EA9999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5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Elementary Successes</a:t>
            </a:r>
            <a:endParaRPr/>
          </a:p>
        </p:txBody>
      </p:sp>
      <p:sp>
        <p:nvSpPr>
          <p:cNvPr id="265" name="Google Shape;265;p4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u="sng"/>
              <a:t>Increases</a:t>
            </a:r>
            <a:r>
              <a:rPr lang="en"/>
              <a:t> in FastBridge and M-Step Scores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 u="sng"/>
              <a:t>Decrease </a:t>
            </a:r>
            <a:r>
              <a:rPr lang="en"/>
              <a:t>in students who qualify for specially designed instruction via IEPs. A majority of students who qualify are students who haven’t had the benefit of our instruction and the PLC process.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n" u="sng"/>
              <a:t>Examples</a:t>
            </a:r>
            <a:r>
              <a:rPr lang="en"/>
              <a:t>: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JRE 2024-2025 Inclusive Practice IEPs 18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(5 were move ins during this school year.)                         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JRE 2025-2026 Inclusive Practice IEPs 11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Research:  Collective Efficacy</a:t>
            </a:r>
            <a:endParaRPr/>
          </a:p>
        </p:txBody>
      </p:sp>
      <p:sp>
        <p:nvSpPr>
          <p:cNvPr id="271" name="Google Shape;271;p4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Collective teacher efficacy</a:t>
            </a:r>
            <a:r>
              <a:rPr lang="en" sz="22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refers to </a:t>
            </a:r>
            <a:r>
              <a:rPr lang="en" sz="2200">
                <a:highlight>
                  <a:srgbClr val="F6B26B"/>
                </a:highlight>
                <a:latin typeface="Roboto"/>
                <a:ea typeface="Roboto"/>
                <a:cs typeface="Roboto"/>
                <a:sym typeface="Roboto"/>
              </a:rPr>
              <a:t>the collective belief of teachers that they have the expertise to be able to positively impact students' learning</a:t>
            </a:r>
            <a:r>
              <a:rPr lang="en" sz="22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</a:t>
            </a:r>
            <a:endParaRPr sz="22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John Hattie identifies </a:t>
            </a:r>
            <a:r>
              <a:rPr b="1" i="1" lang="en" sz="22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collective teacher efficacy</a:t>
            </a:r>
            <a:r>
              <a:rPr lang="en" sz="22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as having an extraordinary impact on student achievement, with an </a:t>
            </a:r>
            <a:r>
              <a:rPr b="1" lang="en" sz="2200" u="sng">
                <a:highlight>
                  <a:srgbClr val="F6B26B"/>
                </a:highlight>
                <a:latin typeface="Roboto"/>
                <a:ea typeface="Roboto"/>
                <a:cs typeface="Roboto"/>
                <a:sym typeface="Roboto"/>
              </a:rPr>
              <a:t>effect size of 1.57</a:t>
            </a:r>
            <a:r>
              <a:rPr lang="en" sz="22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28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PLC/PLT </a:t>
            </a:r>
            <a:r>
              <a:rPr lang="en">
                <a:highlight>
                  <a:schemeClr val="dk1"/>
                </a:highlight>
              </a:rPr>
              <a:t>Data Celebration!</a:t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277" name="Google Shape;277;p4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/>
              <a:t>Our </a:t>
            </a:r>
            <a:r>
              <a:rPr b="1" lang="en" sz="2200">
                <a:highlight>
                  <a:schemeClr val="accent5"/>
                </a:highlight>
              </a:rPr>
              <a:t>COLLECTIVE </a:t>
            </a:r>
            <a:r>
              <a:rPr b="1" lang="en" sz="2200"/>
              <a:t>efforts are making a difference in:</a:t>
            </a:r>
            <a:endParaRPr b="1"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Mathematics Achievement</a:t>
            </a:r>
            <a:endParaRPr b="1"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ELA Achievement</a:t>
            </a:r>
            <a:endParaRPr b="1" sz="22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278" name="Google Shape;278;p43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7010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highlight>
                  <a:schemeClr val="dk1"/>
                </a:highlight>
                <a:latin typeface="Lato"/>
                <a:ea typeface="Lato"/>
                <a:cs typeface="Lato"/>
                <a:sym typeface="Lato"/>
              </a:rPr>
              <a:t>Mathematics</a:t>
            </a:r>
            <a:r>
              <a:rPr lang="en" sz="2800">
                <a:latin typeface="Lato"/>
                <a:ea typeface="Lato"/>
                <a:cs typeface="Lato"/>
                <a:sym typeface="Lato"/>
              </a:rPr>
              <a:t> Achievement</a:t>
            </a:r>
            <a:endParaRPr sz="3600"/>
          </a:p>
        </p:txBody>
      </p:sp>
      <p:sp>
        <p:nvSpPr>
          <p:cNvPr id="284" name="Google Shape;284;p4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2024 M-Step:</a:t>
            </a:r>
            <a:r>
              <a:rPr b="1" lang="en" sz="2200">
                <a:highlight>
                  <a:schemeClr val="accent2"/>
                </a:highlight>
              </a:rPr>
              <a:t> Highest in Monroe County</a:t>
            </a:r>
            <a:endParaRPr b="1" sz="2200">
              <a:highlight>
                <a:schemeClr val="accent2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/>
              <a:t>3rd Grade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/>
              <a:t>4th Grade</a:t>
            </a:r>
            <a:endParaRPr b="1"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b="1" lang="en" sz="2200">
                <a:highlight>
                  <a:schemeClr val="accent5"/>
                </a:highlight>
              </a:rPr>
              <a:t>All three schools</a:t>
            </a:r>
            <a:r>
              <a:rPr b="1" lang="en" sz="2200"/>
              <a:t> showed growth in 5th Grade Mathematics, with one school 3rd in the County.</a:t>
            </a:r>
            <a:endParaRPr b="1" sz="2200"/>
          </a:p>
        </p:txBody>
      </p:sp>
      <p:pic>
        <p:nvPicPr>
          <p:cNvPr id="285" name="Google Shape;285;p44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7010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dk1"/>
                </a:highlight>
              </a:rPr>
              <a:t>Mathematics</a:t>
            </a:r>
            <a:r>
              <a:rPr lang="en"/>
              <a:t> Achievement</a:t>
            </a:r>
            <a:endParaRPr/>
          </a:p>
        </p:txBody>
      </p:sp>
      <p:sp>
        <p:nvSpPr>
          <p:cNvPr id="291" name="Google Shape;291;p4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chemeClr val="accent2"/>
                </a:highlight>
              </a:rPr>
              <a:t>2019 vs. 2024 Fastbridge: </a:t>
            </a:r>
            <a:r>
              <a:rPr b="1" lang="en">
                <a:highlight>
                  <a:schemeClr val="dk1"/>
                </a:highlight>
              </a:rPr>
              <a:t>Mathematics</a:t>
            </a:r>
            <a:endParaRPr b="1"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highlight>
                  <a:schemeClr val="lt1"/>
                </a:highlight>
              </a:rPr>
              <a:t>Average Achievement </a:t>
            </a:r>
            <a:r>
              <a:rPr b="1" lang="en">
                <a:highlight>
                  <a:schemeClr val="accent6"/>
                </a:highlight>
              </a:rPr>
              <a:t>Percentile Rank:</a:t>
            </a:r>
            <a:endParaRPr b="1"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highlight>
                  <a:schemeClr val="lt1"/>
                </a:highlight>
              </a:rPr>
              <a:t>2019: 49.7</a:t>
            </a:r>
            <a:endParaRPr b="1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highlight>
                  <a:schemeClr val="lt1"/>
                </a:highlight>
              </a:rPr>
              <a:t>2024: </a:t>
            </a:r>
            <a:r>
              <a:rPr b="1" lang="en">
                <a:highlight>
                  <a:srgbClr val="00FF00"/>
                </a:highlight>
              </a:rPr>
              <a:t>62.3</a:t>
            </a:r>
            <a:endParaRPr b="1"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highlight>
                  <a:schemeClr val="lt1"/>
                </a:highlight>
              </a:rPr>
              <a:t>Average </a:t>
            </a:r>
            <a:r>
              <a:rPr b="1" lang="en">
                <a:highlight>
                  <a:schemeClr val="accent3"/>
                </a:highlight>
              </a:rPr>
              <a:t>Growth Percentile:</a:t>
            </a:r>
            <a:r>
              <a:rPr b="1" lang="en">
                <a:highlight>
                  <a:schemeClr val="lt1"/>
                </a:highlight>
              </a:rPr>
              <a:t> (40-60 is Average Range):</a:t>
            </a:r>
            <a:endParaRPr b="1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highlight>
                  <a:schemeClr val="lt1"/>
                </a:highlight>
              </a:rPr>
              <a:t>2019: 49.7</a:t>
            </a:r>
            <a:endParaRPr b="1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highlight>
                  <a:schemeClr val="lt1"/>
                </a:highlight>
              </a:rPr>
              <a:t>2024: </a:t>
            </a:r>
            <a:r>
              <a:rPr b="1" lang="en">
                <a:highlight>
                  <a:srgbClr val="00FF00"/>
                </a:highlight>
              </a:rPr>
              <a:t>61.7</a:t>
            </a:r>
            <a:endParaRPr b="1">
              <a:highlight>
                <a:srgbClr val="00FF00"/>
              </a:highlight>
            </a:endParaRPr>
          </a:p>
        </p:txBody>
      </p:sp>
      <p:pic>
        <p:nvPicPr>
          <p:cNvPr id="292" name="Google Shape;292;p45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7010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dk1"/>
                </a:highlight>
              </a:rPr>
              <a:t>ELA</a:t>
            </a:r>
            <a:r>
              <a:rPr lang="en"/>
              <a:t> Achievement</a:t>
            </a:r>
            <a:endParaRPr/>
          </a:p>
        </p:txBody>
      </p:sp>
      <p:sp>
        <p:nvSpPr>
          <p:cNvPr id="298" name="Google Shape;298;p4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2024 M-Step:</a:t>
            </a:r>
            <a:r>
              <a:rPr b="1" lang="en" sz="2200">
                <a:highlight>
                  <a:schemeClr val="accent2"/>
                </a:highlight>
              </a:rPr>
              <a:t> Highest in Monroe County</a:t>
            </a:r>
            <a:endParaRPr b="1" sz="2200">
              <a:highlight>
                <a:schemeClr val="accent2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200"/>
              <a:t>3rd Grade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/>
              <a:t>4th Grade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200"/>
              <a:t>5th Grade</a:t>
            </a:r>
            <a:endParaRPr b="1"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b="1" lang="en" sz="2200">
                <a:highlight>
                  <a:schemeClr val="accent5"/>
                </a:highlight>
              </a:rPr>
              <a:t>Other schools</a:t>
            </a:r>
            <a:r>
              <a:rPr b="1" lang="en" sz="2200"/>
              <a:t> showed growth in 5th Grade Language Arts.</a:t>
            </a:r>
            <a:endParaRPr b="1" sz="2200"/>
          </a:p>
        </p:txBody>
      </p:sp>
      <p:pic>
        <p:nvPicPr>
          <p:cNvPr id="299" name="Google Shape;299;p46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7010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7"/>
          <p:cNvSpPr txBox="1"/>
          <p:nvPr>
            <p:ph type="title"/>
          </p:nvPr>
        </p:nvSpPr>
        <p:spPr>
          <a:xfrm>
            <a:off x="2400250" y="575950"/>
            <a:ext cx="63216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dk1"/>
                </a:highlight>
              </a:rPr>
              <a:t>ELA</a:t>
            </a:r>
            <a:r>
              <a:rPr lang="en"/>
              <a:t> Achievement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>
                <a:highlight>
                  <a:schemeClr val="accent2"/>
                </a:highlight>
              </a:rPr>
              <a:t>2019 vs. 2024 Fastbridge: </a:t>
            </a:r>
            <a:r>
              <a:rPr b="1" lang="en">
                <a:highlight>
                  <a:schemeClr val="dk1"/>
                </a:highlight>
              </a:rPr>
              <a:t>ELA</a:t>
            </a:r>
            <a:endParaRPr b="1"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>
                <a:highlight>
                  <a:schemeClr val="lt1"/>
                </a:highlight>
              </a:rPr>
              <a:t>Average Achievement </a:t>
            </a:r>
            <a:r>
              <a:rPr b="1" lang="en">
                <a:highlight>
                  <a:schemeClr val="accent6"/>
                </a:highlight>
              </a:rPr>
              <a:t>Percentile Rank:</a:t>
            </a:r>
            <a:endParaRPr b="1"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>
                <a:highlight>
                  <a:schemeClr val="lt1"/>
                </a:highlight>
              </a:rPr>
              <a:t>2019: 56</a:t>
            </a:r>
            <a:endParaRPr b="1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>
                <a:highlight>
                  <a:schemeClr val="lt1"/>
                </a:highlight>
              </a:rPr>
              <a:t>2024: </a:t>
            </a:r>
            <a:r>
              <a:rPr b="1" lang="en">
                <a:highlight>
                  <a:srgbClr val="A4C2F4"/>
                </a:highlight>
              </a:rPr>
              <a:t>58.7</a:t>
            </a:r>
            <a:endParaRPr b="1">
              <a:highlight>
                <a:srgbClr val="A4C2F4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>
                <a:highlight>
                  <a:schemeClr val="lt1"/>
                </a:highlight>
              </a:rPr>
              <a:t>Average </a:t>
            </a:r>
            <a:r>
              <a:rPr b="1" lang="en">
                <a:highlight>
                  <a:schemeClr val="accent3"/>
                </a:highlight>
              </a:rPr>
              <a:t>Growth Percentile:</a:t>
            </a:r>
            <a:r>
              <a:rPr b="1" lang="en">
                <a:highlight>
                  <a:schemeClr val="lt1"/>
                </a:highlight>
              </a:rPr>
              <a:t> (40-60 is Average Range):</a:t>
            </a:r>
            <a:endParaRPr b="1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>
                <a:highlight>
                  <a:schemeClr val="lt1"/>
                </a:highlight>
              </a:rPr>
              <a:t>2019: 50.3</a:t>
            </a:r>
            <a:endParaRPr b="1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>
                <a:highlight>
                  <a:schemeClr val="lt1"/>
                </a:highlight>
              </a:rPr>
              <a:t>2024: </a:t>
            </a:r>
            <a:r>
              <a:rPr b="1" lang="en">
                <a:highlight>
                  <a:srgbClr val="00FF00"/>
                </a:highlight>
              </a:rPr>
              <a:t>59</a:t>
            </a:r>
            <a:endParaRPr>
              <a:highlight>
                <a:srgbClr val="00FF00"/>
              </a:highlight>
            </a:endParaRPr>
          </a:p>
        </p:txBody>
      </p:sp>
      <p:pic>
        <p:nvPicPr>
          <p:cNvPr id="306" name="Google Shape;306;p47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7010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/>
          <p:nvPr>
            <p:ph type="title"/>
          </p:nvPr>
        </p:nvSpPr>
        <p:spPr>
          <a:xfrm>
            <a:off x="2400250" y="575950"/>
            <a:ext cx="63216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dk1"/>
                </a:highlight>
              </a:rPr>
              <a:t>ELA</a:t>
            </a:r>
            <a:r>
              <a:rPr lang="en"/>
              <a:t> Achievement: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Science of Reading</a:t>
            </a:r>
            <a:endParaRPr/>
          </a:p>
        </p:txBody>
      </p:sp>
      <p:sp>
        <p:nvSpPr>
          <p:cNvPr id="312" name="Google Shape;312;p4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8200" y="1595775"/>
            <a:ext cx="5237524" cy="283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8" title="Bedford-Logo-26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200" y="7010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9"/>
          <p:cNvSpPr txBox="1"/>
          <p:nvPr>
            <p:ph type="title"/>
          </p:nvPr>
        </p:nvSpPr>
        <p:spPr>
          <a:xfrm>
            <a:off x="2400250" y="575950"/>
            <a:ext cx="6321600" cy="9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en">
                <a:highlight>
                  <a:schemeClr val="dk1"/>
                </a:highlight>
              </a:rPr>
              <a:t>ELA</a:t>
            </a:r>
            <a:r>
              <a:rPr lang="en"/>
              <a:t> Achievement: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en"/>
              <a:t>The Science of Reading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1" name="Google Shape;32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250" y="1517650"/>
            <a:ext cx="6412599" cy="35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9" title="Bedford-Logo-26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200" y="7010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en">
                <a:highlight>
                  <a:schemeClr val="dk1"/>
                </a:highlight>
              </a:rPr>
              <a:t>JHS Achievement Highlights</a:t>
            </a:r>
            <a:endParaRPr/>
          </a:p>
        </p:txBody>
      </p:sp>
      <p:sp>
        <p:nvSpPr>
          <p:cNvPr id="328" name="Google Shape;328;p5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>
                <a:highlight>
                  <a:schemeClr val="accent2"/>
                </a:highlight>
              </a:rPr>
              <a:t>8th Grade Reading and Writing</a:t>
            </a:r>
            <a:r>
              <a:rPr b="1" lang="en"/>
              <a:t> </a:t>
            </a:r>
            <a:r>
              <a:rPr b="1" lang="en">
                <a:highlight>
                  <a:schemeClr val="accent5"/>
                </a:highlight>
              </a:rPr>
              <a:t>2024 PSAT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/>
              <a:t>75% Proficient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>
                <a:highlight>
                  <a:schemeClr val="accent2"/>
                </a:highlight>
              </a:rPr>
              <a:t>8th Grade Social Studies</a:t>
            </a:r>
            <a:r>
              <a:rPr b="1" lang="en"/>
              <a:t> </a:t>
            </a:r>
            <a:r>
              <a:rPr b="1" lang="en">
                <a:highlight>
                  <a:schemeClr val="accent5"/>
                </a:highlight>
              </a:rPr>
              <a:t>2024 PSAT:</a:t>
            </a:r>
            <a:endParaRPr b="1">
              <a:highlight>
                <a:schemeClr val="accent5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/>
              <a:t>Highest in Monroe County among regular Public Schools</a:t>
            </a:r>
            <a:endParaRPr/>
          </a:p>
        </p:txBody>
      </p:sp>
      <p:pic>
        <p:nvPicPr>
          <p:cNvPr id="329" name="Google Shape;329;p50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5486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en">
                <a:highlight>
                  <a:schemeClr val="dk1"/>
                </a:highlight>
              </a:rPr>
              <a:t>SHS Achievement Highlights</a:t>
            </a:r>
            <a:endParaRPr/>
          </a:p>
        </p:txBody>
      </p:sp>
      <p:sp>
        <p:nvSpPr>
          <p:cNvPr id="335" name="Google Shape;335;p5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>
                <a:highlight>
                  <a:schemeClr val="accent2"/>
                </a:highlight>
              </a:rPr>
              <a:t>10th Grade Reading and Writing</a:t>
            </a:r>
            <a:r>
              <a:rPr b="1" lang="en"/>
              <a:t> </a:t>
            </a:r>
            <a:r>
              <a:rPr b="1" lang="en">
                <a:highlight>
                  <a:schemeClr val="accent5"/>
                </a:highlight>
              </a:rPr>
              <a:t>2024 PSAT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/>
              <a:t>71.4% Proficient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/>
              <a:t>Highest in Monroe County among regular Public Schools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>
                <a:highlight>
                  <a:schemeClr val="accent2"/>
                </a:highlight>
              </a:rPr>
              <a:t>10th Grade Math</a:t>
            </a:r>
            <a:r>
              <a:rPr b="1" lang="en">
                <a:highlight>
                  <a:schemeClr val="accent5"/>
                </a:highlight>
              </a:rPr>
              <a:t> 2024 PSAT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/>
              <a:t>2nd in Monroe County among regular Public Schools</a:t>
            </a:r>
            <a:endParaRPr/>
          </a:p>
        </p:txBody>
      </p:sp>
      <p:pic>
        <p:nvPicPr>
          <p:cNvPr id="336" name="Google Shape;336;p51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5486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6666"/>
              <a:buFont typeface="Arial"/>
              <a:buNone/>
            </a:pPr>
            <a:r>
              <a:rPr lang="en">
                <a:highlight>
                  <a:schemeClr val="dk1"/>
                </a:highlight>
              </a:rPr>
              <a:t>SHS Achievement Highlights</a:t>
            </a:r>
            <a:endParaRPr/>
          </a:p>
        </p:txBody>
      </p:sp>
      <p:sp>
        <p:nvSpPr>
          <p:cNvPr id="342" name="Google Shape;342;p5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chemeClr val="accent2"/>
                </a:highlight>
              </a:rPr>
              <a:t>11th Grade</a:t>
            </a:r>
            <a:r>
              <a:rPr b="1" lang="en"/>
              <a:t> </a:t>
            </a:r>
            <a:r>
              <a:rPr b="1" lang="en">
                <a:highlight>
                  <a:schemeClr val="accent5"/>
                </a:highlight>
              </a:rPr>
              <a:t>SAT 2024: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2nd in Monroe County among regular Public Schools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Significant GROWTH in both ELA and Mathematics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highlight>
                  <a:schemeClr val="accent4"/>
                </a:highlight>
              </a:rPr>
              <a:t>College Readiness in ELA</a:t>
            </a:r>
            <a:r>
              <a:rPr b="1" lang="en"/>
              <a:t>:  2nd in Monroe County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>
                <a:highlight>
                  <a:schemeClr val="accent5"/>
                </a:highlight>
              </a:rPr>
              <a:t>College Readiness in Mathematics</a:t>
            </a:r>
            <a:r>
              <a:rPr b="1" lang="en"/>
              <a:t>: 1st in Monroe County</a:t>
            </a:r>
            <a:endParaRPr b="1" sz="3000">
              <a:highlight>
                <a:schemeClr val="dk1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43" name="Google Shape;343;p52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5486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3"/>
          <p:cNvSpPr txBox="1"/>
          <p:nvPr>
            <p:ph type="title"/>
          </p:nvPr>
        </p:nvSpPr>
        <p:spPr>
          <a:xfrm>
            <a:off x="2400250" y="575950"/>
            <a:ext cx="6321600" cy="9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dk1"/>
                </a:highlight>
              </a:rPr>
              <a:t>PLC Essentials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Don’t be a </a:t>
            </a:r>
            <a:r>
              <a:rPr lang="en">
                <a:highlight>
                  <a:srgbClr val="FFFF00"/>
                </a:highlight>
              </a:rPr>
              <a:t>PLCINO</a:t>
            </a:r>
            <a:r>
              <a:rPr lang="en"/>
              <a:t> :)</a:t>
            </a:r>
            <a:endParaRPr/>
          </a:p>
        </p:txBody>
      </p:sp>
      <p:sp>
        <p:nvSpPr>
          <p:cNvPr id="349" name="Google Shape;349;p5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3C4043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Self Assessment: </a:t>
            </a:r>
            <a:endParaRPr b="1" sz="1200">
              <a:solidFill>
                <a:srgbClr val="3C4043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3C4043"/>
                </a:solidFill>
                <a:highlight>
                  <a:srgbClr val="FFFF00"/>
                </a:highlight>
                <a:latin typeface="Roboto"/>
                <a:ea typeface="Roboto"/>
                <a:cs typeface="Roboto"/>
                <a:sym typeface="Roboto"/>
              </a:rPr>
              <a:t>4 = Sustaining, 3 = Building, 2 = Starting, 1 = Learning, 0 = Not Started</a:t>
            </a:r>
            <a:endParaRPr b="1" sz="1200">
              <a:solidFill>
                <a:srgbClr val="3C4043"/>
              </a:solidFill>
              <a:highlight>
                <a:srgbClr val="FFFF00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legreya"/>
              <a:buAutoNum type="arabicParenR"/>
            </a:pPr>
            <a:r>
              <a:rPr b="1" lang="en" sz="1400">
                <a:solidFill>
                  <a:srgbClr val="212121"/>
                </a:solidFill>
                <a:highlight>
                  <a:srgbClr val="F5F5F5"/>
                </a:highlight>
                <a:latin typeface="Alegreya"/>
                <a:ea typeface="Alegreya"/>
                <a:cs typeface="Alegreya"/>
                <a:sym typeface="Alegreya"/>
              </a:rPr>
              <a:t>All educators work in collaborative teams and take collective responsibility for student learning (rather than working in isolation).</a:t>
            </a:r>
            <a:endParaRPr b="1" sz="1400">
              <a:solidFill>
                <a:srgbClr val="212121"/>
              </a:solidFill>
              <a:highlight>
                <a:srgbClr val="F5F5F5"/>
              </a:highlight>
              <a:latin typeface="Alegreya"/>
              <a:ea typeface="Alegreya"/>
              <a:cs typeface="Alegreya"/>
              <a:sym typeface="Alegrey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legreya"/>
              <a:buAutoNum type="arabicParenR"/>
            </a:pPr>
            <a:r>
              <a:rPr b="1" lang="en" sz="1400">
                <a:solidFill>
                  <a:srgbClr val="212121"/>
                </a:solidFill>
                <a:highlight>
                  <a:srgbClr val="F5F5F5"/>
                </a:highlight>
                <a:latin typeface="Alegreya"/>
                <a:ea typeface="Alegreya"/>
                <a:cs typeface="Alegreya"/>
                <a:sym typeface="Alegreya"/>
              </a:rPr>
              <a:t>Implementation of a guaranteed and viable curriculum standard by standard, unit by unit. (Mathematics)</a:t>
            </a:r>
            <a:endParaRPr b="1" sz="1400">
              <a:solidFill>
                <a:srgbClr val="212121"/>
              </a:solidFill>
              <a:highlight>
                <a:srgbClr val="F5F5F5"/>
              </a:highlight>
              <a:latin typeface="Alegreya"/>
              <a:ea typeface="Alegreya"/>
              <a:cs typeface="Alegreya"/>
              <a:sym typeface="Alegrey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legreya"/>
              <a:buAutoNum type="arabicParenR"/>
            </a:pPr>
            <a:r>
              <a:rPr b="1" lang="en" sz="1400">
                <a:solidFill>
                  <a:srgbClr val="212121"/>
                </a:solidFill>
                <a:highlight>
                  <a:srgbClr val="F5F5F5"/>
                </a:highlight>
                <a:latin typeface="Alegreya"/>
                <a:ea typeface="Alegreya"/>
                <a:cs typeface="Alegreya"/>
                <a:sym typeface="Alegreya"/>
              </a:rPr>
              <a:t>Monitoring of student learning through an ongoing assessment process that includes frequent, team-developed common formative assessments.</a:t>
            </a:r>
            <a:endParaRPr b="1" sz="1400">
              <a:solidFill>
                <a:srgbClr val="212121"/>
              </a:solidFill>
              <a:highlight>
                <a:srgbClr val="F5F5F5"/>
              </a:highlight>
              <a:latin typeface="Alegreya"/>
              <a:ea typeface="Alegreya"/>
              <a:cs typeface="Alegreya"/>
              <a:sym typeface="Alegreya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legreya"/>
              <a:buAutoNum type="arabicParenR"/>
            </a:pPr>
            <a:r>
              <a:rPr b="1" lang="en" sz="1400">
                <a:solidFill>
                  <a:srgbClr val="212121"/>
                </a:solidFill>
                <a:highlight>
                  <a:srgbClr val="F5F5F5"/>
                </a:highlight>
                <a:latin typeface="Alegreya"/>
                <a:ea typeface="Alegreya"/>
                <a:cs typeface="Alegreya"/>
                <a:sym typeface="Alegreya"/>
              </a:rPr>
              <a:t>Use the results of common assessments to:</a:t>
            </a:r>
            <a:endParaRPr b="1" sz="1400">
              <a:solidFill>
                <a:srgbClr val="212121"/>
              </a:solidFill>
              <a:highlight>
                <a:srgbClr val="F5F5F5"/>
              </a:highlight>
              <a:latin typeface="Alegreya"/>
              <a:ea typeface="Alegreya"/>
              <a:cs typeface="Alegreya"/>
              <a:sym typeface="Alegrey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legreya"/>
              <a:buAutoNum type="alphaLcParenR"/>
            </a:pPr>
            <a:r>
              <a:rPr b="1" lang="en">
                <a:solidFill>
                  <a:srgbClr val="212121"/>
                </a:solidFill>
                <a:highlight>
                  <a:srgbClr val="F5F5F5"/>
                </a:highlight>
                <a:latin typeface="Alegreya"/>
                <a:ea typeface="Alegreya"/>
                <a:cs typeface="Alegreya"/>
                <a:sym typeface="Alegreya"/>
              </a:rPr>
              <a:t>Improve individual teacher practice</a:t>
            </a:r>
            <a:endParaRPr b="1">
              <a:solidFill>
                <a:srgbClr val="212121"/>
              </a:solidFill>
              <a:highlight>
                <a:srgbClr val="F5F5F5"/>
              </a:highlight>
              <a:latin typeface="Alegreya"/>
              <a:ea typeface="Alegreya"/>
              <a:cs typeface="Alegreya"/>
              <a:sym typeface="Alegrey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legreya"/>
              <a:buAutoNum type="alphaLcParenR"/>
            </a:pPr>
            <a:r>
              <a:rPr b="1" lang="en">
                <a:solidFill>
                  <a:srgbClr val="212121"/>
                </a:solidFill>
                <a:highlight>
                  <a:srgbClr val="F5F5F5"/>
                </a:highlight>
                <a:latin typeface="Alegreya"/>
                <a:ea typeface="Alegreya"/>
                <a:cs typeface="Alegreya"/>
                <a:sym typeface="Alegreya"/>
              </a:rPr>
              <a:t>Build the team’s capacity to achieve its goals</a:t>
            </a:r>
            <a:endParaRPr b="1">
              <a:solidFill>
                <a:srgbClr val="212121"/>
              </a:solidFill>
              <a:highlight>
                <a:srgbClr val="F5F5F5"/>
              </a:highlight>
              <a:latin typeface="Alegreya"/>
              <a:ea typeface="Alegreya"/>
              <a:cs typeface="Alegreya"/>
              <a:sym typeface="Alegreya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Alegreya"/>
              <a:buAutoNum type="alphaLcParenR"/>
            </a:pPr>
            <a:r>
              <a:rPr b="1" lang="en">
                <a:solidFill>
                  <a:srgbClr val="212121"/>
                </a:solidFill>
                <a:highlight>
                  <a:srgbClr val="F5F5F5"/>
                </a:highlight>
                <a:latin typeface="Alegreya"/>
                <a:ea typeface="Alegreya"/>
                <a:cs typeface="Alegreya"/>
                <a:sym typeface="Alegreya"/>
              </a:rPr>
              <a:t>Intervene or extend for students according to their need</a:t>
            </a:r>
            <a:endParaRPr b="1">
              <a:solidFill>
                <a:srgbClr val="212121"/>
              </a:solidFill>
              <a:highlight>
                <a:srgbClr val="F5F5F5"/>
              </a:highlight>
              <a:latin typeface="Alegreya"/>
              <a:ea typeface="Alegreya"/>
              <a:cs typeface="Alegreya"/>
              <a:sym typeface="Alegreya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212121"/>
                </a:solidFill>
                <a:highlight>
                  <a:srgbClr val="F5F5F5"/>
                </a:highlight>
                <a:latin typeface="Alegreya"/>
                <a:ea typeface="Alegreya"/>
                <a:cs typeface="Alegreya"/>
                <a:sym typeface="Alegreya"/>
              </a:rPr>
              <a:t>  5) Provide systematic, embedded (during the day)  interventions and enrichment</a:t>
            </a:r>
            <a:endParaRPr sz="2000"/>
          </a:p>
        </p:txBody>
      </p:sp>
      <p:pic>
        <p:nvPicPr>
          <p:cNvPr id="350" name="Google Shape;350;p53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7010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Remaining Challenges</a:t>
            </a:r>
            <a:endParaRPr/>
          </a:p>
        </p:txBody>
      </p:sp>
      <p:sp>
        <p:nvSpPr>
          <p:cNvPr id="356" name="Google Shape;356;p5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b="1" lang="en"/>
              <a:t>Secondary </a:t>
            </a:r>
            <a:r>
              <a:rPr b="1" lang="en"/>
              <a:t>WIN Time is just beginning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b="1" lang="en"/>
              <a:t>Elementary implementing new reading materials 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b="1" lang="en"/>
              <a:t> Incorporating ELA into Elementary PLT Time</a:t>
            </a:r>
            <a:endParaRPr b="1"/>
          </a:p>
        </p:txBody>
      </p:sp>
      <p:pic>
        <p:nvPicPr>
          <p:cNvPr id="357" name="Google Shape;357;p54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7010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questions do you have?</a:t>
            </a:r>
            <a:endParaRPr/>
          </a:p>
        </p:txBody>
      </p:sp>
      <p:sp>
        <p:nvSpPr>
          <p:cNvPr id="363" name="Google Shape;363;p5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"/>
              <a:t>Questions???</a:t>
            </a:r>
            <a:endParaRPr b="1" i="1"/>
          </a:p>
        </p:txBody>
      </p:sp>
      <p:pic>
        <p:nvPicPr>
          <p:cNvPr id="364" name="Google Shape;364;p55" title="Bedford-Logo-26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00" y="7010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6"/>
          <p:cNvSpPr txBox="1"/>
          <p:nvPr>
            <p:ph type="title"/>
          </p:nvPr>
        </p:nvSpPr>
        <p:spPr>
          <a:xfrm>
            <a:off x="2400250" y="4997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</a:t>
            </a:r>
            <a:r>
              <a:rPr lang="en">
                <a:highlight>
                  <a:schemeClr val="dk1"/>
                </a:highlight>
              </a:rPr>
              <a:t>REACH OUT</a:t>
            </a:r>
            <a:r>
              <a:rPr lang="en"/>
              <a:t>…</a:t>
            </a:r>
            <a:endParaRPr/>
          </a:p>
        </p:txBody>
      </p:sp>
      <p:sp>
        <p:nvSpPr>
          <p:cNvPr id="370" name="Google Shape;370;p5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chemeClr val="dk1"/>
                </a:highlight>
              </a:rPr>
              <a:t>Dr. Mark French</a:t>
            </a:r>
            <a:endParaRPr b="1"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mark.french@mybedford.us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Call or TEXT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708-921-7443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700"/>
          </a:p>
        </p:txBody>
      </p:sp>
      <p:pic>
        <p:nvPicPr>
          <p:cNvPr id="371" name="Google Shape;371;p56" title="Bedford-Logo-26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200" y="701075"/>
            <a:ext cx="20669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