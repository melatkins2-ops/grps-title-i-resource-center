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hvYI9yFLp4zeWZrV45tipxjvT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MDE is in the process of developing and releasing Curriculum Guidance.</a:t>
            </a:r>
            <a:endParaRPr/>
          </a:p>
        </p:txBody>
      </p:sp>
      <p:sp>
        <p:nvSpPr>
          <p:cNvPr id="134" name="Google Shape;13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GET UPDATED INFO</a:t>
            </a:r>
            <a:endParaRPr/>
          </a:p>
        </p:txBody>
      </p:sp>
      <p:sp>
        <p:nvSpPr>
          <p:cNvPr id="234" name="Google Shape;2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NEW HLS questions only need to be asked to new students registering and do NOT need to be asked to all.</a:t>
            </a:r>
            <a:endParaRPr/>
          </a:p>
        </p:txBody>
      </p:sp>
      <p:sp>
        <p:nvSpPr>
          <p:cNvPr id="244" name="Google Shape;2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4fd4c3aec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4fd4c3aec3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Examples of  obligation date issues: ordering, registering for conferences, signing of contracted services, etc. </a:t>
            </a:r>
            <a:endParaRPr/>
          </a:p>
        </p:txBody>
      </p:sp>
      <p:sp>
        <p:nvSpPr>
          <p:cNvPr id="273" name="Google Shape;27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Important for business and program contacts to meet on a regular basis to ensure coordination.  Note:  when transferring funds, the funds don’t actually “move”.  The district will charge back to the original funding source. </a:t>
            </a:r>
            <a:endParaRPr/>
          </a:p>
        </p:txBody>
      </p:sp>
      <p:sp>
        <p:nvSpPr>
          <p:cNvPr id="303" name="Google Shape;30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on purchased service contract requirements – what are the federal requirements and thresholds (what is the change)</a:t>
            </a:r>
            <a:endParaRPr/>
          </a:p>
        </p:txBody>
      </p:sp>
      <p:sp>
        <p:nvSpPr>
          <p:cNvPr id="313" name="Google Shape;31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4fd4c3aec3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4fd4c3aec3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9"/>
          <p:cNvSpPr/>
          <p:nvPr/>
        </p:nvSpPr>
        <p:spPr>
          <a:xfrm>
            <a:off x="-55831" y="-109181"/>
            <a:ext cx="12529885" cy="7100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pic>
        <p:nvPicPr>
          <p:cNvPr id="19" name="Google Shape;19;p29"/>
          <p:cNvPicPr preferRelativeResize="0"/>
          <p:nvPr/>
        </p:nvPicPr>
        <p:blipFill rotWithShape="1">
          <a:blip r:embed="rId2">
            <a:alphaModFix/>
          </a:blip>
          <a:srcRect b="0" l="0" r="0" t="0"/>
          <a:stretch/>
        </p:blipFill>
        <p:spPr>
          <a:xfrm>
            <a:off x="-2585809" y="-1905843"/>
            <a:ext cx="17045992" cy="10669685"/>
          </a:xfrm>
          <a:prstGeom prst="rect">
            <a:avLst/>
          </a:prstGeom>
          <a:noFill/>
          <a:ln>
            <a:noFill/>
          </a:ln>
        </p:spPr>
      </p:pic>
      <p:sp>
        <p:nvSpPr>
          <p:cNvPr id="20" name="Google Shape;20;p29"/>
          <p:cNvSpPr txBox="1"/>
          <p:nvPr>
            <p:ph type="ctrTitle"/>
          </p:nvPr>
        </p:nvSpPr>
        <p:spPr>
          <a:xfrm>
            <a:off x="2320412" y="1122363"/>
            <a:ext cx="7659329"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45073"/>
              </a:buClr>
              <a:buSzPts val="6000"/>
              <a:buFont typeface="Verdana"/>
              <a:buNone/>
              <a:defRPr sz="6000">
                <a:solidFill>
                  <a:srgbClr val="34507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9"/>
          <p:cNvSpPr txBox="1"/>
          <p:nvPr>
            <p:ph idx="1" type="subTitle"/>
          </p:nvPr>
        </p:nvSpPr>
        <p:spPr>
          <a:xfrm>
            <a:off x="2320412" y="3602038"/>
            <a:ext cx="7659329"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9"/>
          <p:cNvSpPr txBox="1"/>
          <p:nvPr>
            <p:ph idx="10" type="dt"/>
          </p:nvPr>
        </p:nvSpPr>
        <p:spPr>
          <a:xfrm>
            <a:off x="9111558" y="6356350"/>
            <a:ext cx="155644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9"/>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9"/>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200" u="none" cap="none" strike="noStrike">
                <a:solidFill>
                  <a:srgbClr val="888888"/>
                </a:solidFill>
                <a:latin typeface="Verdana"/>
                <a:ea typeface="Verdana"/>
                <a:cs typeface="Verdana"/>
                <a:sym typeface="Verdana"/>
              </a:defRPr>
            </a:lvl1pPr>
            <a:lvl2pPr indent="0" lvl="1" marL="0" algn="ctr">
              <a:spcBef>
                <a:spcPts val="0"/>
              </a:spcBef>
              <a:buNone/>
              <a:defRPr b="0" i="0" sz="1200" u="none" cap="none" strike="noStrike">
                <a:solidFill>
                  <a:srgbClr val="888888"/>
                </a:solidFill>
                <a:latin typeface="Verdana"/>
                <a:ea typeface="Verdana"/>
                <a:cs typeface="Verdana"/>
                <a:sym typeface="Verdana"/>
              </a:defRPr>
            </a:lvl2pPr>
            <a:lvl3pPr indent="0" lvl="2" marL="0" algn="ctr">
              <a:spcBef>
                <a:spcPts val="0"/>
              </a:spcBef>
              <a:buNone/>
              <a:defRPr b="0" i="0" sz="1200" u="none" cap="none" strike="noStrike">
                <a:solidFill>
                  <a:srgbClr val="888888"/>
                </a:solidFill>
                <a:latin typeface="Verdana"/>
                <a:ea typeface="Verdana"/>
                <a:cs typeface="Verdana"/>
                <a:sym typeface="Verdana"/>
              </a:defRPr>
            </a:lvl3pPr>
            <a:lvl4pPr indent="0" lvl="3" marL="0" algn="ctr">
              <a:spcBef>
                <a:spcPts val="0"/>
              </a:spcBef>
              <a:buNone/>
              <a:defRPr b="0" i="0" sz="1200" u="none" cap="none" strike="noStrike">
                <a:solidFill>
                  <a:srgbClr val="888888"/>
                </a:solidFill>
                <a:latin typeface="Verdana"/>
                <a:ea typeface="Verdana"/>
                <a:cs typeface="Verdana"/>
                <a:sym typeface="Verdana"/>
              </a:defRPr>
            </a:lvl4pPr>
            <a:lvl5pPr indent="0" lvl="4" marL="0" algn="ctr">
              <a:spcBef>
                <a:spcPts val="0"/>
              </a:spcBef>
              <a:buNone/>
              <a:defRPr b="0" i="0" sz="1200" u="none" cap="none" strike="noStrike">
                <a:solidFill>
                  <a:srgbClr val="888888"/>
                </a:solidFill>
                <a:latin typeface="Verdana"/>
                <a:ea typeface="Verdana"/>
                <a:cs typeface="Verdana"/>
                <a:sym typeface="Verdana"/>
              </a:defRPr>
            </a:lvl5pPr>
            <a:lvl6pPr indent="0" lvl="5" marL="0" algn="ctr">
              <a:spcBef>
                <a:spcPts val="0"/>
              </a:spcBef>
              <a:buNone/>
              <a:defRPr b="0" i="0" sz="1200" u="none" cap="none" strike="noStrike">
                <a:solidFill>
                  <a:srgbClr val="888888"/>
                </a:solidFill>
                <a:latin typeface="Verdana"/>
                <a:ea typeface="Verdana"/>
                <a:cs typeface="Verdana"/>
                <a:sym typeface="Verdana"/>
              </a:defRPr>
            </a:lvl6pPr>
            <a:lvl7pPr indent="0" lvl="6" marL="0" algn="ctr">
              <a:spcBef>
                <a:spcPts val="0"/>
              </a:spcBef>
              <a:buNone/>
              <a:defRPr b="0" i="0" sz="1200" u="none" cap="none" strike="noStrike">
                <a:solidFill>
                  <a:srgbClr val="888888"/>
                </a:solidFill>
                <a:latin typeface="Verdana"/>
                <a:ea typeface="Verdana"/>
                <a:cs typeface="Verdana"/>
                <a:sym typeface="Verdana"/>
              </a:defRPr>
            </a:lvl7pPr>
            <a:lvl8pPr indent="0" lvl="7" marL="0" algn="ctr">
              <a:spcBef>
                <a:spcPts val="0"/>
              </a:spcBef>
              <a:buNone/>
              <a:defRPr b="0" i="0" sz="1200" u="none" cap="none" strike="noStrike">
                <a:solidFill>
                  <a:srgbClr val="888888"/>
                </a:solidFill>
                <a:latin typeface="Verdana"/>
                <a:ea typeface="Verdana"/>
                <a:cs typeface="Verdana"/>
                <a:sym typeface="Verdana"/>
              </a:defRPr>
            </a:lvl8pPr>
            <a:lvl9pPr indent="0" lvl="8" marL="0" algn="ctr">
              <a:spcBef>
                <a:spcPts val="0"/>
              </a:spcBef>
              <a:buNone/>
              <a:defRPr b="0" i="0" sz="1200" u="none" cap="none" strike="noStrike">
                <a:solidFill>
                  <a:srgbClr val="888888"/>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en-US"/>
              <a:t>‹#›</a:t>
            </a:fld>
            <a:endParaRPr/>
          </a:p>
        </p:txBody>
      </p:sp>
      <p:pic>
        <p:nvPicPr>
          <p:cNvPr id="25" name="Google Shape;25;p29"/>
          <p:cNvPicPr preferRelativeResize="0"/>
          <p:nvPr/>
        </p:nvPicPr>
        <p:blipFill rotWithShape="1">
          <a:blip r:embed="rId3">
            <a:alphaModFix/>
          </a:blip>
          <a:srcRect b="0" l="0" r="0" t="0"/>
          <a:stretch/>
        </p:blipFill>
        <p:spPr>
          <a:xfrm>
            <a:off x="2320413" y="3475446"/>
            <a:ext cx="7659329" cy="16477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0"/>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0"/>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0"/>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0"/>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31"/>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1"/>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1"/>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32"/>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2"/>
          <p:cNvSpPr txBox="1"/>
          <p:nvPr>
            <p:ph idx="1" type="body"/>
          </p:nvPr>
        </p:nvSpPr>
        <p:spPr>
          <a:xfrm>
            <a:off x="1376126" y="1542197"/>
            <a:ext cx="4643674" cy="46347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2"/>
          <p:cNvSpPr txBox="1"/>
          <p:nvPr>
            <p:ph idx="2" type="body"/>
          </p:nvPr>
        </p:nvSpPr>
        <p:spPr>
          <a:xfrm>
            <a:off x="6172200" y="1542197"/>
            <a:ext cx="5181600" cy="46347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2"/>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_Plain">
  <p:cSld name="1_Title and Content_Plain">
    <p:spTree>
      <p:nvGrpSpPr>
        <p:cNvPr id="42" name="Shape 42"/>
        <p:cNvGrpSpPr/>
        <p:nvPr/>
      </p:nvGrpSpPr>
      <p:grpSpPr>
        <a:xfrm>
          <a:off x="0" y="0"/>
          <a:ext cx="0" cy="0"/>
          <a:chOff x="0" y="0"/>
          <a:chExt cx="0" cy="0"/>
        </a:xfrm>
      </p:grpSpPr>
      <p:sp>
        <p:nvSpPr>
          <p:cNvPr id="43" name="Google Shape;43;p33"/>
          <p:cNvSpPr/>
          <p:nvPr/>
        </p:nvSpPr>
        <p:spPr>
          <a:xfrm>
            <a:off x="-63374" y="-63374"/>
            <a:ext cx="12348926" cy="700738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44" name="Google Shape;44;p33"/>
          <p:cNvPicPr preferRelativeResize="0"/>
          <p:nvPr/>
        </p:nvPicPr>
        <p:blipFill rotWithShape="1">
          <a:blip r:embed="rId2">
            <a:alphaModFix amt="35000"/>
          </a:blip>
          <a:srcRect b="0" l="0" r="0" t="0"/>
          <a:stretch/>
        </p:blipFill>
        <p:spPr>
          <a:xfrm>
            <a:off x="9433710" y="-2553341"/>
            <a:ext cx="5334011" cy="5379731"/>
          </a:xfrm>
          <a:prstGeom prst="rect">
            <a:avLst/>
          </a:prstGeom>
          <a:noFill/>
          <a:ln>
            <a:noFill/>
          </a:ln>
        </p:spPr>
      </p:pic>
      <p:pic>
        <p:nvPicPr>
          <p:cNvPr id="45" name="Google Shape;45;p33"/>
          <p:cNvPicPr preferRelativeResize="0"/>
          <p:nvPr/>
        </p:nvPicPr>
        <p:blipFill rotWithShape="1">
          <a:blip r:embed="rId3">
            <a:alphaModFix amt="35000"/>
          </a:blip>
          <a:srcRect b="0" l="0" r="0" t="0"/>
          <a:stretch/>
        </p:blipFill>
        <p:spPr>
          <a:xfrm>
            <a:off x="-2880424" y="4731330"/>
            <a:ext cx="6114300" cy="6114300"/>
          </a:xfrm>
          <a:prstGeom prst="rect">
            <a:avLst/>
          </a:prstGeom>
          <a:noFill/>
          <a:ln>
            <a:noFill/>
          </a:ln>
        </p:spPr>
      </p:pic>
      <p:pic>
        <p:nvPicPr>
          <p:cNvPr id="46" name="Google Shape;46;p33"/>
          <p:cNvPicPr preferRelativeResize="0"/>
          <p:nvPr/>
        </p:nvPicPr>
        <p:blipFill rotWithShape="1">
          <a:blip r:embed="rId4">
            <a:alphaModFix/>
          </a:blip>
          <a:srcRect b="0" l="0" r="0" t="0"/>
          <a:stretch/>
        </p:blipFill>
        <p:spPr>
          <a:xfrm>
            <a:off x="10698567" y="6259702"/>
            <a:ext cx="1201833" cy="461773"/>
          </a:xfrm>
          <a:prstGeom prst="rect">
            <a:avLst/>
          </a:prstGeom>
          <a:noFill/>
          <a:ln>
            <a:noFill/>
          </a:ln>
        </p:spPr>
      </p:pic>
      <p:sp>
        <p:nvSpPr>
          <p:cNvPr id="47" name="Google Shape;47;p33"/>
          <p:cNvSpPr txBox="1"/>
          <p:nvPr>
            <p:ph type="title"/>
          </p:nvPr>
        </p:nvSpPr>
        <p:spPr>
          <a:xfrm>
            <a:off x="1068310" y="365125"/>
            <a:ext cx="10285490"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3"/>
          <p:cNvSpPr txBox="1"/>
          <p:nvPr>
            <p:ph idx="1" type="body"/>
          </p:nvPr>
        </p:nvSpPr>
        <p:spPr>
          <a:xfrm>
            <a:off x="1068311" y="1548143"/>
            <a:ext cx="10285490" cy="46288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3"/>
          <p:cNvSpPr txBox="1"/>
          <p:nvPr>
            <p:ph idx="10" type="dt"/>
          </p:nvPr>
        </p:nvSpPr>
        <p:spPr>
          <a:xfrm>
            <a:off x="1068310" y="6356350"/>
            <a:ext cx="251308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3"/>
          <p:cNvSpPr txBox="1"/>
          <p:nvPr>
            <p:ph idx="11" type="ftr"/>
          </p:nvPr>
        </p:nvSpPr>
        <p:spPr>
          <a:xfrm>
            <a:off x="3766242" y="6356350"/>
            <a:ext cx="586815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3"/>
          <p:cNvSpPr txBox="1"/>
          <p:nvPr>
            <p:ph idx="12" type="sldNum"/>
          </p:nvPr>
        </p:nvSpPr>
        <p:spPr>
          <a:xfrm>
            <a:off x="9849610" y="6356350"/>
            <a:ext cx="63374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5073"/>
              </a:buClr>
              <a:buSzPts val="6000"/>
              <a:buFont typeface="Verdana"/>
              <a:buNone/>
              <a:defRPr sz="6000">
                <a:solidFill>
                  <a:srgbClr val="34507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5" name="Google Shape;55;p34"/>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35"/>
          <p:cNvSpPr txBox="1"/>
          <p:nvPr>
            <p:ph type="title"/>
          </p:nvPr>
        </p:nvSpPr>
        <p:spPr>
          <a:xfrm>
            <a:off x="1729212" y="365125"/>
            <a:ext cx="9626176" cy="82391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1376126" y="1681163"/>
            <a:ext cx="483873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35"/>
          <p:cNvSpPr txBox="1"/>
          <p:nvPr>
            <p:ph idx="2" type="body"/>
          </p:nvPr>
        </p:nvSpPr>
        <p:spPr>
          <a:xfrm>
            <a:off x="1376126" y="2505075"/>
            <a:ext cx="483873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5"/>
          <p:cNvSpPr txBox="1"/>
          <p:nvPr>
            <p:ph idx="3" type="body"/>
          </p:nvPr>
        </p:nvSpPr>
        <p:spPr>
          <a:xfrm>
            <a:off x="6492826" y="1681163"/>
            <a:ext cx="486256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35"/>
          <p:cNvSpPr txBox="1"/>
          <p:nvPr>
            <p:ph idx="4" type="body"/>
          </p:nvPr>
        </p:nvSpPr>
        <p:spPr>
          <a:xfrm>
            <a:off x="6492826" y="2505075"/>
            <a:ext cx="486256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5"/>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5"/>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36"/>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6"/>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_Plain">
  <p:cSld name="1_Title Only_Plain">
    <p:spTree>
      <p:nvGrpSpPr>
        <p:cNvPr id="72" name="Shape 72"/>
        <p:cNvGrpSpPr/>
        <p:nvPr/>
      </p:nvGrpSpPr>
      <p:grpSpPr>
        <a:xfrm>
          <a:off x="0" y="0"/>
          <a:ext cx="0" cy="0"/>
          <a:chOff x="0" y="0"/>
          <a:chExt cx="0" cy="0"/>
        </a:xfrm>
      </p:grpSpPr>
      <p:sp>
        <p:nvSpPr>
          <p:cNvPr id="73" name="Google Shape;73;p37"/>
          <p:cNvSpPr/>
          <p:nvPr/>
        </p:nvSpPr>
        <p:spPr>
          <a:xfrm>
            <a:off x="-63374" y="-63374"/>
            <a:ext cx="12348926" cy="700738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74" name="Google Shape;74;p37"/>
          <p:cNvPicPr preferRelativeResize="0"/>
          <p:nvPr/>
        </p:nvPicPr>
        <p:blipFill rotWithShape="1">
          <a:blip r:embed="rId2">
            <a:alphaModFix amt="35000"/>
          </a:blip>
          <a:srcRect b="0" l="0" r="0" t="0"/>
          <a:stretch/>
        </p:blipFill>
        <p:spPr>
          <a:xfrm>
            <a:off x="9433710" y="-2553341"/>
            <a:ext cx="5334011" cy="5379731"/>
          </a:xfrm>
          <a:prstGeom prst="rect">
            <a:avLst/>
          </a:prstGeom>
          <a:noFill/>
          <a:ln>
            <a:noFill/>
          </a:ln>
        </p:spPr>
      </p:pic>
      <p:sp>
        <p:nvSpPr>
          <p:cNvPr id="75" name="Google Shape;75;p37"/>
          <p:cNvSpPr txBox="1"/>
          <p:nvPr>
            <p:ph type="title"/>
          </p:nvPr>
        </p:nvSpPr>
        <p:spPr>
          <a:xfrm>
            <a:off x="1068310" y="365125"/>
            <a:ext cx="10285490"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0" type="dt"/>
          </p:nvPr>
        </p:nvSpPr>
        <p:spPr>
          <a:xfrm>
            <a:off x="1068310" y="6356350"/>
            <a:ext cx="251308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1" type="ftr"/>
          </p:nvPr>
        </p:nvSpPr>
        <p:spPr>
          <a:xfrm>
            <a:off x="3720973" y="6356350"/>
            <a:ext cx="571273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2" type="sldNum"/>
          </p:nvPr>
        </p:nvSpPr>
        <p:spPr>
          <a:xfrm>
            <a:off x="9606043"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9" name="Google Shape;79;p37"/>
          <p:cNvPicPr preferRelativeResize="0"/>
          <p:nvPr/>
        </p:nvPicPr>
        <p:blipFill rotWithShape="1">
          <a:blip r:embed="rId3">
            <a:alphaModFix/>
          </a:blip>
          <a:srcRect b="0" l="0" r="0" t="0"/>
          <a:stretch/>
        </p:blipFill>
        <p:spPr>
          <a:xfrm>
            <a:off x="10698567" y="6259702"/>
            <a:ext cx="1201833" cy="461773"/>
          </a:xfrm>
          <a:prstGeom prst="rect">
            <a:avLst/>
          </a:prstGeom>
          <a:noFill/>
          <a:ln>
            <a:noFill/>
          </a:ln>
        </p:spPr>
      </p:pic>
      <p:pic>
        <p:nvPicPr>
          <p:cNvPr id="80" name="Google Shape;80;p37"/>
          <p:cNvPicPr preferRelativeResize="0"/>
          <p:nvPr/>
        </p:nvPicPr>
        <p:blipFill rotWithShape="1">
          <a:blip r:embed="rId4">
            <a:alphaModFix amt="35000"/>
          </a:blip>
          <a:srcRect b="0" l="0" r="0" t="0"/>
          <a:stretch/>
        </p:blipFill>
        <p:spPr>
          <a:xfrm>
            <a:off x="-2880424" y="4731330"/>
            <a:ext cx="6114300" cy="6114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Blank">
  <p:cSld name="Title Only_Blank">
    <p:spTree>
      <p:nvGrpSpPr>
        <p:cNvPr id="81" name="Shape 81"/>
        <p:cNvGrpSpPr/>
        <p:nvPr/>
      </p:nvGrpSpPr>
      <p:grpSpPr>
        <a:xfrm>
          <a:off x="0" y="0"/>
          <a:ext cx="0" cy="0"/>
          <a:chOff x="0" y="0"/>
          <a:chExt cx="0" cy="0"/>
        </a:xfrm>
      </p:grpSpPr>
      <p:sp>
        <p:nvSpPr>
          <p:cNvPr id="82" name="Google Shape;82;p38"/>
          <p:cNvSpPr/>
          <p:nvPr/>
        </p:nvSpPr>
        <p:spPr>
          <a:xfrm>
            <a:off x="-63374" y="-63374"/>
            <a:ext cx="12348926" cy="700738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3" name="Google Shape;83;p38"/>
          <p:cNvSpPr txBox="1"/>
          <p:nvPr>
            <p:ph type="title"/>
          </p:nvPr>
        </p:nvSpPr>
        <p:spPr>
          <a:xfrm>
            <a:off x="1068310" y="365125"/>
            <a:ext cx="10285490" cy="79371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8"/>
          <p:cNvSpPr txBox="1"/>
          <p:nvPr>
            <p:ph idx="10" type="dt"/>
          </p:nvPr>
        </p:nvSpPr>
        <p:spPr>
          <a:xfrm>
            <a:off x="1068310" y="6356350"/>
            <a:ext cx="251308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1" type="ftr"/>
          </p:nvPr>
        </p:nvSpPr>
        <p:spPr>
          <a:xfrm>
            <a:off x="3720973" y="6356350"/>
            <a:ext cx="571273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2" type="sldNum"/>
          </p:nvPr>
        </p:nvSpPr>
        <p:spPr>
          <a:xfrm>
            <a:off x="9606043"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7" name="Google Shape;87;p38"/>
          <p:cNvPicPr preferRelativeResize="0"/>
          <p:nvPr/>
        </p:nvPicPr>
        <p:blipFill rotWithShape="1">
          <a:blip r:embed="rId2">
            <a:alphaModFix/>
          </a:blip>
          <a:srcRect b="0" l="0" r="0" t="0"/>
          <a:stretch/>
        </p:blipFill>
        <p:spPr>
          <a:xfrm>
            <a:off x="10698567" y="6259702"/>
            <a:ext cx="1201833" cy="46177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39"/>
          <p:cNvSpPr txBox="1"/>
          <p:nvPr>
            <p:ph type="title"/>
          </p:nvPr>
        </p:nvSpPr>
        <p:spPr>
          <a:xfrm>
            <a:off x="1738265" y="457200"/>
            <a:ext cx="3033760" cy="7642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9"/>
          <p:cNvSpPr txBox="1"/>
          <p:nvPr>
            <p:ph idx="1" type="body"/>
          </p:nvPr>
        </p:nvSpPr>
        <p:spPr>
          <a:xfrm>
            <a:off x="1376126" y="1716779"/>
            <a:ext cx="3395899" cy="415220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39"/>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9"/>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9"/>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39"/>
          <p:cNvSpPr/>
          <p:nvPr/>
        </p:nvSpPr>
        <p:spPr>
          <a:xfrm>
            <a:off x="4772025" y="805758"/>
            <a:ext cx="7640276" cy="7642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5" name="Google Shape;95;p39"/>
          <p:cNvSpPr txBox="1"/>
          <p:nvPr>
            <p:ph idx="2" type="body"/>
          </p:nvPr>
        </p:nvSpPr>
        <p:spPr>
          <a:xfrm>
            <a:off x="5183188" y="457201"/>
            <a:ext cx="6172200"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40"/>
          <p:cNvSpPr/>
          <p:nvPr/>
        </p:nvSpPr>
        <p:spPr>
          <a:xfrm>
            <a:off x="4772025" y="805758"/>
            <a:ext cx="7640276" cy="7642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8" name="Google Shape;98;p40"/>
          <p:cNvSpPr txBox="1"/>
          <p:nvPr>
            <p:ph type="title"/>
          </p:nvPr>
        </p:nvSpPr>
        <p:spPr>
          <a:xfrm>
            <a:off x="1720158" y="457200"/>
            <a:ext cx="3051867" cy="7642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40"/>
          <p:cNvSpPr/>
          <p:nvPr>
            <p:ph idx="2" type="pic"/>
          </p:nvPr>
        </p:nvSpPr>
        <p:spPr>
          <a:xfrm>
            <a:off x="5183188" y="457201"/>
            <a:ext cx="6172200" cy="5403850"/>
          </a:xfrm>
          <a:prstGeom prst="rect">
            <a:avLst/>
          </a:prstGeom>
          <a:solidFill>
            <a:schemeClr val="lt1"/>
          </a:solidFill>
          <a:ln cap="flat" cmpd="sng" w="38100">
            <a:solidFill>
              <a:srgbClr val="7A9A61"/>
            </a:solidFill>
            <a:prstDash val="solid"/>
            <a:round/>
            <a:headEnd len="sm" w="sm" type="none"/>
            <a:tailEnd len="sm" w="sm" type="none"/>
          </a:ln>
        </p:spPr>
      </p:sp>
      <p:sp>
        <p:nvSpPr>
          <p:cNvPr id="100" name="Google Shape;100;p40"/>
          <p:cNvSpPr txBox="1"/>
          <p:nvPr>
            <p:ph idx="1" type="body"/>
          </p:nvPr>
        </p:nvSpPr>
        <p:spPr>
          <a:xfrm>
            <a:off x="1376126" y="1570037"/>
            <a:ext cx="3395899" cy="429895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40"/>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0"/>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0"/>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8"/>
          <p:cNvPicPr preferRelativeResize="0"/>
          <p:nvPr/>
        </p:nvPicPr>
        <p:blipFill rotWithShape="1">
          <a:blip r:embed="rId1">
            <a:alphaModFix/>
          </a:blip>
          <a:srcRect b="0" l="0" r="0" t="0"/>
          <a:stretch/>
        </p:blipFill>
        <p:spPr>
          <a:xfrm>
            <a:off x="-1394972" y="-593726"/>
            <a:ext cx="15447855" cy="11441233"/>
          </a:xfrm>
          <a:prstGeom prst="rect">
            <a:avLst/>
          </a:prstGeom>
          <a:noFill/>
          <a:ln>
            <a:noFill/>
          </a:ln>
        </p:spPr>
      </p:pic>
      <p:sp>
        <p:nvSpPr>
          <p:cNvPr id="11" name="Google Shape;11;p28"/>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Verdana"/>
              <a:buNone/>
              <a:defRPr b="0" i="0" sz="44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8"/>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Verdana"/>
                <a:ea typeface="Verdana"/>
                <a:cs typeface="Verdana"/>
                <a:sym typeface="Verdan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3" name="Google Shape;13;p28"/>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 name="Google Shape;14;p28"/>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5" name="Google Shape;15;p28"/>
          <p:cNvSpPr txBox="1"/>
          <p:nvPr>
            <p:ph idx="12" type="sldNum"/>
          </p:nvPr>
        </p:nvSpPr>
        <p:spPr>
          <a:xfrm>
            <a:off x="8292974" y="6356350"/>
            <a:ext cx="6790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Verdana"/>
                <a:ea typeface="Verdana"/>
                <a:cs typeface="Verdana"/>
                <a:sym typeface="Verdana"/>
              </a:defRPr>
            </a:lvl1pPr>
            <a:lvl2pPr indent="0" lvl="1" marL="0" marR="0" rtl="0" algn="r">
              <a:spcBef>
                <a:spcPts val="0"/>
              </a:spcBef>
              <a:buNone/>
              <a:defRPr b="0" i="0" sz="1200" u="none" cap="none" strike="noStrike">
                <a:solidFill>
                  <a:srgbClr val="888888"/>
                </a:solidFill>
                <a:latin typeface="Verdana"/>
                <a:ea typeface="Verdana"/>
                <a:cs typeface="Verdana"/>
                <a:sym typeface="Verdana"/>
              </a:defRPr>
            </a:lvl2pPr>
            <a:lvl3pPr indent="0" lvl="2" marL="0" marR="0" rtl="0" algn="r">
              <a:spcBef>
                <a:spcPts val="0"/>
              </a:spcBef>
              <a:buNone/>
              <a:defRPr b="0" i="0" sz="1200" u="none" cap="none" strike="noStrike">
                <a:solidFill>
                  <a:srgbClr val="888888"/>
                </a:solidFill>
                <a:latin typeface="Verdana"/>
                <a:ea typeface="Verdana"/>
                <a:cs typeface="Verdana"/>
                <a:sym typeface="Verdana"/>
              </a:defRPr>
            </a:lvl3pPr>
            <a:lvl4pPr indent="0" lvl="3" marL="0" marR="0" rtl="0" algn="r">
              <a:spcBef>
                <a:spcPts val="0"/>
              </a:spcBef>
              <a:buNone/>
              <a:defRPr b="0" i="0" sz="1200" u="none" cap="none" strike="noStrike">
                <a:solidFill>
                  <a:srgbClr val="888888"/>
                </a:solidFill>
                <a:latin typeface="Verdana"/>
                <a:ea typeface="Verdana"/>
                <a:cs typeface="Verdana"/>
                <a:sym typeface="Verdana"/>
              </a:defRPr>
            </a:lvl4pPr>
            <a:lvl5pPr indent="0" lvl="4" marL="0" marR="0" rtl="0" algn="r">
              <a:spcBef>
                <a:spcPts val="0"/>
              </a:spcBef>
              <a:buNone/>
              <a:defRPr b="0" i="0" sz="1200" u="none" cap="none" strike="noStrike">
                <a:solidFill>
                  <a:srgbClr val="888888"/>
                </a:solidFill>
                <a:latin typeface="Verdana"/>
                <a:ea typeface="Verdana"/>
                <a:cs typeface="Verdana"/>
                <a:sym typeface="Verdana"/>
              </a:defRPr>
            </a:lvl5pPr>
            <a:lvl6pPr indent="0" lvl="5" marL="0" marR="0" rtl="0" algn="r">
              <a:spcBef>
                <a:spcPts val="0"/>
              </a:spcBef>
              <a:buNone/>
              <a:defRPr b="0" i="0" sz="1200" u="none" cap="none" strike="noStrike">
                <a:solidFill>
                  <a:srgbClr val="888888"/>
                </a:solidFill>
                <a:latin typeface="Verdana"/>
                <a:ea typeface="Verdana"/>
                <a:cs typeface="Verdana"/>
                <a:sym typeface="Verdana"/>
              </a:defRPr>
            </a:lvl6pPr>
            <a:lvl7pPr indent="0" lvl="6" marL="0" marR="0" rtl="0" algn="r">
              <a:spcBef>
                <a:spcPts val="0"/>
              </a:spcBef>
              <a:buNone/>
              <a:defRPr b="0" i="0" sz="1200" u="none" cap="none" strike="noStrike">
                <a:solidFill>
                  <a:srgbClr val="888888"/>
                </a:solidFill>
                <a:latin typeface="Verdana"/>
                <a:ea typeface="Verdana"/>
                <a:cs typeface="Verdana"/>
                <a:sym typeface="Verdana"/>
              </a:defRPr>
            </a:lvl7pPr>
            <a:lvl8pPr indent="0" lvl="7" marL="0" marR="0" rtl="0" algn="r">
              <a:spcBef>
                <a:spcPts val="0"/>
              </a:spcBef>
              <a:buNone/>
              <a:defRPr b="0" i="0" sz="1200" u="none" cap="none" strike="noStrike">
                <a:solidFill>
                  <a:srgbClr val="888888"/>
                </a:solidFill>
                <a:latin typeface="Verdana"/>
                <a:ea typeface="Verdana"/>
                <a:cs typeface="Verdana"/>
                <a:sym typeface="Verdana"/>
              </a:defRPr>
            </a:lvl8pPr>
            <a:lvl9pPr indent="0" lvl="8" marL="0" marR="0" rtl="0" algn="r">
              <a:spcBef>
                <a:spcPts val="0"/>
              </a:spcBef>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id="16" name="Google Shape;16;p28"/>
          <p:cNvPicPr preferRelativeResize="0"/>
          <p:nvPr/>
        </p:nvPicPr>
        <p:blipFill rotWithShape="1">
          <a:blip r:embed="rId2">
            <a:alphaModFix/>
          </a:blip>
          <a:srcRect b="0" l="0" r="0" t="0"/>
          <a:stretch/>
        </p:blipFill>
        <p:spPr>
          <a:xfrm>
            <a:off x="727222" y="392284"/>
            <a:ext cx="790449" cy="75349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www.michigan.gov/mde/services/school-performance-supports/educational-supports/current-topics/regional-on-site-review-materials" TargetMode="External"/><Relationship Id="rId4" Type="http://schemas.openxmlformats.org/officeDocument/2006/relationships/image" Target="../media/image8.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ocs.google.com/document/d/1Zs1CrzgTi1jIWUf1TrmHzt2uNYBOwM14KOxk5Sd1F0M/edit" TargetMode="External"/><Relationship Id="rId4" Type="http://schemas.openxmlformats.org/officeDocument/2006/relationships/hyperlink" Target="https://docs.google.com/document/d/1gaj5WoZVkxq4zVnyu4boib4nhiTDOrHfcYZCgT_mZls/edi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sites.google.com/muskegonisd.org/processes/home" TargetMode="External"/><Relationship Id="rId4" Type="http://schemas.openxmlformats.org/officeDocument/2006/relationships/image" Target="../media/image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michigan.gov/documents/mde/Parent_and_Family_Engagement_Plan_Template_630927_7.docx" TargetMode="External"/><Relationship Id="rId4" Type="http://schemas.openxmlformats.org/officeDocument/2006/relationships/hyperlink" Target="https://docs.google.com/document/d/1q_DjRsbxn6gnZq6icI_8ZguqufSSnQodffTK2em4YH8/edit?usp=sharing" TargetMode="External"/><Relationship Id="rId5" Type="http://schemas.openxmlformats.org/officeDocument/2006/relationships/hyperlink" Target="https://docs.google.com/document/d/1RgDN75tI7gFHEat169R8FoknAYxe3rbhJyp4PuTaDAU/edit?usp=sharing" TargetMode="External"/><Relationship Id="rId6" Type="http://schemas.openxmlformats.org/officeDocument/2006/relationships/hyperlink" Target="https://docs.google.com/document/d/1RgDN75tI7gFHEat169R8FoknAYxe3rbhJyp4PuTaDAU/edit?usp=sharing" TargetMode="External"/><Relationship Id="rId7" Type="http://schemas.openxmlformats.org/officeDocument/2006/relationships/hyperlink" Target="https://drive.google.com/file/d/1-z_9xO7y1oFineRDDGBh9LO-ja1xVrgJ/vie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michigan.gov/mde/0,4615,7-140-81376_51051-196712--,00.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document/d/1gO6zXbkvCuzDCYaonYJeDDEod18S15I3NjS2_taP2DY/edit?usp=sharing" TargetMode="External"/><Relationship Id="rId4" Type="http://schemas.openxmlformats.org/officeDocument/2006/relationships/hyperlink" Target="https://docs.google.com/document/d/1gO6zXbkvCuzDCYaonYJeDDEod18S15I3NjS2_taP2DY/edit?usp=sharing" TargetMode="External"/><Relationship Id="rId5" Type="http://schemas.openxmlformats.org/officeDocument/2006/relationships/hyperlink" Target="https://docs.google.com/document/d/1H-jkldLtO6FvZSQIJtcTn3xuzxYOPUoqku3M_QZD1h0/edit?usp=sharing" TargetMode="External"/><Relationship Id="rId6" Type="http://schemas.openxmlformats.org/officeDocument/2006/relationships/hyperlink" Target="https://docs.google.com/document/d/1H-jkldLtO6FvZSQIJtcTn3xuzxYOPUoqku3M_QZD1h0/edit?usp=shar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michigan.gov/documents/mde/T_III_Immigrant_Allowable_activities_DEc_8_3_342333_7.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michigan.gov/mde/services/school-performance-supports/educational-supports/programs/title-iii---english-learner-and-immigrant-and-section-41-bilingual-education" TargetMode="External"/><Relationship Id="rId4" Type="http://schemas.openxmlformats.org/officeDocument/2006/relationships/hyperlink" Target="https://www.michigan.gov/mde/services/school-performance-supports/educational-supports/programs/language-assistance-program-documents" TargetMode="External"/><Relationship Id="rId5" Type="http://schemas.openxmlformats.org/officeDocument/2006/relationships/hyperlink" Target="https://www.michigan.gov/mde/services/student-assessment/wida-assessments/wida-placement-test/home-language-surveys" TargetMode="External"/><Relationship Id="rId6" Type="http://schemas.openxmlformats.org/officeDocument/2006/relationships/hyperlink" Target="https://www.michigan.gov/mde/services/student-assessment/wida-assessments/wida-placement-test/home-language-survey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1.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michigan.gov/documents/appendix_33974_7.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3.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mailto:PattonM@michigan.gov" TargetMode="External"/><Relationship Id="rId4" Type="http://schemas.openxmlformats.org/officeDocument/2006/relationships/hyperlink" Target="mailto:RogersA19@michigan.go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2320412" y="177421"/>
            <a:ext cx="7659329" cy="280866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345073"/>
              </a:buClr>
              <a:buSzPts val="4800"/>
              <a:buFont typeface="Verdana"/>
              <a:buNone/>
            </a:pPr>
            <a:r>
              <a:rPr b="1" lang="en-US" sz="4800"/>
              <a:t>COMMON FEDERAL PROGRAM AND FISCAL FINDINGS</a:t>
            </a:r>
            <a:endParaRPr/>
          </a:p>
        </p:txBody>
      </p:sp>
      <p:sp>
        <p:nvSpPr>
          <p:cNvPr id="110" name="Google Shape;110;p1"/>
          <p:cNvSpPr txBox="1"/>
          <p:nvPr>
            <p:ph idx="1" type="subTitle"/>
          </p:nvPr>
        </p:nvSpPr>
        <p:spPr>
          <a:xfrm>
            <a:off x="2320412" y="3602038"/>
            <a:ext cx="7659329"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Andrea Rogers, Regional Consultant, Office of Educational Supports</a:t>
            </a:r>
            <a:endParaRPr/>
          </a:p>
          <a:p>
            <a:pPr indent="0" lvl="0" marL="0" rtl="0" algn="ctr">
              <a:lnSpc>
                <a:spcPct val="90000"/>
              </a:lnSpc>
              <a:spcBef>
                <a:spcPts val="1000"/>
              </a:spcBef>
              <a:spcAft>
                <a:spcPts val="0"/>
              </a:spcAft>
              <a:buClr>
                <a:schemeClr val="dk1"/>
              </a:buClr>
              <a:buSzPts val="2400"/>
              <a:buNone/>
            </a:pPr>
            <a:r>
              <a:rPr lang="en-US"/>
              <a:t>Shelly Patton, Interim Manager, Office of Educational Supports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Please join our SLIDO</a:t>
            </a:r>
            <a:endParaRPr/>
          </a:p>
        </p:txBody>
      </p:sp>
      <p:pic>
        <p:nvPicPr>
          <p:cNvPr id="116" name="Google Shape;116;p2"/>
          <p:cNvPicPr preferRelativeResize="0"/>
          <p:nvPr>
            <p:ph idx="1" type="body"/>
          </p:nvPr>
        </p:nvPicPr>
        <p:blipFill rotWithShape="1">
          <a:blip r:embed="rId3">
            <a:alphaModFix/>
          </a:blip>
          <a:srcRect b="0" l="0" r="0" t="0"/>
          <a:stretch/>
        </p:blipFill>
        <p:spPr>
          <a:xfrm>
            <a:off x="1680272" y="1856470"/>
            <a:ext cx="3802253" cy="3802253"/>
          </a:xfrm>
          <a:prstGeom prst="rect">
            <a:avLst/>
          </a:prstGeom>
          <a:noFill/>
          <a:ln>
            <a:noFill/>
          </a:ln>
        </p:spPr>
      </p:pic>
      <p:sp>
        <p:nvSpPr>
          <p:cNvPr id="117" name="Google Shape;117;p2"/>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18" name="Google Shape;118;p2"/>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119" name="Google Shape;119;p2"/>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2"/>
          <p:cNvSpPr txBox="1"/>
          <p:nvPr/>
        </p:nvSpPr>
        <p:spPr>
          <a:xfrm>
            <a:off x="6555085" y="1856470"/>
            <a:ext cx="4798714"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Verdana"/>
                <a:ea typeface="Verdana"/>
                <a:cs typeface="Verdana"/>
                <a:sym typeface="Verdana"/>
              </a:rPr>
              <a:t>SLIDO NAME:</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rgbClr val="FF0000"/>
                </a:solidFill>
                <a:latin typeface="Verdana"/>
                <a:ea typeface="Verdana"/>
                <a:cs typeface="Verdana"/>
                <a:sym typeface="Verdana"/>
              </a:rPr>
              <a:t>Common Findings MASFPS 2022.pptx</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chemeClr val="dk1"/>
                </a:solidFill>
                <a:latin typeface="Verdana"/>
                <a:ea typeface="Verdana"/>
                <a:cs typeface="Verdana"/>
                <a:sym typeface="Verdana"/>
              </a:rPr>
              <a:t>SLIDO CODE: </a:t>
            </a:r>
            <a:r>
              <a:rPr b="1" lang="en-US" sz="2000">
                <a:solidFill>
                  <a:srgbClr val="FF0000"/>
                </a:solidFill>
                <a:latin typeface="Verdana"/>
                <a:ea typeface="Verdana"/>
                <a:cs typeface="Verdana"/>
                <a:sym typeface="Verdana"/>
              </a:rPr>
              <a:t>8508463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Verdana"/>
              <a:buNone/>
            </a:pPr>
            <a:r>
              <a:rPr b="1" lang="en-US" sz="4100"/>
              <a:t>COMMON PROGRAM FINDINGS</a:t>
            </a:r>
            <a:endParaRPr/>
          </a:p>
        </p:txBody>
      </p:sp>
      <p:sp>
        <p:nvSpPr>
          <p:cNvPr id="127" name="Google Shape;127;p4"/>
          <p:cNvSpPr txBox="1"/>
          <p:nvPr>
            <p:ph idx="1" type="body"/>
          </p:nvPr>
        </p:nvSpPr>
        <p:spPr>
          <a:xfrm>
            <a:off x="1376126" y="2142699"/>
            <a:ext cx="4643674" cy="40342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None/>
            </a:pPr>
            <a:r>
              <a:rPr b="0" i="0" lang="en-US" sz="4800" u="sng">
                <a:solidFill>
                  <a:schemeClr val="hlink"/>
                </a:solidFill>
                <a:hlinkClick r:id="rId3"/>
              </a:rPr>
              <a:t>Regional On-Site Review Materials</a:t>
            </a:r>
            <a:endParaRPr sz="4800"/>
          </a:p>
        </p:txBody>
      </p:sp>
      <p:pic>
        <p:nvPicPr>
          <p:cNvPr descr="Question Searching GIF" id="128" name="Google Shape;128;p4"/>
          <p:cNvPicPr preferRelativeResize="0"/>
          <p:nvPr/>
        </p:nvPicPr>
        <p:blipFill rotWithShape="1">
          <a:blip r:embed="rId4">
            <a:alphaModFix/>
          </a:blip>
          <a:srcRect b="0" l="0" r="0" t="0"/>
          <a:stretch/>
        </p:blipFill>
        <p:spPr>
          <a:xfrm>
            <a:off x="6702504" y="1516039"/>
            <a:ext cx="3825922" cy="3825922"/>
          </a:xfrm>
          <a:prstGeom prst="rect">
            <a:avLst/>
          </a:prstGeom>
          <a:solidFill>
            <a:srgbClr val="FFFFFF"/>
          </a:solidFill>
          <a:ln>
            <a:noFill/>
          </a:ln>
        </p:spPr>
      </p:pic>
      <p:sp>
        <p:nvSpPr>
          <p:cNvPr id="129" name="Google Shape;129;p4"/>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4/7/2025</a:t>
            </a:r>
            <a:endParaRPr/>
          </a:p>
        </p:txBody>
      </p:sp>
      <p:sp>
        <p:nvSpPr>
          <p:cNvPr id="130" name="Google Shape;130;p4"/>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www.michigan.gov/mde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rPr>
              <a:t>CURRICULUM SYSTEM</a:t>
            </a:r>
            <a:endParaRPr/>
          </a:p>
        </p:txBody>
      </p:sp>
      <p:sp>
        <p:nvSpPr>
          <p:cNvPr id="137" name="Google Shape;137;p5"/>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Year at a glance, pacing guides, units, standards, resources, vocabulary, essential questions, common assessments.</a:t>
            </a:r>
            <a:endParaRPr/>
          </a:p>
          <a:p>
            <a:pPr indent="-228600" lvl="0" marL="228600" rtl="0" algn="l">
              <a:lnSpc>
                <a:spcPct val="90000"/>
              </a:lnSpc>
              <a:spcBef>
                <a:spcPts val="1000"/>
              </a:spcBef>
              <a:spcAft>
                <a:spcPts val="0"/>
              </a:spcAft>
              <a:buClr>
                <a:schemeClr val="dk1"/>
              </a:buClr>
              <a:buSzPts val="2800"/>
              <a:buChar char="•"/>
            </a:pPr>
            <a:r>
              <a:rPr lang="en-US" sz="2800"/>
              <a:t>Not just a textbook, not only the standards.</a:t>
            </a:r>
            <a:endParaRPr/>
          </a:p>
          <a:p>
            <a:pPr indent="0" lvl="0" marL="0" rtl="0" algn="l">
              <a:lnSpc>
                <a:spcPct val="90000"/>
              </a:lnSpc>
              <a:spcBef>
                <a:spcPts val="100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2800"/>
              <a:buNone/>
            </a:pPr>
            <a:r>
              <a:rPr lang="en-US" u="sng">
                <a:solidFill>
                  <a:schemeClr val="hlink"/>
                </a:solidFill>
                <a:hlinkClick r:id="rId3"/>
              </a:rPr>
              <a:t>Blank Curriculum Template</a:t>
            </a:r>
            <a:endParaRPr/>
          </a:p>
          <a:p>
            <a:pPr indent="0" lvl="0" marL="0" rtl="0" algn="ctr">
              <a:lnSpc>
                <a:spcPct val="90000"/>
              </a:lnSpc>
              <a:spcBef>
                <a:spcPts val="100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2800"/>
              <a:buNone/>
            </a:pPr>
            <a:r>
              <a:rPr lang="en-US" u="sng">
                <a:solidFill>
                  <a:schemeClr val="hlink"/>
                </a:solidFill>
                <a:hlinkClick r:id="rId4"/>
              </a:rPr>
              <a:t>Curriculum Example</a:t>
            </a:r>
            <a:endParaRPr/>
          </a:p>
        </p:txBody>
      </p:sp>
      <p:sp>
        <p:nvSpPr>
          <p:cNvPr id="138" name="Google Shape;138;p5"/>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39" name="Google Shape;139;p5"/>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140" name="Google Shape;140;p5"/>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WRITTEN PROCESSES</a:t>
            </a:r>
            <a:endParaRPr/>
          </a:p>
        </p:txBody>
      </p:sp>
      <p:sp>
        <p:nvSpPr>
          <p:cNvPr id="147" name="Google Shape;147;p6"/>
          <p:cNvSpPr txBox="1"/>
          <p:nvPr>
            <p:ph idx="1" type="body"/>
          </p:nvPr>
        </p:nvSpPr>
        <p:spPr>
          <a:xfrm>
            <a:off x="1376126" y="1542197"/>
            <a:ext cx="4643674" cy="46347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Creation of written processes.</a:t>
            </a:r>
            <a:endParaRPr/>
          </a:p>
          <a:p>
            <a:pPr indent="-228600" lvl="0" marL="228600" rtl="0" algn="l">
              <a:lnSpc>
                <a:spcPct val="90000"/>
              </a:lnSpc>
              <a:spcBef>
                <a:spcPts val="1000"/>
              </a:spcBef>
              <a:spcAft>
                <a:spcPts val="0"/>
              </a:spcAft>
              <a:buClr>
                <a:schemeClr val="dk1"/>
              </a:buClr>
              <a:buSzPts val="2800"/>
              <a:buChar char="•"/>
            </a:pPr>
            <a:r>
              <a:rPr lang="en-US"/>
              <a:t>Implementation of written processes.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3"/>
              </a:rPr>
              <a:t>MAISD WRITTEN PROCESSES COLLABORATIVE</a:t>
            </a:r>
            <a:endParaRPr/>
          </a:p>
        </p:txBody>
      </p:sp>
      <p:pic>
        <p:nvPicPr>
          <p:cNvPr descr="season 2 netflix GIF by Gilmore Girls " id="148" name="Google Shape;148;p6"/>
          <p:cNvPicPr preferRelativeResize="0"/>
          <p:nvPr/>
        </p:nvPicPr>
        <p:blipFill rotWithShape="1">
          <a:blip r:embed="rId4">
            <a:alphaModFix/>
          </a:blip>
          <a:srcRect b="0" l="0" r="0" t="0"/>
          <a:stretch/>
        </p:blipFill>
        <p:spPr>
          <a:xfrm>
            <a:off x="6172200" y="1911610"/>
            <a:ext cx="5181600" cy="3895939"/>
          </a:xfrm>
          <a:prstGeom prst="rect">
            <a:avLst/>
          </a:prstGeom>
          <a:solidFill>
            <a:srgbClr val="FFFFFF"/>
          </a:solidFill>
          <a:ln>
            <a:noFill/>
          </a:ln>
        </p:spPr>
      </p:pic>
      <p:sp>
        <p:nvSpPr>
          <p:cNvPr id="149" name="Google Shape;149;p6"/>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4/7/2025</a:t>
            </a:r>
            <a:endParaRPr/>
          </a:p>
        </p:txBody>
      </p:sp>
      <p:sp>
        <p:nvSpPr>
          <p:cNvPr id="150" name="Google Shape;150;p6"/>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www.michigan.gov/mde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ph type="title"/>
          </p:nvPr>
        </p:nvSpPr>
        <p:spPr>
          <a:xfrm>
            <a:off x="1756372" y="136526"/>
            <a:ext cx="9597427" cy="7538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Verdana"/>
              <a:buNone/>
            </a:pPr>
            <a:r>
              <a:rPr b="1" lang="en-US" sz="4400">
                <a:solidFill>
                  <a:srgbClr val="002060"/>
                </a:solidFill>
                <a:latin typeface="Verdana"/>
                <a:ea typeface="Verdana"/>
                <a:cs typeface="Verdana"/>
                <a:sym typeface="Verdana"/>
              </a:rPr>
              <a:t>Parent and Family Engagement</a:t>
            </a:r>
            <a:endParaRPr b="1"/>
          </a:p>
        </p:txBody>
      </p:sp>
      <p:sp>
        <p:nvSpPr>
          <p:cNvPr id="157" name="Google Shape;157;p7"/>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sz="4000"/>
              <a:t>Genuine family input (Title I plan, Family Engagement Plan, Compact, Title I meeting).</a:t>
            </a:r>
            <a:endParaRPr/>
          </a:p>
          <a:p>
            <a:pPr indent="-228600" lvl="0" marL="228600" rtl="0" algn="l">
              <a:lnSpc>
                <a:spcPct val="90000"/>
              </a:lnSpc>
              <a:spcBef>
                <a:spcPts val="1000"/>
              </a:spcBef>
              <a:spcAft>
                <a:spcPts val="0"/>
              </a:spcAft>
              <a:buClr>
                <a:schemeClr val="dk1"/>
              </a:buClr>
              <a:buSzPct val="100000"/>
              <a:buChar char="•"/>
            </a:pPr>
            <a:r>
              <a:rPr lang="en-US" sz="4000"/>
              <a:t>Genuine input into the planning, reviewing, and evaluating of Title I programs and activities.</a:t>
            </a:r>
            <a:endParaRPr/>
          </a:p>
          <a:p>
            <a:pPr indent="-228600" lvl="0" marL="228600" rtl="0" algn="l">
              <a:lnSpc>
                <a:spcPct val="90000"/>
              </a:lnSpc>
              <a:spcBef>
                <a:spcPts val="1000"/>
              </a:spcBef>
              <a:spcAft>
                <a:spcPts val="0"/>
              </a:spcAft>
              <a:buClr>
                <a:schemeClr val="dk1"/>
              </a:buClr>
              <a:buSzPct val="100000"/>
              <a:buChar char="•"/>
            </a:pPr>
            <a:r>
              <a:rPr lang="en-US" sz="4000"/>
              <a:t>Providing staff and parents with appropriate professional development.</a:t>
            </a:r>
            <a:endParaRPr/>
          </a:p>
          <a:p>
            <a:pPr indent="-12065" lvl="0" marL="228600" rtl="0" algn="l">
              <a:lnSpc>
                <a:spcPct val="90000"/>
              </a:lnSpc>
              <a:spcBef>
                <a:spcPts val="1000"/>
              </a:spcBef>
              <a:spcAft>
                <a:spcPts val="0"/>
              </a:spcAft>
              <a:buClr>
                <a:schemeClr val="dk1"/>
              </a:buClr>
              <a:buSzPct val="100000"/>
              <a:buNone/>
            </a:pPr>
            <a:r>
              <a:t/>
            </a:r>
            <a:endParaRPr sz="4400"/>
          </a:p>
          <a:p>
            <a:pPr indent="0" lvl="0" marL="0" rtl="0" algn="l">
              <a:lnSpc>
                <a:spcPct val="90000"/>
              </a:lnSpc>
              <a:spcBef>
                <a:spcPts val="1000"/>
              </a:spcBef>
              <a:spcAft>
                <a:spcPts val="0"/>
              </a:spcAft>
              <a:buClr>
                <a:schemeClr val="dk1"/>
              </a:buClr>
              <a:buSzPct val="100000"/>
              <a:buNone/>
            </a:pPr>
            <a:r>
              <a:rPr lang="en-US" sz="2800" u="sng">
                <a:solidFill>
                  <a:schemeClr val="hlink"/>
                </a:solidFill>
                <a:hlinkClick r:id="rId3"/>
              </a:rPr>
              <a:t>Parent and Family Engagement Plan Template </a:t>
            </a:r>
            <a:r>
              <a:rPr lang="en-US" sz="2800"/>
              <a:t>- OES</a:t>
            </a:r>
            <a:endParaRPr sz="2800"/>
          </a:p>
          <a:p>
            <a:pPr indent="0" lvl="0" marL="0" rtl="0" algn="l">
              <a:lnSpc>
                <a:spcPct val="90000"/>
              </a:lnSpc>
              <a:spcBef>
                <a:spcPts val="1000"/>
              </a:spcBef>
              <a:spcAft>
                <a:spcPts val="0"/>
              </a:spcAft>
              <a:buClr>
                <a:schemeClr val="dk1"/>
              </a:buClr>
              <a:buSzPct val="100000"/>
              <a:buNone/>
            </a:pPr>
            <a:r>
              <a:rPr lang="en-US" sz="2800" u="sng">
                <a:solidFill>
                  <a:schemeClr val="hlink"/>
                </a:solidFill>
                <a:hlinkClick r:id="rId4"/>
              </a:rPr>
              <a:t>Color Coded Requirements</a:t>
            </a:r>
            <a:r>
              <a:rPr lang="en-US" sz="2800"/>
              <a:t> – WP Collab.</a:t>
            </a:r>
            <a:endParaRPr sz="2800"/>
          </a:p>
          <a:p>
            <a:pPr indent="0" lvl="0" marL="0" rtl="0" algn="l">
              <a:lnSpc>
                <a:spcPct val="90000"/>
              </a:lnSpc>
              <a:spcBef>
                <a:spcPts val="1000"/>
              </a:spcBef>
              <a:spcAft>
                <a:spcPts val="0"/>
              </a:spcAft>
              <a:buClr>
                <a:schemeClr val="dk1"/>
              </a:buClr>
              <a:buSzPct val="100000"/>
              <a:buNone/>
            </a:pPr>
            <a:r>
              <a:rPr lang="en-US" sz="2800" u="sng">
                <a:solidFill>
                  <a:schemeClr val="hlink"/>
                </a:solidFill>
                <a:hlinkClick r:id="rId5"/>
              </a:rPr>
              <a:t>Parent-Friendly Template</a:t>
            </a:r>
            <a:endParaRPr sz="2800" u="sng">
              <a:solidFill>
                <a:schemeClr val="hlink"/>
              </a:solidFill>
              <a:hlinkClick r:id="rId6"/>
            </a:endParaRPr>
          </a:p>
          <a:p>
            <a:pPr indent="0" lvl="0" marL="0" rtl="0" algn="l">
              <a:lnSpc>
                <a:spcPct val="90000"/>
              </a:lnSpc>
              <a:spcBef>
                <a:spcPts val="1000"/>
              </a:spcBef>
              <a:spcAft>
                <a:spcPts val="0"/>
              </a:spcAft>
              <a:buClr>
                <a:schemeClr val="dk1"/>
              </a:buClr>
              <a:buSzPct val="100000"/>
              <a:buNone/>
            </a:pPr>
            <a:r>
              <a:rPr lang="en-US" sz="2800" u="sng">
                <a:solidFill>
                  <a:schemeClr val="hlink"/>
                </a:solidFill>
                <a:hlinkClick r:id="rId7"/>
              </a:rPr>
              <a:t>Family Engagement Presentation</a:t>
            </a:r>
            <a:endParaRPr sz="2800"/>
          </a:p>
          <a:p>
            <a:pPr indent="0" lvl="0" marL="0" rtl="0" algn="l">
              <a:lnSpc>
                <a:spcPct val="90000"/>
              </a:lnSpc>
              <a:spcBef>
                <a:spcPts val="1000"/>
              </a:spcBef>
              <a:spcAft>
                <a:spcPts val="0"/>
              </a:spcAft>
              <a:buClr>
                <a:schemeClr val="dk1"/>
              </a:buClr>
              <a:buSzPct val="100000"/>
              <a:buNone/>
            </a:pPr>
            <a:r>
              <a:t/>
            </a:r>
            <a:endParaRPr/>
          </a:p>
        </p:txBody>
      </p:sp>
      <p:sp>
        <p:nvSpPr>
          <p:cNvPr id="158" name="Google Shape;158;p7"/>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59" name="Google Shape;159;p7"/>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160" name="Google Shape;160;p7"/>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sz="4400">
                <a:solidFill>
                  <a:srgbClr val="002060"/>
                </a:solidFill>
              </a:rPr>
              <a:t>Private Schools</a:t>
            </a:r>
            <a:endParaRPr b="1"/>
          </a:p>
        </p:txBody>
      </p:sp>
      <p:sp>
        <p:nvSpPr>
          <p:cNvPr id="167" name="Google Shape;167;p8"/>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Timely, meaningful, and ongoing c</a:t>
            </a:r>
            <a:r>
              <a:rPr lang="en-US" sz="2800"/>
              <a:t>onsultation.</a:t>
            </a:r>
            <a:endParaRPr/>
          </a:p>
          <a:p>
            <a:pPr indent="-228600" lvl="0" marL="228600" rtl="0" algn="l">
              <a:lnSpc>
                <a:spcPct val="90000"/>
              </a:lnSpc>
              <a:spcBef>
                <a:spcPts val="1000"/>
              </a:spcBef>
              <a:spcAft>
                <a:spcPts val="0"/>
              </a:spcAft>
              <a:buClr>
                <a:schemeClr val="dk1"/>
              </a:buClr>
              <a:buSzPts val="2800"/>
              <a:buChar char="•"/>
            </a:pPr>
            <a:r>
              <a:rPr lang="en-US" sz="2800"/>
              <a:t>Accurate priva</a:t>
            </a:r>
            <a:r>
              <a:rPr lang="en-US"/>
              <a:t>te school count data is vital to ensure calculations for the equitable share in NexSys are correct.</a:t>
            </a:r>
            <a:endParaRPr sz="2800"/>
          </a:p>
          <a:p>
            <a:pPr indent="-228600" lvl="0" marL="228600" rtl="0" algn="l">
              <a:lnSpc>
                <a:spcPct val="90000"/>
              </a:lnSpc>
              <a:spcBef>
                <a:spcPts val="1000"/>
              </a:spcBef>
              <a:spcAft>
                <a:spcPts val="0"/>
              </a:spcAft>
              <a:buClr>
                <a:schemeClr val="dk1"/>
              </a:buClr>
              <a:buSzPts val="2800"/>
              <a:buChar char="•"/>
            </a:pPr>
            <a:r>
              <a:rPr lang="en-US" sz="2800"/>
              <a:t>Amendments and required carryover.</a:t>
            </a:r>
            <a:endParaRPr/>
          </a:p>
          <a:p>
            <a:pPr indent="-76200" lvl="0" marL="22860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u="sng">
                <a:solidFill>
                  <a:schemeClr val="hlink"/>
                </a:solidFill>
                <a:hlinkClick r:id="rId3"/>
              </a:rPr>
              <a:t>Technical Assistance for Working with Private Schools</a:t>
            </a:r>
            <a:endParaRPr sz="2400"/>
          </a:p>
          <a:p>
            <a:pPr indent="-50800" lvl="0" marL="228600" rtl="0" algn="l">
              <a:lnSpc>
                <a:spcPct val="90000"/>
              </a:lnSpc>
              <a:spcBef>
                <a:spcPts val="1000"/>
              </a:spcBef>
              <a:spcAft>
                <a:spcPts val="0"/>
              </a:spcAft>
              <a:buClr>
                <a:schemeClr val="dk1"/>
              </a:buClr>
              <a:buSzPts val="2800"/>
              <a:buNone/>
            </a:pPr>
            <a:r>
              <a:t/>
            </a:r>
            <a:endParaRPr/>
          </a:p>
        </p:txBody>
      </p:sp>
      <p:sp>
        <p:nvSpPr>
          <p:cNvPr id="168" name="Google Shape;168;p8"/>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69" name="Google Shape;169;p8"/>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170" name="Google Shape;170;p8"/>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sz="4400">
                <a:solidFill>
                  <a:srgbClr val="002060"/>
                </a:solidFill>
                <a:latin typeface="Verdana"/>
                <a:ea typeface="Verdana"/>
                <a:cs typeface="Verdana"/>
                <a:sym typeface="Verdana"/>
              </a:rPr>
              <a:t>Professional  Learning</a:t>
            </a:r>
            <a:endParaRPr b="1"/>
          </a:p>
        </p:txBody>
      </p:sp>
      <p:sp>
        <p:nvSpPr>
          <p:cNvPr id="177" name="Google Shape;177;p9"/>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Creating the plan with stakeholders.</a:t>
            </a:r>
            <a:endParaRPr/>
          </a:p>
          <a:p>
            <a:pPr indent="-228600" lvl="0" marL="228600" rtl="0" algn="l">
              <a:lnSpc>
                <a:spcPct val="90000"/>
              </a:lnSpc>
              <a:spcBef>
                <a:spcPts val="1000"/>
              </a:spcBef>
              <a:spcAft>
                <a:spcPts val="0"/>
              </a:spcAft>
              <a:buClr>
                <a:schemeClr val="dk1"/>
              </a:buClr>
              <a:buSzPts val="3600"/>
              <a:buChar char="•"/>
            </a:pPr>
            <a:r>
              <a:rPr lang="en-US" sz="3600"/>
              <a:t>Federally funded professional learning must be supplemental, sustained and ongoing.</a:t>
            </a:r>
            <a:endParaRPr sz="3600"/>
          </a:p>
          <a:p>
            <a:pPr indent="-228600" lvl="0" marL="228600" rtl="0" algn="l">
              <a:lnSpc>
                <a:spcPct val="90000"/>
              </a:lnSpc>
              <a:spcBef>
                <a:spcPts val="1000"/>
              </a:spcBef>
              <a:spcAft>
                <a:spcPts val="0"/>
              </a:spcAft>
              <a:buClr>
                <a:schemeClr val="dk1"/>
              </a:buClr>
              <a:buSzPts val="3600"/>
              <a:buChar char="•"/>
            </a:pPr>
            <a:r>
              <a:rPr lang="en-US" sz="3600"/>
              <a:t>Implementing the plan.</a:t>
            </a:r>
            <a:endParaRPr/>
          </a:p>
          <a:p>
            <a:pPr indent="0" lvl="0" marL="0" rtl="0" algn="l">
              <a:lnSpc>
                <a:spcPct val="90000"/>
              </a:lnSpc>
              <a:spcBef>
                <a:spcPts val="1000"/>
              </a:spcBef>
              <a:spcAft>
                <a:spcPts val="0"/>
              </a:spcAft>
              <a:buClr>
                <a:schemeClr val="dk1"/>
              </a:buClr>
              <a:buSzPts val="4400"/>
              <a:buNone/>
            </a:pPr>
            <a:r>
              <a:t/>
            </a:r>
            <a:endParaRPr sz="4400"/>
          </a:p>
          <a:p>
            <a:pPr indent="0" lvl="0" marL="0" rtl="0" algn="l">
              <a:lnSpc>
                <a:spcPct val="90000"/>
              </a:lnSpc>
              <a:spcBef>
                <a:spcPts val="1000"/>
              </a:spcBef>
              <a:spcAft>
                <a:spcPts val="0"/>
              </a:spcAft>
              <a:buClr>
                <a:schemeClr val="dk1"/>
              </a:buClr>
              <a:buSzPts val="2800"/>
              <a:buNone/>
            </a:pPr>
            <a:r>
              <a:rPr lang="en-US" u="sng">
                <a:solidFill>
                  <a:schemeClr val="hlink"/>
                </a:solidFill>
                <a:hlinkClick r:id="rId3"/>
              </a:rPr>
              <a:t>Blank Professional Development Plan</a:t>
            </a:r>
            <a:endParaRPr u="sng">
              <a:solidFill>
                <a:schemeClr val="hlink"/>
              </a:solidFill>
              <a:hlinkClick r:id="rId4"/>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5"/>
              </a:rPr>
              <a:t>Professional Development Plan Example</a:t>
            </a:r>
            <a:endParaRPr u="sng">
              <a:solidFill>
                <a:schemeClr val="hlink"/>
              </a:solidFill>
              <a:hlinkClick r:id="rId6"/>
            </a:endParaRPr>
          </a:p>
          <a:p>
            <a:pPr indent="-50800" lvl="0" marL="228600" rtl="0" algn="l">
              <a:lnSpc>
                <a:spcPct val="90000"/>
              </a:lnSpc>
              <a:spcBef>
                <a:spcPts val="1000"/>
              </a:spcBef>
              <a:spcAft>
                <a:spcPts val="0"/>
              </a:spcAft>
              <a:buClr>
                <a:schemeClr val="dk1"/>
              </a:buClr>
              <a:buSzPts val="2800"/>
              <a:buNone/>
            </a:pPr>
            <a:r>
              <a:t/>
            </a:r>
            <a:endParaRPr/>
          </a:p>
        </p:txBody>
      </p:sp>
      <p:sp>
        <p:nvSpPr>
          <p:cNvPr id="178" name="Google Shape;178;p9"/>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79" name="Google Shape;179;p9"/>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180" name="Google Shape;180;p9"/>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Verdana"/>
              <a:buNone/>
            </a:pPr>
            <a:r>
              <a:rPr b="1" lang="en-US" sz="4100"/>
              <a:t>Allowability of Activities/Programs</a:t>
            </a:r>
            <a:endParaRPr/>
          </a:p>
        </p:txBody>
      </p:sp>
      <p:sp>
        <p:nvSpPr>
          <p:cNvPr id="187" name="Google Shape;187;p10"/>
          <p:cNvSpPr txBox="1"/>
          <p:nvPr>
            <p:ph idx="1" type="body"/>
          </p:nvPr>
        </p:nvSpPr>
        <p:spPr>
          <a:xfrm>
            <a:off x="1376126" y="1542197"/>
            <a:ext cx="4643674" cy="46347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Does it meet the intent and purpose of the funding source?</a:t>
            </a:r>
            <a:endParaRPr/>
          </a:p>
          <a:p>
            <a:pPr indent="-228600" lvl="0" marL="228600" rtl="0" algn="l">
              <a:lnSpc>
                <a:spcPct val="90000"/>
              </a:lnSpc>
              <a:spcBef>
                <a:spcPts val="1000"/>
              </a:spcBef>
              <a:spcAft>
                <a:spcPts val="0"/>
              </a:spcAft>
              <a:buClr>
                <a:schemeClr val="dk1"/>
              </a:buClr>
              <a:buSzPts val="2800"/>
              <a:buChar char="•"/>
            </a:pPr>
            <a:r>
              <a:rPr lang="en-US"/>
              <a:t>Is it evidence based?</a:t>
            </a:r>
            <a:endParaRPr/>
          </a:p>
          <a:p>
            <a:pPr indent="-228600" lvl="0" marL="228600" rtl="0" algn="l">
              <a:lnSpc>
                <a:spcPct val="90000"/>
              </a:lnSpc>
              <a:spcBef>
                <a:spcPts val="1000"/>
              </a:spcBef>
              <a:spcAft>
                <a:spcPts val="0"/>
              </a:spcAft>
              <a:buClr>
                <a:schemeClr val="dk1"/>
              </a:buClr>
              <a:buSzPts val="2800"/>
              <a:buChar char="•"/>
            </a:pPr>
            <a:r>
              <a:rPr lang="en-US"/>
              <a:t>Is it reasonable, necessary, and allocable?</a:t>
            </a:r>
            <a:endParaRPr/>
          </a:p>
        </p:txBody>
      </p:sp>
      <p:pic>
        <p:nvPicPr>
          <p:cNvPr descr="Moderating GIF" id="188" name="Google Shape;188;p10"/>
          <p:cNvPicPr preferRelativeResize="0"/>
          <p:nvPr/>
        </p:nvPicPr>
        <p:blipFill rotWithShape="1">
          <a:blip r:embed="rId3">
            <a:alphaModFix/>
          </a:blip>
          <a:srcRect b="0" l="0" r="0" t="0"/>
          <a:stretch/>
        </p:blipFill>
        <p:spPr>
          <a:xfrm>
            <a:off x="6172200" y="2436064"/>
            <a:ext cx="5181600" cy="2847032"/>
          </a:xfrm>
          <a:prstGeom prst="rect">
            <a:avLst/>
          </a:prstGeom>
          <a:solidFill>
            <a:srgbClr val="FFFFFF"/>
          </a:solidFill>
          <a:ln>
            <a:noFill/>
          </a:ln>
        </p:spPr>
      </p:pic>
      <p:sp>
        <p:nvSpPr>
          <p:cNvPr id="189" name="Google Shape;189;p10"/>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4/7/2025</a:t>
            </a:r>
            <a:endParaRPr/>
          </a:p>
        </p:txBody>
      </p:sp>
      <p:sp>
        <p:nvSpPr>
          <p:cNvPr id="190" name="Google Shape;190;p10"/>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www.michigan.gov/mde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1"/>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Verdana"/>
              <a:buNone/>
            </a:pPr>
            <a:r>
              <a:rPr b="1" lang="en-US" sz="3600"/>
              <a:t>School Level Decision Making Authority</a:t>
            </a:r>
            <a:endParaRPr/>
          </a:p>
        </p:txBody>
      </p:sp>
      <p:sp>
        <p:nvSpPr>
          <p:cNvPr id="197" name="Google Shape;197;p11"/>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Title IA</a:t>
            </a:r>
            <a:endParaRPr/>
          </a:p>
          <a:p>
            <a:pPr indent="-228600" lvl="0" marL="228600" rtl="0" algn="l">
              <a:lnSpc>
                <a:spcPct val="90000"/>
              </a:lnSpc>
              <a:spcBef>
                <a:spcPts val="1000"/>
              </a:spcBef>
              <a:spcAft>
                <a:spcPts val="0"/>
              </a:spcAft>
              <a:buClr>
                <a:schemeClr val="dk1"/>
              </a:buClr>
              <a:buSzPts val="2800"/>
              <a:buChar char="•"/>
            </a:pPr>
            <a:r>
              <a:rPr lang="en-US"/>
              <a:t>Budget/program decisions, implementation, and evaluation authority remains </a:t>
            </a:r>
            <a:r>
              <a:rPr b="1" lang="en-US">
                <a:solidFill>
                  <a:srgbClr val="FF0000"/>
                </a:solidFill>
              </a:rPr>
              <a:t>at the school level.</a:t>
            </a:r>
            <a:endParaRPr/>
          </a:p>
          <a:p>
            <a:pPr indent="-228600" lvl="0" marL="228600" rtl="0" algn="l">
              <a:lnSpc>
                <a:spcPct val="90000"/>
              </a:lnSpc>
              <a:spcBef>
                <a:spcPts val="1000"/>
              </a:spcBef>
              <a:spcAft>
                <a:spcPts val="0"/>
              </a:spcAft>
              <a:buClr>
                <a:schemeClr val="dk1"/>
              </a:buClr>
              <a:buSzPts val="2800"/>
              <a:buChar char="•"/>
            </a:pPr>
            <a:r>
              <a:rPr lang="en-US"/>
              <a:t>The district is responsible for ensuring buildings understand intent and purpose and allowability.</a:t>
            </a:r>
            <a:endParaRPr/>
          </a:p>
          <a:p>
            <a:pPr indent="-228600" lvl="0" marL="228600" rtl="0" algn="l">
              <a:lnSpc>
                <a:spcPct val="90000"/>
              </a:lnSpc>
              <a:spcBef>
                <a:spcPts val="1000"/>
              </a:spcBef>
              <a:spcAft>
                <a:spcPts val="0"/>
              </a:spcAft>
              <a:buClr>
                <a:schemeClr val="dk1"/>
              </a:buClr>
              <a:buSzPts val="2800"/>
              <a:buChar char="•"/>
            </a:pPr>
            <a:r>
              <a:rPr lang="en-US"/>
              <a:t>Building staff plan for how the Title I, Part A funds will be spent at their building based on data and evaluating previous programming.</a:t>
            </a:r>
            <a:endParaRPr/>
          </a:p>
          <a:p>
            <a:pPr indent="-228600" lvl="0" marL="228600" rtl="0" algn="l">
              <a:lnSpc>
                <a:spcPct val="90000"/>
              </a:lnSpc>
              <a:spcBef>
                <a:spcPts val="1000"/>
              </a:spcBef>
              <a:spcAft>
                <a:spcPts val="0"/>
              </a:spcAft>
              <a:buClr>
                <a:schemeClr val="dk1"/>
              </a:buClr>
              <a:buSzPts val="2800"/>
              <a:buChar char="•"/>
            </a:pPr>
            <a:r>
              <a:rPr b="1" lang="en-US"/>
              <a:t>Building staff and administration and parents are involved in the process. </a:t>
            </a:r>
            <a:endParaRPr/>
          </a:p>
        </p:txBody>
      </p:sp>
      <p:sp>
        <p:nvSpPr>
          <p:cNvPr id="198" name="Google Shape;198;p11"/>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199" name="Google Shape;199;p11"/>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00" name="Google Shape;200;p11"/>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1756372" y="365125"/>
            <a:ext cx="9597427" cy="56292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Verdana"/>
              <a:buNone/>
            </a:pPr>
            <a:r>
              <a:rPr b="1" lang="en-US"/>
              <a:t>Written Entrance and Exit Criteria</a:t>
            </a:r>
            <a:endParaRPr/>
          </a:p>
        </p:txBody>
      </p:sp>
      <p:sp>
        <p:nvSpPr>
          <p:cNvPr id="207" name="Google Shape;207;p12"/>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Required for both Targeted and Schoolwide programs to determine which students are most at-risk and in need of services.</a:t>
            </a:r>
            <a:endParaRPr/>
          </a:p>
          <a:p>
            <a:pPr indent="-228600" lvl="0" marL="228600" rtl="0" algn="l">
              <a:lnSpc>
                <a:spcPct val="90000"/>
              </a:lnSpc>
              <a:spcBef>
                <a:spcPts val="1000"/>
              </a:spcBef>
              <a:spcAft>
                <a:spcPts val="0"/>
              </a:spcAft>
              <a:buClr>
                <a:schemeClr val="dk1"/>
              </a:buClr>
              <a:buSzPts val="2800"/>
              <a:buChar char="•"/>
            </a:pPr>
            <a:r>
              <a:rPr lang="en-US"/>
              <a:t>Use multiple assessments/data points.</a:t>
            </a:r>
            <a:endParaRPr/>
          </a:p>
          <a:p>
            <a:pPr indent="-228600" lvl="0" marL="228600" rtl="0" algn="l">
              <a:lnSpc>
                <a:spcPct val="90000"/>
              </a:lnSpc>
              <a:spcBef>
                <a:spcPts val="1000"/>
              </a:spcBef>
              <a:spcAft>
                <a:spcPts val="0"/>
              </a:spcAft>
              <a:buClr>
                <a:schemeClr val="dk1"/>
              </a:buClr>
              <a:buSzPts val="2800"/>
              <a:buChar char="•"/>
            </a:pPr>
            <a:r>
              <a:rPr lang="en-US"/>
              <a:t>Should be by subject area and grade level.</a:t>
            </a:r>
            <a:endParaRPr/>
          </a:p>
          <a:p>
            <a:pPr indent="-228600" lvl="0" marL="228600" rtl="0" algn="l">
              <a:lnSpc>
                <a:spcPct val="90000"/>
              </a:lnSpc>
              <a:spcBef>
                <a:spcPts val="1000"/>
              </a:spcBef>
              <a:spcAft>
                <a:spcPts val="0"/>
              </a:spcAft>
              <a:buClr>
                <a:schemeClr val="dk1"/>
              </a:buClr>
              <a:buSzPts val="2800"/>
              <a:buChar char="•"/>
            </a:pPr>
            <a:r>
              <a:rPr lang="en-US"/>
              <a:t>Teacher recommendation can be part of the criteria.</a:t>
            </a:r>
            <a:endParaRPr/>
          </a:p>
          <a:p>
            <a:pPr indent="-228600" lvl="0" marL="228600" rtl="0" algn="l">
              <a:lnSpc>
                <a:spcPct val="90000"/>
              </a:lnSpc>
              <a:spcBef>
                <a:spcPts val="1000"/>
              </a:spcBef>
              <a:spcAft>
                <a:spcPts val="0"/>
              </a:spcAft>
              <a:buClr>
                <a:schemeClr val="dk1"/>
              </a:buClr>
              <a:buSzPts val="2800"/>
              <a:buChar char="•"/>
            </a:pPr>
            <a:r>
              <a:rPr lang="en-US"/>
              <a:t>Written evidence that the written entrance and exit criteria was followed must be kept. </a:t>
            </a:r>
            <a:endParaRPr/>
          </a:p>
        </p:txBody>
      </p:sp>
      <p:sp>
        <p:nvSpPr>
          <p:cNvPr id="208" name="Google Shape;208;p12"/>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09" name="Google Shape;209;p12"/>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10" name="Google Shape;210;p12"/>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type="title"/>
          </p:nvPr>
        </p:nvSpPr>
        <p:spPr>
          <a:xfrm>
            <a:off x="1756372" y="136525"/>
            <a:ext cx="9597427" cy="99504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Verdana"/>
              <a:buNone/>
            </a:pPr>
            <a:r>
              <a:rPr b="1" lang="en-US" sz="4000">
                <a:solidFill>
                  <a:srgbClr val="002060"/>
                </a:solidFill>
                <a:latin typeface="Verdana"/>
                <a:ea typeface="Verdana"/>
                <a:cs typeface="Verdana"/>
                <a:sym typeface="Verdana"/>
              </a:rPr>
              <a:t>Identification of Immigrant Students</a:t>
            </a:r>
            <a:endParaRPr b="1" sz="4000">
              <a:solidFill>
                <a:srgbClr val="002060"/>
              </a:solidFill>
            </a:endParaRPr>
          </a:p>
        </p:txBody>
      </p:sp>
      <p:sp>
        <p:nvSpPr>
          <p:cNvPr id="217" name="Google Shape;217;p13"/>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t>Ensure that you are asking the proper Immigrant Identification questions: </a:t>
            </a:r>
            <a:endParaRPr/>
          </a:p>
          <a:p>
            <a:pPr indent="0" lvl="0" marL="0" rtl="0" algn="l">
              <a:lnSpc>
                <a:spcPct val="90000"/>
              </a:lnSpc>
              <a:spcBef>
                <a:spcPts val="1000"/>
              </a:spcBef>
              <a:spcAft>
                <a:spcPts val="0"/>
              </a:spcAft>
              <a:buClr>
                <a:schemeClr val="dk1"/>
              </a:buClr>
              <a:buSzPts val="2800"/>
              <a:buNone/>
            </a:pPr>
            <a:r>
              <a:t/>
            </a:r>
            <a:endParaRPr b="1" sz="2800"/>
          </a:p>
          <a:p>
            <a:pPr indent="0" lvl="0" marL="0" rtl="0" algn="l">
              <a:lnSpc>
                <a:spcPct val="90000"/>
              </a:lnSpc>
              <a:spcBef>
                <a:spcPts val="1000"/>
              </a:spcBef>
              <a:spcAft>
                <a:spcPts val="0"/>
              </a:spcAft>
              <a:buClr>
                <a:schemeClr val="dk1"/>
              </a:buClr>
              <a:buSzPts val="2800"/>
              <a:buNone/>
            </a:pPr>
            <a:r>
              <a:rPr b="1" lang="en-US" sz="2800"/>
              <a:t>Was the student born outside of the US or Puerto Rico?</a:t>
            </a:r>
            <a:endParaRPr/>
          </a:p>
          <a:p>
            <a:pPr indent="0" lvl="0" marL="0" rtl="0" algn="l">
              <a:lnSpc>
                <a:spcPct val="90000"/>
              </a:lnSpc>
              <a:spcBef>
                <a:spcPts val="1000"/>
              </a:spcBef>
              <a:spcAft>
                <a:spcPts val="0"/>
              </a:spcAft>
              <a:buClr>
                <a:schemeClr val="dk1"/>
              </a:buClr>
              <a:buSzPts val="2800"/>
              <a:buNone/>
            </a:pPr>
            <a:r>
              <a:t/>
            </a:r>
            <a:endParaRPr b="1"/>
          </a:p>
          <a:p>
            <a:pPr indent="0" lvl="0" marL="0" rtl="0" algn="l">
              <a:lnSpc>
                <a:spcPct val="90000"/>
              </a:lnSpc>
              <a:spcBef>
                <a:spcPts val="1000"/>
              </a:spcBef>
              <a:spcAft>
                <a:spcPts val="0"/>
              </a:spcAft>
              <a:buClr>
                <a:schemeClr val="dk1"/>
              </a:buClr>
              <a:buSzPts val="2800"/>
              <a:buNone/>
            </a:pPr>
            <a:r>
              <a:rPr b="1" lang="en-US"/>
              <a:t>If yes, when did the student enter US schools?</a:t>
            </a:r>
            <a:endParaRPr b="1" sz="2800"/>
          </a:p>
          <a:p>
            <a:pPr indent="-50800" lvl="0" marL="228600" rtl="0" algn="l">
              <a:lnSpc>
                <a:spcPct val="90000"/>
              </a:lnSpc>
              <a:spcBef>
                <a:spcPts val="1000"/>
              </a:spcBef>
              <a:spcAft>
                <a:spcPts val="0"/>
              </a:spcAft>
              <a:buClr>
                <a:schemeClr val="dk1"/>
              </a:buClr>
              <a:buSzPts val="2800"/>
              <a:buNone/>
            </a:pPr>
            <a:r>
              <a:t/>
            </a:r>
            <a:endParaRPr/>
          </a:p>
        </p:txBody>
      </p:sp>
      <p:sp>
        <p:nvSpPr>
          <p:cNvPr id="218" name="Google Shape;218;p13"/>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19" name="Google Shape;219;p13"/>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20" name="Google Shape;220;p13"/>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en-US"/>
              <a:t>Identifying Immigrant Students</a:t>
            </a:r>
            <a:endParaRPr/>
          </a:p>
        </p:txBody>
      </p:sp>
      <p:sp>
        <p:nvSpPr>
          <p:cNvPr id="227" name="Google Shape;227;p14"/>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Verdana"/>
                <a:ea typeface="Verdana"/>
                <a:cs typeface="Verdana"/>
                <a:sym typeface="Verdana"/>
              </a:rPr>
              <a:t>The student has immigrated to the United States from another country and is aged 3 through 21 years, was not born in any State in America, and has not attended one or more schools in any one or more States for more than three full academic years.  </a:t>
            </a:r>
            <a:r>
              <a:rPr b="1" lang="en-US">
                <a:solidFill>
                  <a:srgbClr val="FF0000"/>
                </a:solidFill>
                <a:latin typeface="Verdana"/>
                <a:ea typeface="Verdana"/>
                <a:cs typeface="Verdana"/>
                <a:sym typeface="Verdana"/>
              </a:rPr>
              <a:t>NOTE: The United States Department of Education (USED) includes foreign exchange students as eligible for Title III Immigrant programs.</a:t>
            </a:r>
            <a:endParaRPr/>
          </a:p>
          <a:p>
            <a:pPr indent="0" lvl="0" marL="0" rtl="0" algn="l">
              <a:lnSpc>
                <a:spcPct val="90000"/>
              </a:lnSpc>
              <a:spcBef>
                <a:spcPts val="1000"/>
              </a:spcBef>
              <a:spcAft>
                <a:spcPts val="0"/>
              </a:spcAft>
              <a:buClr>
                <a:schemeClr val="dk1"/>
              </a:buClr>
              <a:buSzPts val="2800"/>
              <a:buNone/>
            </a:pPr>
            <a:r>
              <a:t/>
            </a:r>
            <a:endParaRPr b="1">
              <a:solidFill>
                <a:srgbClr val="FF0000"/>
              </a:solidFill>
              <a:latin typeface="Verdana"/>
              <a:ea typeface="Verdana"/>
              <a:cs typeface="Verdana"/>
              <a:sym typeface="Verdana"/>
            </a:endParaRPr>
          </a:p>
          <a:p>
            <a:pPr indent="-228600" lvl="0" marL="228600" rtl="0" algn="l">
              <a:lnSpc>
                <a:spcPct val="90000"/>
              </a:lnSpc>
              <a:spcBef>
                <a:spcPts val="1000"/>
              </a:spcBef>
              <a:spcAft>
                <a:spcPts val="0"/>
              </a:spcAft>
              <a:buClr>
                <a:schemeClr val="dk1"/>
              </a:buClr>
              <a:buSzPts val="2800"/>
              <a:buChar char="•"/>
            </a:pPr>
            <a:r>
              <a:rPr lang="en-US">
                <a:latin typeface="Verdana"/>
                <a:ea typeface="Verdana"/>
                <a:cs typeface="Verdana"/>
                <a:sym typeface="Verdana"/>
              </a:rPr>
              <a:t>CODE: 9130</a:t>
            </a:r>
            <a:endParaRPr/>
          </a:p>
        </p:txBody>
      </p:sp>
      <p:sp>
        <p:nvSpPr>
          <p:cNvPr id="228" name="Google Shape;228;p14"/>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29" name="Google Shape;229;p14"/>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30" name="Google Shape;230;p14"/>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Verdana"/>
              <a:buNone/>
            </a:pPr>
            <a:r>
              <a:rPr b="1" lang="en-US" sz="3600">
                <a:solidFill>
                  <a:srgbClr val="002060"/>
                </a:solidFill>
                <a:latin typeface="Verdana"/>
                <a:ea typeface="Verdana"/>
                <a:cs typeface="Verdana"/>
                <a:sym typeface="Verdana"/>
              </a:rPr>
              <a:t>Title III Immigrant Funding 2024</a:t>
            </a:r>
            <a:endParaRPr b="1" sz="3600">
              <a:solidFill>
                <a:srgbClr val="002060"/>
              </a:solidFill>
            </a:endParaRPr>
          </a:p>
        </p:txBody>
      </p:sp>
      <p:sp>
        <p:nvSpPr>
          <p:cNvPr id="237" name="Google Shape;237;p15"/>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372 districts received an allocation.</a:t>
            </a:r>
            <a:endParaRPr/>
          </a:p>
          <a:p>
            <a:pPr indent="-50800" lvl="0" marL="228600" rtl="0" algn="l">
              <a:lnSpc>
                <a:spcPct val="90000"/>
              </a:lnSpc>
              <a:spcBef>
                <a:spcPts val="10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sz="2800"/>
              <a:t>149 of those districts did not apply for the funding.</a:t>
            </a:r>
            <a:endParaRPr/>
          </a:p>
          <a:p>
            <a:pPr indent="-50800" lvl="0" marL="228600" rtl="0" algn="l">
              <a:lnSpc>
                <a:spcPct val="90000"/>
              </a:lnSpc>
              <a:spcBef>
                <a:spcPts val="10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sz="2800"/>
              <a:t>$119,266 funds not applied for in FY 2024.</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3"/>
              </a:rPr>
              <a:t>Title III EL and Immigrant Allowable Uses</a:t>
            </a:r>
            <a:endParaRPr/>
          </a:p>
        </p:txBody>
      </p:sp>
      <p:sp>
        <p:nvSpPr>
          <p:cNvPr id="238" name="Google Shape;238;p15"/>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39" name="Google Shape;239;p15"/>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40" name="Google Shape;240;p15"/>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u="sng">
                <a:solidFill>
                  <a:schemeClr val="hlink"/>
                </a:solidFill>
                <a:hlinkClick r:id="rId3"/>
              </a:rPr>
              <a:t>English Learners</a:t>
            </a:r>
            <a:endParaRPr b="1"/>
          </a:p>
        </p:txBody>
      </p:sp>
      <p:sp>
        <p:nvSpPr>
          <p:cNvPr id="247" name="Google Shape;247;p16"/>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u="sng">
                <a:solidFill>
                  <a:schemeClr val="hlink"/>
                </a:solidFill>
                <a:hlinkClick r:id="rId4"/>
              </a:rPr>
              <a:t>Language Assistance Plan:</a:t>
            </a:r>
            <a:endParaRPr/>
          </a:p>
          <a:p>
            <a:pPr indent="-228600" lvl="1" marL="685800" rtl="0" algn="l">
              <a:lnSpc>
                <a:spcPct val="90000"/>
              </a:lnSpc>
              <a:spcBef>
                <a:spcPts val="500"/>
              </a:spcBef>
              <a:spcAft>
                <a:spcPts val="0"/>
              </a:spcAft>
              <a:buClr>
                <a:schemeClr val="dk1"/>
              </a:buClr>
              <a:buSzPts val="2400"/>
              <a:buChar char="•"/>
            </a:pPr>
            <a:r>
              <a:rPr lang="en-US"/>
              <a:t>The written plan is not what is being implemented in the district.</a:t>
            </a:r>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5"/>
              </a:rPr>
              <a:t>Home Language Survey:</a:t>
            </a:r>
            <a:endParaRPr/>
          </a:p>
          <a:p>
            <a:pPr indent="-228600" lvl="1" marL="685800" rtl="0" algn="l">
              <a:lnSpc>
                <a:spcPct val="90000"/>
              </a:lnSpc>
              <a:spcBef>
                <a:spcPts val="500"/>
              </a:spcBef>
              <a:spcAft>
                <a:spcPts val="0"/>
              </a:spcAft>
              <a:buClr>
                <a:schemeClr val="dk1"/>
              </a:buClr>
              <a:buSzPts val="2400"/>
              <a:buChar char="•"/>
            </a:pPr>
            <a:r>
              <a:rPr b="1" lang="en-US"/>
              <a:t>NEW for implementation in 2025. ALL district are required to use the </a:t>
            </a:r>
            <a:r>
              <a:rPr b="1" lang="en-US" u="sng">
                <a:solidFill>
                  <a:schemeClr val="hlink"/>
                </a:solidFill>
                <a:hlinkClick r:id="rId6"/>
              </a:rPr>
              <a:t>NEW HLS:</a:t>
            </a:r>
            <a:endParaRPr b="1"/>
          </a:p>
          <a:p>
            <a:pPr indent="-228600" lvl="1" marL="685800" rtl="0" algn="l">
              <a:lnSpc>
                <a:spcPct val="90000"/>
              </a:lnSpc>
              <a:spcBef>
                <a:spcPts val="500"/>
              </a:spcBef>
              <a:spcAft>
                <a:spcPts val="0"/>
              </a:spcAft>
              <a:buClr>
                <a:schemeClr val="dk1"/>
              </a:buClr>
              <a:buSzPts val="2400"/>
              <a:buChar char="•"/>
            </a:pPr>
            <a:r>
              <a:rPr lang="en-US"/>
              <a:t>Questions:</a:t>
            </a:r>
            <a:endParaRPr/>
          </a:p>
          <a:p>
            <a:pPr indent="-228600" lvl="2" marL="1143000" rtl="0" algn="l">
              <a:lnSpc>
                <a:spcPct val="90000"/>
              </a:lnSpc>
              <a:spcBef>
                <a:spcPts val="500"/>
              </a:spcBef>
              <a:spcAft>
                <a:spcPts val="0"/>
              </a:spcAft>
              <a:buClr>
                <a:schemeClr val="dk1"/>
              </a:buClr>
              <a:buSzPts val="2000"/>
              <a:buChar char="•"/>
            </a:pPr>
            <a:r>
              <a:rPr lang="en-US"/>
              <a:t>What language is used most at home?</a:t>
            </a:r>
            <a:endParaRPr/>
          </a:p>
          <a:p>
            <a:pPr indent="-228600" lvl="2" marL="1143000" rtl="0" algn="l">
              <a:lnSpc>
                <a:spcPct val="90000"/>
              </a:lnSpc>
              <a:spcBef>
                <a:spcPts val="500"/>
              </a:spcBef>
              <a:spcAft>
                <a:spcPts val="0"/>
              </a:spcAft>
              <a:buClr>
                <a:schemeClr val="dk1"/>
              </a:buClr>
              <a:buSzPts val="2000"/>
              <a:buChar char="•"/>
            </a:pPr>
            <a:r>
              <a:rPr lang="en-US"/>
              <a:t>What language is used most by the student?</a:t>
            </a:r>
            <a:endParaRPr/>
          </a:p>
          <a:p>
            <a:pPr indent="-101600" lvl="2" marL="1143000" rtl="0" algn="l">
              <a:lnSpc>
                <a:spcPct val="90000"/>
              </a:lnSpc>
              <a:spcBef>
                <a:spcPts val="500"/>
              </a:spcBef>
              <a:spcAft>
                <a:spcPts val="0"/>
              </a:spcAft>
              <a:buClr>
                <a:schemeClr val="dk1"/>
              </a:buClr>
              <a:buSzPts val="2000"/>
              <a:buNone/>
            </a:pPr>
            <a:r>
              <a:t/>
            </a:r>
            <a:endParaRPr/>
          </a:p>
          <a:p>
            <a:pPr indent="-228600" lvl="1" marL="685800" rtl="0" algn="l">
              <a:lnSpc>
                <a:spcPct val="90000"/>
              </a:lnSpc>
              <a:spcBef>
                <a:spcPts val="500"/>
              </a:spcBef>
              <a:spcAft>
                <a:spcPts val="0"/>
              </a:spcAft>
              <a:buClr>
                <a:srgbClr val="FF0000"/>
              </a:buClr>
              <a:buSzPts val="2400"/>
              <a:buChar char="•"/>
            </a:pPr>
            <a:r>
              <a:rPr b="1" lang="en-US">
                <a:solidFill>
                  <a:srgbClr val="FF0000"/>
                </a:solidFill>
              </a:rPr>
              <a:t>The HLS MUST include the paragraph </a:t>
            </a:r>
            <a:endParaRPr/>
          </a:p>
          <a:p>
            <a:pPr indent="0" lvl="1" marL="457200" rtl="0" algn="l">
              <a:lnSpc>
                <a:spcPct val="90000"/>
              </a:lnSpc>
              <a:spcBef>
                <a:spcPts val="500"/>
              </a:spcBef>
              <a:spcAft>
                <a:spcPts val="0"/>
              </a:spcAft>
              <a:buClr>
                <a:srgbClr val="FF0000"/>
              </a:buClr>
              <a:buSzPts val="2400"/>
              <a:buNone/>
            </a:pPr>
            <a:r>
              <a:rPr b="1" lang="en-US">
                <a:solidFill>
                  <a:srgbClr val="FF0000"/>
                </a:solidFill>
              </a:rPr>
              <a:t>  proceeding the questions.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48" name="Google Shape;248;p16"/>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49" name="Google Shape;249;p16"/>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50" name="Google Shape;250;p16"/>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4fd4c3aec3_0_7"/>
          <p:cNvSpPr txBox="1"/>
          <p:nvPr>
            <p:ph type="title"/>
          </p:nvPr>
        </p:nvSpPr>
        <p:spPr>
          <a:xfrm>
            <a:off x="1756372" y="365125"/>
            <a:ext cx="9597300" cy="79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Please join our SLIDO</a:t>
            </a:r>
            <a:endParaRPr/>
          </a:p>
        </p:txBody>
      </p:sp>
      <p:pic>
        <p:nvPicPr>
          <p:cNvPr id="256" name="Google Shape;256;g34fd4c3aec3_0_7"/>
          <p:cNvPicPr preferRelativeResize="0"/>
          <p:nvPr>
            <p:ph idx="1" type="body"/>
          </p:nvPr>
        </p:nvPicPr>
        <p:blipFill rotWithShape="1">
          <a:blip r:embed="rId3">
            <a:alphaModFix/>
          </a:blip>
          <a:srcRect b="0" l="0" r="0" t="0"/>
          <a:stretch/>
        </p:blipFill>
        <p:spPr>
          <a:xfrm>
            <a:off x="1680272" y="1856470"/>
            <a:ext cx="3802200" cy="3802200"/>
          </a:xfrm>
          <a:prstGeom prst="rect">
            <a:avLst/>
          </a:prstGeom>
          <a:noFill/>
          <a:ln>
            <a:noFill/>
          </a:ln>
        </p:spPr>
      </p:pic>
      <p:sp>
        <p:nvSpPr>
          <p:cNvPr id="257" name="Google Shape;257;g34fd4c3aec3_0_7"/>
          <p:cNvSpPr txBox="1"/>
          <p:nvPr>
            <p:ph idx="10" type="dt"/>
          </p:nvPr>
        </p:nvSpPr>
        <p:spPr>
          <a:xfrm>
            <a:off x="1376126" y="6356350"/>
            <a:ext cx="22053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58" name="Google Shape;258;g34fd4c3aec3_0_7"/>
          <p:cNvSpPr txBox="1"/>
          <p:nvPr>
            <p:ph idx="11" type="ftr"/>
          </p:nvPr>
        </p:nvSpPr>
        <p:spPr>
          <a:xfrm>
            <a:off x="3766242" y="6356350"/>
            <a:ext cx="43872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59" name="Google Shape;259;g34fd4c3aec3_0_7"/>
          <p:cNvSpPr txBox="1"/>
          <p:nvPr>
            <p:ph idx="12" type="sldNum"/>
          </p:nvPr>
        </p:nvSpPr>
        <p:spPr>
          <a:xfrm>
            <a:off x="8347295" y="6356350"/>
            <a:ext cx="6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0" name="Google Shape;260;g34fd4c3aec3_0_7"/>
          <p:cNvSpPr txBox="1"/>
          <p:nvPr/>
        </p:nvSpPr>
        <p:spPr>
          <a:xfrm>
            <a:off x="6555085" y="1856470"/>
            <a:ext cx="4798800" cy="255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Verdana"/>
                <a:ea typeface="Verdana"/>
                <a:cs typeface="Verdana"/>
                <a:sym typeface="Verdana"/>
              </a:rPr>
              <a:t>SLIDO NAME:</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rgbClr val="FF0000"/>
                </a:solidFill>
                <a:latin typeface="Verdana"/>
                <a:ea typeface="Verdana"/>
                <a:cs typeface="Verdana"/>
                <a:sym typeface="Verdana"/>
              </a:rPr>
              <a:t>Common Findings MASFPS 2022.pptx</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chemeClr val="dk1"/>
                </a:solidFill>
                <a:latin typeface="Verdana"/>
                <a:ea typeface="Verdana"/>
                <a:cs typeface="Verdana"/>
                <a:sym typeface="Verdana"/>
              </a:rPr>
              <a:t>SLIDO CODE: </a:t>
            </a:r>
            <a:r>
              <a:rPr b="1" lang="en-US" sz="2000">
                <a:solidFill>
                  <a:srgbClr val="FF0000"/>
                </a:solidFill>
                <a:latin typeface="Verdana"/>
                <a:ea typeface="Verdana"/>
                <a:cs typeface="Verdana"/>
                <a:sym typeface="Verdana"/>
              </a:rPr>
              <a:t>8508463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8"/>
          <p:cNvSpPr txBox="1"/>
          <p:nvPr>
            <p:ph type="title"/>
          </p:nvPr>
        </p:nvSpPr>
        <p:spPr>
          <a:xfrm>
            <a:off x="1068310" y="365125"/>
            <a:ext cx="10285490"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Common Fiscal Findings</a:t>
            </a:r>
            <a:endParaRPr/>
          </a:p>
        </p:txBody>
      </p:sp>
      <p:pic>
        <p:nvPicPr>
          <p:cNvPr descr="Disney gif. Retro animation of Donald Duck walking along happily while counting money." id="266" name="Google Shape;266;p18"/>
          <p:cNvPicPr preferRelativeResize="0"/>
          <p:nvPr/>
        </p:nvPicPr>
        <p:blipFill rotWithShape="1">
          <a:blip r:embed="rId3">
            <a:alphaModFix/>
          </a:blip>
          <a:srcRect b="0" l="0" r="0" t="0"/>
          <a:stretch/>
        </p:blipFill>
        <p:spPr>
          <a:xfrm>
            <a:off x="4283995" y="1548143"/>
            <a:ext cx="3854122" cy="4628820"/>
          </a:xfrm>
          <a:prstGeom prst="rect">
            <a:avLst/>
          </a:prstGeom>
          <a:solidFill>
            <a:srgbClr val="FFFFFF"/>
          </a:solidFill>
          <a:ln>
            <a:noFill/>
          </a:ln>
        </p:spPr>
      </p:pic>
      <p:sp>
        <p:nvSpPr>
          <p:cNvPr id="267" name="Google Shape;267;p18"/>
          <p:cNvSpPr txBox="1"/>
          <p:nvPr>
            <p:ph idx="10" type="dt"/>
          </p:nvPr>
        </p:nvSpPr>
        <p:spPr>
          <a:xfrm>
            <a:off x="1068310" y="6356350"/>
            <a:ext cx="251308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68" name="Google Shape;268;p18"/>
          <p:cNvSpPr txBox="1"/>
          <p:nvPr>
            <p:ph idx="11" type="ftr"/>
          </p:nvPr>
        </p:nvSpPr>
        <p:spPr>
          <a:xfrm>
            <a:off x="3766242" y="6356350"/>
            <a:ext cx="586815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69" name="Google Shape;269;p18"/>
          <p:cNvSpPr txBox="1"/>
          <p:nvPr>
            <p:ph idx="12" type="sldNum"/>
          </p:nvPr>
        </p:nvSpPr>
        <p:spPr>
          <a:xfrm>
            <a:off x="9849610"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latin typeface="Verdana"/>
                <a:ea typeface="Verdana"/>
                <a:cs typeface="Verdana"/>
                <a:sym typeface="Verdana"/>
              </a:rPr>
              <a:t>Common Fiscal Findings </a:t>
            </a:r>
            <a:endParaRPr b="1">
              <a:solidFill>
                <a:srgbClr val="002060"/>
              </a:solidFill>
            </a:endParaRPr>
          </a:p>
        </p:txBody>
      </p:sp>
      <p:sp>
        <p:nvSpPr>
          <p:cNvPr id="276" name="Google Shape;276;p20"/>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Individual expenditures must not exceed authorized amounts by more than 10 percent. </a:t>
            </a:r>
            <a:endParaRPr/>
          </a:p>
          <a:p>
            <a:pPr indent="-228600" lvl="0" marL="228600" rtl="0" algn="l">
              <a:lnSpc>
                <a:spcPct val="90000"/>
              </a:lnSpc>
              <a:spcBef>
                <a:spcPts val="1000"/>
              </a:spcBef>
              <a:spcAft>
                <a:spcPts val="0"/>
              </a:spcAft>
              <a:buClr>
                <a:schemeClr val="dk1"/>
              </a:buClr>
              <a:buSzPts val="2800"/>
              <a:buChar char="•"/>
            </a:pPr>
            <a:r>
              <a:rPr lang="en-US"/>
              <a:t>Obligation Date.</a:t>
            </a:r>
            <a:endParaRPr sz="2800"/>
          </a:p>
          <a:p>
            <a:pPr indent="-228600" lvl="0" marL="228600" rtl="0" algn="l">
              <a:lnSpc>
                <a:spcPct val="90000"/>
              </a:lnSpc>
              <a:spcBef>
                <a:spcPts val="1000"/>
              </a:spcBef>
              <a:spcAft>
                <a:spcPts val="0"/>
              </a:spcAft>
              <a:buClr>
                <a:schemeClr val="dk1"/>
              </a:buClr>
              <a:buSzPts val="2800"/>
              <a:buChar char="•"/>
            </a:pPr>
            <a:r>
              <a:rPr lang="en-US"/>
              <a:t>Misclassifications – Expenditures recorded in the wrong function and/or object code. Charging the incorrect building (Title I, Part A only) or program. </a:t>
            </a:r>
            <a:endParaRPr/>
          </a:p>
          <a:p>
            <a:pPr indent="0" lvl="0" marL="0" rtl="0" algn="l">
              <a:lnSpc>
                <a:spcPct val="90000"/>
              </a:lnSpc>
              <a:spcBef>
                <a:spcPts val="1000"/>
              </a:spcBef>
              <a:spcAft>
                <a:spcPts val="0"/>
              </a:spcAft>
              <a:buClr>
                <a:schemeClr val="dk1"/>
              </a:buClr>
              <a:buSzPts val="2800"/>
              <a:buNone/>
            </a:pPr>
            <a:r>
              <a:t/>
            </a:r>
            <a:endParaRPr sz="2800"/>
          </a:p>
          <a:p>
            <a:pPr indent="0" lvl="0" marL="0" rtl="0" algn="l">
              <a:lnSpc>
                <a:spcPct val="90000"/>
              </a:lnSpc>
              <a:spcBef>
                <a:spcPts val="1000"/>
              </a:spcBef>
              <a:spcAft>
                <a:spcPts val="0"/>
              </a:spcAft>
              <a:buClr>
                <a:schemeClr val="dk1"/>
              </a:buClr>
              <a:buSzPts val="2800"/>
              <a:buNone/>
            </a:pPr>
            <a:r>
              <a:rPr lang="en-US" u="sng">
                <a:solidFill>
                  <a:schemeClr val="hlink"/>
                </a:solidFill>
                <a:hlinkClick r:id="rId3"/>
              </a:rPr>
              <a:t>Michigan Accounting Codes Manual Appendix</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77" name="Google Shape;277;p20"/>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78" name="Google Shape;278;p20"/>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79" name="Google Shape;279;p20"/>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1"/>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Common Fiscal Findings </a:t>
            </a:r>
            <a:endParaRPr b="1"/>
          </a:p>
        </p:txBody>
      </p:sp>
      <p:sp>
        <p:nvSpPr>
          <p:cNvPr id="286" name="Google Shape;286;p21"/>
          <p:cNvSpPr txBox="1"/>
          <p:nvPr>
            <p:ph idx="1" type="body"/>
          </p:nvPr>
        </p:nvSpPr>
        <p:spPr>
          <a:xfrm>
            <a:off x="1376126" y="1542197"/>
            <a:ext cx="4643674" cy="4634766"/>
          </a:xfrm>
          <a:prstGeom prst="rect">
            <a:avLst/>
          </a:prstGeom>
          <a:noFill/>
          <a:ln>
            <a:noFill/>
          </a:ln>
        </p:spPr>
        <p:txBody>
          <a:bodyPr anchorCtr="0" anchor="t" bIns="45700" lIns="91425" spcFirstLastPara="1" rIns="91425" wrap="square" tIns="45700">
            <a:normAutofit lnSpcReduction="10000"/>
          </a:bodyPr>
          <a:lstStyle/>
          <a:p>
            <a:pPr indent="-76200" lvl="0" marL="228600" rtl="0" algn="l">
              <a:lnSpc>
                <a:spcPct val="90000"/>
              </a:lnSpc>
              <a:spcBef>
                <a:spcPts val="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800"/>
              <a:buChar char="•"/>
            </a:pPr>
            <a:r>
              <a:rPr lang="en-US"/>
              <a:t>Funding must benefit the students in the current budget year.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Coordination between program and business contact.</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Gift/gas cards and student incentives.</a:t>
            </a:r>
            <a:endParaRPr/>
          </a:p>
          <a:p>
            <a:pPr indent="-76200" lvl="0" marL="228600" rtl="0" algn="l">
              <a:lnSpc>
                <a:spcPct val="90000"/>
              </a:lnSpc>
              <a:spcBef>
                <a:spcPts val="1000"/>
              </a:spcBef>
              <a:spcAft>
                <a:spcPts val="0"/>
              </a:spcAft>
              <a:buClr>
                <a:schemeClr val="dk1"/>
              </a:buClr>
              <a:buSzPts val="2400"/>
              <a:buNone/>
            </a:pPr>
            <a:r>
              <a:t/>
            </a:r>
            <a:endParaRPr sz="2400"/>
          </a:p>
        </p:txBody>
      </p:sp>
      <p:pic>
        <p:nvPicPr>
          <p:cNvPr descr="For You Animation GIF by Holler Studios" id="287" name="Google Shape;287;p21"/>
          <p:cNvPicPr preferRelativeResize="0"/>
          <p:nvPr/>
        </p:nvPicPr>
        <p:blipFill rotWithShape="1">
          <a:blip r:embed="rId3">
            <a:alphaModFix/>
          </a:blip>
          <a:srcRect b="0" l="0" r="0" t="0"/>
          <a:stretch/>
        </p:blipFill>
        <p:spPr>
          <a:xfrm>
            <a:off x="6513856" y="1665027"/>
            <a:ext cx="3953977" cy="3953977"/>
          </a:xfrm>
          <a:prstGeom prst="rect">
            <a:avLst/>
          </a:prstGeom>
          <a:solidFill>
            <a:srgbClr val="FFFFFF"/>
          </a:solidFill>
          <a:ln>
            <a:noFill/>
          </a:ln>
        </p:spPr>
      </p:pic>
      <p:sp>
        <p:nvSpPr>
          <p:cNvPr id="288" name="Google Shape;288;p21"/>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4/7/2025</a:t>
            </a:r>
            <a:endParaRPr/>
          </a:p>
        </p:txBody>
      </p:sp>
      <p:sp>
        <p:nvSpPr>
          <p:cNvPr id="289" name="Google Shape;289;p21"/>
          <p:cNvSpPr txBox="1"/>
          <p:nvPr>
            <p:ph idx="11" type="ftr"/>
          </p:nvPr>
        </p:nvSpPr>
        <p:spPr>
          <a:xfrm>
            <a:off x="3720974" y="6356350"/>
            <a:ext cx="4432426"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www.michigan.gov/mde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rPr>
              <a:t>Common Fiscal Findings </a:t>
            </a:r>
            <a:endParaRPr/>
          </a:p>
        </p:txBody>
      </p:sp>
      <p:sp>
        <p:nvSpPr>
          <p:cNvPr id="296" name="Google Shape;296;p22"/>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Failure to submit or certify the final expenditure report by November 29, resulting in a recovery by OES of all Title payments.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Time and effort documents that do not reflect the activity or time. Activity logs are important!</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Expenditures for items not approved in the Consolidated Application.</a:t>
            </a:r>
            <a:endParaRPr/>
          </a:p>
        </p:txBody>
      </p:sp>
      <p:sp>
        <p:nvSpPr>
          <p:cNvPr id="297" name="Google Shape;297;p22"/>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298" name="Google Shape;298;p22"/>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299" name="Google Shape;299;p22"/>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rPr>
              <a:t>Common Fiscal Findings </a:t>
            </a:r>
            <a:endParaRPr b="1"/>
          </a:p>
        </p:txBody>
      </p:sp>
      <p:sp>
        <p:nvSpPr>
          <p:cNvPr id="306" name="Google Shape;306;p23"/>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lang="en-US">
                <a:solidFill>
                  <a:srgbClr val="002060"/>
                </a:solidFill>
              </a:rPr>
              <a:t>Amounts reported in the FER do not match amount recorded in general ledger.</a:t>
            </a:r>
            <a:endParaRPr/>
          </a:p>
          <a:p>
            <a:pPr indent="-228600" lvl="0" marL="228600" rtl="0" algn="l">
              <a:lnSpc>
                <a:spcPct val="90000"/>
              </a:lnSpc>
              <a:spcBef>
                <a:spcPts val="1000"/>
              </a:spcBef>
              <a:spcAft>
                <a:spcPts val="0"/>
              </a:spcAft>
              <a:buClr>
                <a:srgbClr val="002060"/>
              </a:buClr>
              <a:buSzPts val="2800"/>
              <a:buChar char="•"/>
            </a:pPr>
            <a:r>
              <a:rPr lang="en-US">
                <a:solidFill>
                  <a:srgbClr val="002060"/>
                </a:solidFill>
              </a:rPr>
              <a:t>Failure to retain general ledgers which support individual cash draws.</a:t>
            </a:r>
            <a:endParaRPr/>
          </a:p>
          <a:p>
            <a:pPr indent="-228600" lvl="0" marL="228600" rtl="0" algn="l">
              <a:lnSpc>
                <a:spcPct val="90000"/>
              </a:lnSpc>
              <a:spcBef>
                <a:spcPts val="1000"/>
              </a:spcBef>
              <a:spcAft>
                <a:spcPts val="0"/>
              </a:spcAft>
              <a:buClr>
                <a:srgbClr val="002060"/>
              </a:buClr>
              <a:buSzPts val="2800"/>
              <a:buChar char="•"/>
            </a:pPr>
            <a:r>
              <a:rPr lang="en-US">
                <a:solidFill>
                  <a:srgbClr val="002060"/>
                </a:solidFill>
              </a:rPr>
              <a:t>Paraprofessionals that do not meet HQ requirements.</a:t>
            </a:r>
            <a:endParaRPr/>
          </a:p>
          <a:p>
            <a:pPr indent="-228600" lvl="0" marL="228600" rtl="0" algn="l">
              <a:lnSpc>
                <a:spcPct val="90000"/>
              </a:lnSpc>
              <a:spcBef>
                <a:spcPts val="1000"/>
              </a:spcBef>
              <a:spcAft>
                <a:spcPts val="0"/>
              </a:spcAft>
              <a:buClr>
                <a:srgbClr val="002060"/>
              </a:buClr>
              <a:buSzPts val="2800"/>
              <a:buChar char="•"/>
            </a:pPr>
            <a:r>
              <a:rPr lang="en-US">
                <a:solidFill>
                  <a:srgbClr val="002060"/>
                </a:solidFill>
              </a:rPr>
              <a:t>Failure to maintain inventory listing that meets federal requirements.</a:t>
            </a:r>
            <a:endParaRPr/>
          </a:p>
        </p:txBody>
      </p:sp>
      <p:sp>
        <p:nvSpPr>
          <p:cNvPr id="307" name="Google Shape;307;p23"/>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308" name="Google Shape;308;p23"/>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309" name="Google Shape;309;p23"/>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4"/>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rPr>
              <a:t>Common Fiscal Findings </a:t>
            </a:r>
            <a:endParaRPr b="1"/>
          </a:p>
        </p:txBody>
      </p:sp>
      <p:sp>
        <p:nvSpPr>
          <p:cNvPr id="316" name="Google Shape;316;p24"/>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Failure to have purchased services contracts that  meet federal requirements.</a:t>
            </a:r>
            <a:endParaRPr/>
          </a:p>
          <a:p>
            <a:pPr indent="-228600" lvl="0" marL="228600" rtl="0" algn="l">
              <a:lnSpc>
                <a:spcPct val="90000"/>
              </a:lnSpc>
              <a:spcBef>
                <a:spcPts val="1000"/>
              </a:spcBef>
              <a:spcAft>
                <a:spcPts val="0"/>
              </a:spcAft>
              <a:buClr>
                <a:schemeClr val="dk1"/>
              </a:buClr>
              <a:buSzPts val="2800"/>
              <a:buChar char="•"/>
            </a:pPr>
            <a:r>
              <a:rPr lang="en-US"/>
              <a:t>Salaries and/or benefit amounts that exceed by more than 10% of the amounts approved in the Con App.</a:t>
            </a:r>
            <a:endParaRPr/>
          </a:p>
          <a:p>
            <a:pPr indent="-228600" lvl="0" marL="228600" rtl="0" algn="l">
              <a:lnSpc>
                <a:spcPct val="90000"/>
              </a:lnSpc>
              <a:spcBef>
                <a:spcPts val="1000"/>
              </a:spcBef>
              <a:spcAft>
                <a:spcPts val="0"/>
              </a:spcAft>
              <a:buClr>
                <a:schemeClr val="dk1"/>
              </a:buClr>
              <a:buSzPts val="2800"/>
              <a:buChar char="•"/>
            </a:pPr>
            <a:r>
              <a:rPr lang="en-US"/>
              <a:t>Hotel invoices at check-out are not provided to substantiate hotel charges.</a:t>
            </a:r>
            <a:endParaRPr/>
          </a:p>
        </p:txBody>
      </p:sp>
      <p:sp>
        <p:nvSpPr>
          <p:cNvPr id="317" name="Google Shape;317;p24"/>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318" name="Google Shape;318;p24"/>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319" name="Google Shape;319;p24"/>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Verdana"/>
              <a:buNone/>
            </a:pPr>
            <a:r>
              <a:rPr b="1" lang="en-US">
                <a:solidFill>
                  <a:srgbClr val="002060"/>
                </a:solidFill>
              </a:rPr>
              <a:t>Common Fiscal Findings </a:t>
            </a:r>
            <a:endParaRPr/>
          </a:p>
        </p:txBody>
      </p:sp>
      <p:sp>
        <p:nvSpPr>
          <p:cNvPr id="326" name="Google Shape;326;p25"/>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Agenda and sign-in sheets not provided for Title funded parent/family activities and in-house training (name of activity and date it occurred must be on the sign-in sheet) to confirm stipends. </a:t>
            </a:r>
            <a:endParaRPr/>
          </a:p>
          <a:p>
            <a:pPr indent="-228600" lvl="0" marL="228600" rtl="0" algn="l">
              <a:lnSpc>
                <a:spcPct val="90000"/>
              </a:lnSpc>
              <a:spcBef>
                <a:spcPts val="1000"/>
              </a:spcBef>
              <a:spcAft>
                <a:spcPts val="0"/>
              </a:spcAft>
              <a:buClr>
                <a:schemeClr val="dk1"/>
              </a:buClr>
              <a:buSzPct val="100000"/>
              <a:buChar char="•"/>
            </a:pPr>
            <a:r>
              <a:rPr lang="en-US"/>
              <a:t>Failure to have documented policies and procedures which cover:</a:t>
            </a:r>
            <a:endParaRPr/>
          </a:p>
          <a:p>
            <a:pPr indent="-228600" lvl="1" marL="685800" rtl="0" algn="l">
              <a:lnSpc>
                <a:spcPct val="90000"/>
              </a:lnSpc>
              <a:spcBef>
                <a:spcPts val="500"/>
              </a:spcBef>
              <a:spcAft>
                <a:spcPts val="0"/>
              </a:spcAft>
              <a:buClr>
                <a:schemeClr val="dk1"/>
              </a:buClr>
              <a:buSzPct val="100000"/>
              <a:buChar char="•"/>
            </a:pPr>
            <a:r>
              <a:rPr lang="en-US"/>
              <a:t>Time and effort</a:t>
            </a:r>
            <a:endParaRPr/>
          </a:p>
          <a:p>
            <a:pPr indent="-228600" lvl="1" marL="685800" rtl="0" algn="l">
              <a:lnSpc>
                <a:spcPct val="90000"/>
              </a:lnSpc>
              <a:spcBef>
                <a:spcPts val="500"/>
              </a:spcBef>
              <a:spcAft>
                <a:spcPts val="0"/>
              </a:spcAft>
              <a:buClr>
                <a:schemeClr val="dk1"/>
              </a:buClr>
              <a:buSzPct val="100000"/>
              <a:buChar char="•"/>
            </a:pPr>
            <a:r>
              <a:rPr lang="en-US"/>
              <a:t>Cash management</a:t>
            </a:r>
            <a:endParaRPr/>
          </a:p>
          <a:p>
            <a:pPr indent="-228600" lvl="1" marL="685800" rtl="0" algn="l">
              <a:lnSpc>
                <a:spcPct val="90000"/>
              </a:lnSpc>
              <a:spcBef>
                <a:spcPts val="500"/>
              </a:spcBef>
              <a:spcAft>
                <a:spcPts val="0"/>
              </a:spcAft>
              <a:buClr>
                <a:schemeClr val="dk1"/>
              </a:buClr>
              <a:buSzPct val="100000"/>
              <a:buChar char="•"/>
            </a:pPr>
            <a:r>
              <a:rPr lang="en-US"/>
              <a:t>Allowability of cost</a:t>
            </a:r>
            <a:endParaRPr/>
          </a:p>
          <a:p>
            <a:pPr indent="-228600" lvl="1" marL="685800" rtl="0" algn="l">
              <a:lnSpc>
                <a:spcPct val="90000"/>
              </a:lnSpc>
              <a:spcBef>
                <a:spcPts val="500"/>
              </a:spcBef>
              <a:spcAft>
                <a:spcPts val="0"/>
              </a:spcAft>
              <a:buClr>
                <a:schemeClr val="dk1"/>
              </a:buClr>
              <a:buSzPct val="100000"/>
              <a:buChar char="•"/>
            </a:pPr>
            <a:r>
              <a:rPr lang="en-US"/>
              <a:t>Conflicts of interest</a:t>
            </a:r>
            <a:endParaRPr/>
          </a:p>
          <a:p>
            <a:pPr indent="-228600" lvl="1" marL="685800" rtl="0" algn="l">
              <a:lnSpc>
                <a:spcPct val="90000"/>
              </a:lnSpc>
              <a:spcBef>
                <a:spcPts val="500"/>
              </a:spcBef>
              <a:spcAft>
                <a:spcPts val="0"/>
              </a:spcAft>
              <a:buClr>
                <a:schemeClr val="dk1"/>
              </a:buClr>
              <a:buSzPct val="100000"/>
              <a:buChar char="•"/>
            </a:pPr>
            <a:r>
              <a:rPr lang="en-US"/>
              <a:t>Equipment management</a:t>
            </a:r>
            <a:endParaRPr/>
          </a:p>
          <a:p>
            <a:pPr indent="-228600" lvl="1" marL="685800" rtl="0" algn="l">
              <a:lnSpc>
                <a:spcPct val="90000"/>
              </a:lnSpc>
              <a:spcBef>
                <a:spcPts val="500"/>
              </a:spcBef>
              <a:spcAft>
                <a:spcPts val="0"/>
              </a:spcAft>
              <a:buClr>
                <a:schemeClr val="dk1"/>
              </a:buClr>
              <a:buSzPct val="100000"/>
              <a:buChar char="•"/>
            </a:pPr>
            <a:r>
              <a:rPr lang="en-US"/>
              <a:t>Procurement</a:t>
            </a:r>
            <a:endParaRPr/>
          </a:p>
          <a:p>
            <a:pPr indent="-228600" lvl="1" marL="685800" rtl="0" algn="l">
              <a:lnSpc>
                <a:spcPct val="90000"/>
              </a:lnSpc>
              <a:spcBef>
                <a:spcPts val="500"/>
              </a:spcBef>
              <a:spcAft>
                <a:spcPts val="0"/>
              </a:spcAft>
              <a:buClr>
                <a:schemeClr val="dk1"/>
              </a:buClr>
              <a:buSzPct val="100000"/>
              <a:buChar char="•"/>
            </a:pPr>
            <a:r>
              <a:rPr lang="en-US"/>
              <a:t>Travel reimbursement</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327" name="Google Shape;327;p25"/>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328" name="Google Shape;328;p25"/>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329" name="Google Shape;329;p25"/>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4fd4c3aec3_0_16"/>
          <p:cNvSpPr txBox="1"/>
          <p:nvPr>
            <p:ph type="title"/>
          </p:nvPr>
        </p:nvSpPr>
        <p:spPr>
          <a:xfrm>
            <a:off x="1756372" y="365125"/>
            <a:ext cx="9597300" cy="79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b="1" lang="en-US"/>
              <a:t>Please join our SLIDO</a:t>
            </a:r>
            <a:endParaRPr/>
          </a:p>
        </p:txBody>
      </p:sp>
      <p:pic>
        <p:nvPicPr>
          <p:cNvPr id="335" name="Google Shape;335;g34fd4c3aec3_0_16"/>
          <p:cNvPicPr preferRelativeResize="0"/>
          <p:nvPr>
            <p:ph idx="1" type="body"/>
          </p:nvPr>
        </p:nvPicPr>
        <p:blipFill rotWithShape="1">
          <a:blip r:embed="rId3">
            <a:alphaModFix/>
          </a:blip>
          <a:srcRect b="0" l="0" r="0" t="0"/>
          <a:stretch/>
        </p:blipFill>
        <p:spPr>
          <a:xfrm>
            <a:off x="1680272" y="1856470"/>
            <a:ext cx="3802200" cy="3802200"/>
          </a:xfrm>
          <a:prstGeom prst="rect">
            <a:avLst/>
          </a:prstGeom>
          <a:noFill/>
          <a:ln>
            <a:noFill/>
          </a:ln>
        </p:spPr>
      </p:pic>
      <p:sp>
        <p:nvSpPr>
          <p:cNvPr id="336" name="Google Shape;336;g34fd4c3aec3_0_16"/>
          <p:cNvSpPr txBox="1"/>
          <p:nvPr>
            <p:ph idx="10" type="dt"/>
          </p:nvPr>
        </p:nvSpPr>
        <p:spPr>
          <a:xfrm>
            <a:off x="1376126" y="6356350"/>
            <a:ext cx="22053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337" name="Google Shape;337;g34fd4c3aec3_0_16"/>
          <p:cNvSpPr txBox="1"/>
          <p:nvPr>
            <p:ph idx="11" type="ftr"/>
          </p:nvPr>
        </p:nvSpPr>
        <p:spPr>
          <a:xfrm>
            <a:off x="3766242" y="6356350"/>
            <a:ext cx="43872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338" name="Google Shape;338;g34fd4c3aec3_0_16"/>
          <p:cNvSpPr txBox="1"/>
          <p:nvPr>
            <p:ph idx="12" type="sldNum"/>
          </p:nvPr>
        </p:nvSpPr>
        <p:spPr>
          <a:xfrm>
            <a:off x="8347295" y="6356350"/>
            <a:ext cx="6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9" name="Google Shape;339;g34fd4c3aec3_0_16"/>
          <p:cNvSpPr txBox="1"/>
          <p:nvPr/>
        </p:nvSpPr>
        <p:spPr>
          <a:xfrm>
            <a:off x="6555085" y="1856470"/>
            <a:ext cx="4798800" cy="255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Verdana"/>
                <a:ea typeface="Verdana"/>
                <a:cs typeface="Verdana"/>
                <a:sym typeface="Verdana"/>
              </a:rPr>
              <a:t>SLIDO NAME:</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rgbClr val="FF0000"/>
                </a:solidFill>
                <a:latin typeface="Verdana"/>
                <a:ea typeface="Verdana"/>
                <a:cs typeface="Verdana"/>
                <a:sym typeface="Verdana"/>
              </a:rPr>
              <a:t>Common Findings MASFPS 2022.pptx</a:t>
            </a:r>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a:p>
            <a:pPr indent="0" lvl="0" marL="0" marR="0" rtl="0" algn="l">
              <a:spcBef>
                <a:spcPts val="0"/>
              </a:spcBef>
              <a:spcAft>
                <a:spcPts val="0"/>
              </a:spcAft>
              <a:buNone/>
            </a:pPr>
            <a:r>
              <a:rPr b="1" lang="en-US" sz="2000">
                <a:solidFill>
                  <a:schemeClr val="dk1"/>
                </a:solidFill>
                <a:latin typeface="Verdana"/>
                <a:ea typeface="Verdana"/>
                <a:cs typeface="Verdana"/>
                <a:sym typeface="Verdana"/>
              </a:rPr>
              <a:t>SLIDO CODE: </a:t>
            </a:r>
            <a:r>
              <a:rPr b="1" lang="en-US" sz="2000">
                <a:solidFill>
                  <a:srgbClr val="FF0000"/>
                </a:solidFill>
                <a:latin typeface="Verdana"/>
                <a:ea typeface="Verdana"/>
                <a:cs typeface="Verdana"/>
                <a:sym typeface="Verdana"/>
              </a:rPr>
              <a:t>8508463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7"/>
          <p:cNvSpPr txBox="1"/>
          <p:nvPr>
            <p:ph type="title"/>
          </p:nvPr>
        </p:nvSpPr>
        <p:spPr>
          <a:xfrm>
            <a:off x="1756372" y="365125"/>
            <a:ext cx="9597427" cy="7937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en-US"/>
              <a:t>Contact Information</a:t>
            </a:r>
            <a:endParaRPr/>
          </a:p>
        </p:txBody>
      </p:sp>
      <p:sp>
        <p:nvSpPr>
          <p:cNvPr id="346" name="Google Shape;346;p27"/>
          <p:cNvSpPr txBox="1"/>
          <p:nvPr>
            <p:ph idx="1" type="body"/>
          </p:nvPr>
        </p:nvSpPr>
        <p:spPr>
          <a:xfrm>
            <a:off x="1376127" y="1548143"/>
            <a:ext cx="9977673" cy="462882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t/>
            </a:r>
            <a:endParaRPr sz="2800"/>
          </a:p>
          <a:p>
            <a:pPr indent="0" lvl="0" marL="0" rtl="0" algn="ctr">
              <a:lnSpc>
                <a:spcPct val="90000"/>
              </a:lnSpc>
              <a:spcBef>
                <a:spcPts val="1000"/>
              </a:spcBef>
              <a:spcAft>
                <a:spcPts val="0"/>
              </a:spcAft>
              <a:buClr>
                <a:schemeClr val="dk1"/>
              </a:buClr>
              <a:buSzPts val="2800"/>
              <a:buNone/>
            </a:pPr>
            <a:r>
              <a:rPr lang="en-US" sz="2800"/>
              <a:t>Shelly Patton, Interim </a:t>
            </a:r>
            <a:r>
              <a:rPr lang="en-US"/>
              <a:t>Manager, </a:t>
            </a:r>
            <a:r>
              <a:rPr lang="en-US" sz="2800"/>
              <a:t>MDE/OES</a:t>
            </a:r>
            <a:endParaRPr/>
          </a:p>
          <a:p>
            <a:pPr indent="0" lvl="0" marL="0" rtl="0" algn="ctr">
              <a:lnSpc>
                <a:spcPct val="90000"/>
              </a:lnSpc>
              <a:spcBef>
                <a:spcPts val="1000"/>
              </a:spcBef>
              <a:spcAft>
                <a:spcPts val="0"/>
              </a:spcAft>
              <a:buClr>
                <a:schemeClr val="dk1"/>
              </a:buClr>
              <a:buSzPts val="2800"/>
              <a:buNone/>
            </a:pPr>
            <a:r>
              <a:rPr lang="en-US" sz="2800" u="sng">
                <a:solidFill>
                  <a:schemeClr val="hlink"/>
                </a:solidFill>
                <a:hlinkClick r:id="rId3"/>
              </a:rPr>
              <a:t>PattonM@michigan.gov</a:t>
            </a:r>
            <a:endParaRPr sz="2800"/>
          </a:p>
          <a:p>
            <a:pPr indent="0" lvl="0" marL="0" rtl="0" algn="ctr">
              <a:lnSpc>
                <a:spcPct val="90000"/>
              </a:lnSpc>
              <a:spcBef>
                <a:spcPts val="1000"/>
              </a:spcBef>
              <a:spcAft>
                <a:spcPts val="0"/>
              </a:spcAft>
              <a:buClr>
                <a:schemeClr val="dk1"/>
              </a:buClr>
              <a:buSzPts val="2800"/>
              <a:buNone/>
            </a:pPr>
            <a:r>
              <a:t/>
            </a:r>
            <a:endParaRPr sz="2800"/>
          </a:p>
          <a:p>
            <a:pPr indent="0" lvl="0" marL="0" rtl="0" algn="ctr">
              <a:lnSpc>
                <a:spcPct val="90000"/>
              </a:lnSpc>
              <a:spcBef>
                <a:spcPts val="1000"/>
              </a:spcBef>
              <a:spcAft>
                <a:spcPts val="0"/>
              </a:spcAft>
              <a:buClr>
                <a:schemeClr val="dk1"/>
              </a:buClr>
              <a:buSzPts val="2800"/>
              <a:buNone/>
            </a:pPr>
            <a:r>
              <a:rPr lang="en-US" sz="2800"/>
              <a:t>Andrea Rogers, Education Consultant Region 2, MDE/OES</a:t>
            </a:r>
            <a:endParaRPr/>
          </a:p>
          <a:p>
            <a:pPr indent="0" lvl="0" marL="0" rtl="0" algn="ctr">
              <a:lnSpc>
                <a:spcPct val="90000"/>
              </a:lnSpc>
              <a:spcBef>
                <a:spcPts val="1000"/>
              </a:spcBef>
              <a:spcAft>
                <a:spcPts val="0"/>
              </a:spcAft>
              <a:buClr>
                <a:schemeClr val="dk1"/>
              </a:buClr>
              <a:buSzPts val="2800"/>
              <a:buNone/>
            </a:pPr>
            <a:r>
              <a:rPr lang="en-US" sz="2800" u="sng">
                <a:solidFill>
                  <a:schemeClr val="hlink"/>
                </a:solidFill>
                <a:hlinkClick r:id="rId4"/>
              </a:rPr>
              <a:t>RogersA19@michigan.gov</a:t>
            </a:r>
            <a:endParaRPr sz="2800"/>
          </a:p>
          <a:p>
            <a:pPr indent="0" lvl="0" marL="0" rtl="0" algn="ctr">
              <a:lnSpc>
                <a:spcPct val="90000"/>
              </a:lnSpc>
              <a:spcBef>
                <a:spcPts val="100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2800"/>
              <a:buNone/>
            </a:pPr>
            <a:r>
              <a:rPr b="1" lang="en-US" sz="2800"/>
              <a:t>517-241-6970</a:t>
            </a:r>
            <a:endParaRPr b="1" sz="2800"/>
          </a:p>
          <a:p>
            <a:pPr indent="-50800" lvl="0" marL="228600" rtl="0" algn="l">
              <a:lnSpc>
                <a:spcPct val="90000"/>
              </a:lnSpc>
              <a:spcBef>
                <a:spcPts val="1000"/>
              </a:spcBef>
              <a:spcAft>
                <a:spcPts val="0"/>
              </a:spcAft>
              <a:buClr>
                <a:schemeClr val="dk1"/>
              </a:buClr>
              <a:buSzPts val="2800"/>
              <a:buNone/>
            </a:pPr>
            <a:r>
              <a:t/>
            </a:r>
            <a:endParaRPr/>
          </a:p>
        </p:txBody>
      </p:sp>
      <p:sp>
        <p:nvSpPr>
          <p:cNvPr id="347" name="Google Shape;347;p27"/>
          <p:cNvSpPr txBox="1"/>
          <p:nvPr>
            <p:ph idx="10" type="dt"/>
          </p:nvPr>
        </p:nvSpPr>
        <p:spPr>
          <a:xfrm>
            <a:off x="1376126" y="6356350"/>
            <a:ext cx="2205273"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4/7/2025</a:t>
            </a:r>
            <a:endParaRPr/>
          </a:p>
        </p:txBody>
      </p:sp>
      <p:sp>
        <p:nvSpPr>
          <p:cNvPr id="348" name="Google Shape;348;p27"/>
          <p:cNvSpPr txBox="1"/>
          <p:nvPr>
            <p:ph idx="11" type="ftr"/>
          </p:nvPr>
        </p:nvSpPr>
        <p:spPr>
          <a:xfrm>
            <a:off x="3766242" y="6356350"/>
            <a:ext cx="4387158"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www.michigan.gov/mde</a:t>
            </a:r>
            <a:endParaRPr/>
          </a:p>
        </p:txBody>
      </p:sp>
      <p:sp>
        <p:nvSpPr>
          <p:cNvPr id="349" name="Google Shape;349;p27"/>
          <p:cNvSpPr txBox="1"/>
          <p:nvPr>
            <p:ph idx="12" type="sldNum"/>
          </p:nvPr>
        </p:nvSpPr>
        <p:spPr>
          <a:xfrm>
            <a:off x="8347295" y="6356350"/>
            <a:ext cx="63374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2020-01-13T15:25:15Z</dcterms:created>
  <dc:creator>Lopez, Christi (MDE)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0x010100B06D5CF27024784492915A20DBC98732</vt:lpwstr>
  </property>
  <property fmtid="{D5CDD505-2E9C-101B-9397-08002B2CF9AE}" pid="3" name="MSIP_Label_3a2fed65-62e7-46ea-af74-187e0c17143a_Enabled">
    <vt:lpwstr>true</vt:lpwstr>
  </property>
  <property fmtid="{D5CDD505-2E9C-101B-9397-08002B2CF9AE}" pid="4" name="MSIP_Label_3a2fed65-62e7-46ea-af74-187e0c17143a_SetDate">
    <vt:lpwstr>2021-03-31T15:00:57Z</vt:lpwstr>
  </property>
  <property fmtid="{D5CDD505-2E9C-101B-9397-08002B2CF9AE}" pid="5" name="MSIP_Label_3a2fed65-62e7-46ea-af74-187e0c17143a_Method">
    <vt:lpwstr>Privileged</vt:lpwstr>
  </property>
  <property fmtid="{D5CDD505-2E9C-101B-9397-08002B2CF9AE}" pid="6" name="MSIP_Label_3a2fed65-62e7-46ea-af74-187e0c17143a_Name">
    <vt:lpwstr>3a2fed65-62e7-46ea-af74-187e0c17143a</vt:lpwstr>
  </property>
  <property fmtid="{D5CDD505-2E9C-101B-9397-08002B2CF9AE}" pid="7" name="MSIP_Label_3a2fed65-62e7-46ea-af74-187e0c17143a_SiteId">
    <vt:lpwstr>d5fb7087-3777-42ad-966a-892ef47225d1</vt:lpwstr>
  </property>
  <property fmtid="{D5CDD505-2E9C-101B-9397-08002B2CF9AE}" pid="8" name="MSIP_Label_3a2fed65-62e7-46ea-af74-187e0c17143a_ActionId">
    <vt:lpwstr>bcc4b205-bad6-4b9d-a65b-7c6cd25a1adb</vt:lpwstr>
  </property>
  <property fmtid="{D5CDD505-2E9C-101B-9397-08002B2CF9AE}" pid="9" name="MSIP_Label_3a2fed65-62e7-46ea-af74-187e0c17143a_ContentBits">
    <vt:lpwstr>0</vt:lpwstr>
  </property>
</Properties>
</file>