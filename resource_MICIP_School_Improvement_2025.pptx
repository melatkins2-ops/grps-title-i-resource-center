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2000"/>
  <p:notesSz cx="6858000" cy="9144000"/>
  <p:embeddedFontLst>
    <p:embeddedFont>
      <p:font typeface="Poppins"/>
      <p:regular r:id="rId39"/>
      <p:bold r:id="rId40"/>
      <p:italic r:id="rId41"/>
      <p:boldItalic r:id="rId42"/>
    </p:embeddedFont>
    <p:embeddedFont>
      <p:font typeface="Cabin"/>
      <p:regular r:id="rId43"/>
      <p:bold r:id="rId44"/>
      <p:italic r:id="rId45"/>
      <p:boldItalic r:id="rId46"/>
    </p:embeddedFont>
    <p:embeddedFont>
      <p:font typeface="Barlow Condensed"/>
      <p:regular r:id="rId47"/>
      <p:bold r:id="rId48"/>
      <p:italic r:id="rId49"/>
      <p:boldItalic r:id="rId50"/>
    </p:embeddedFont>
    <p:embeddedFont>
      <p:font typeface="Barlow"/>
      <p:regular r:id="rId51"/>
      <p:bold r:id="rId52"/>
      <p:italic r:id="rId53"/>
      <p:boldItalic r:id="rId54"/>
    </p:embeddedFont>
    <p:embeddedFont>
      <p:font typeface="Cabin Medium"/>
      <p:regular r:id="rId55"/>
      <p:bold r:id="rId56"/>
      <p:italic r:id="rId57"/>
      <p:boldItalic r:id="rId58"/>
    </p:embeddedFont>
    <p:embeddedFont>
      <p:font typeface="Homemade Apple"/>
      <p:regular r:id="rId59"/>
    </p:embeddedFont>
    <p:embeddedFont>
      <p:font typeface="Open Sans"/>
      <p:bold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7CA0B1-F7C1-48CF-A7EC-E669544577BF}">
  <a:tblStyle styleId="{307CA0B1-F7C1-48CF-A7EC-E669544577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.fntdata"/><Relationship Id="rId42" Type="http://schemas.openxmlformats.org/officeDocument/2006/relationships/font" Target="fonts/Poppins-boldItalic.fntdata"/><Relationship Id="rId41" Type="http://schemas.openxmlformats.org/officeDocument/2006/relationships/font" Target="fonts/Poppins-italic.fntdata"/><Relationship Id="rId44" Type="http://schemas.openxmlformats.org/officeDocument/2006/relationships/font" Target="fonts/Cabin-bold.fntdata"/><Relationship Id="rId43" Type="http://schemas.openxmlformats.org/officeDocument/2006/relationships/font" Target="fonts/Cabin-regular.fntdata"/><Relationship Id="rId46" Type="http://schemas.openxmlformats.org/officeDocument/2006/relationships/font" Target="fonts/Cabin-boldItalic.fntdata"/><Relationship Id="rId45" Type="http://schemas.openxmlformats.org/officeDocument/2006/relationships/font" Target="fonts/Cabin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BarlowCondensed-bold.fntdata"/><Relationship Id="rId47" Type="http://schemas.openxmlformats.org/officeDocument/2006/relationships/font" Target="fonts/BarlowCondensed-regular.fntdata"/><Relationship Id="rId49" Type="http://schemas.openxmlformats.org/officeDocument/2006/relationships/font" Target="fonts/BarlowCondense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Poppins-regular.fntdata"/><Relationship Id="rId38" Type="http://schemas.openxmlformats.org/officeDocument/2006/relationships/slide" Target="slides/slide32.xml"/><Relationship Id="rId61" Type="http://schemas.openxmlformats.org/officeDocument/2006/relationships/font" Target="fonts/Open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OpenSans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Barlow-regular.fntdata"/><Relationship Id="rId50" Type="http://schemas.openxmlformats.org/officeDocument/2006/relationships/font" Target="fonts/BarlowCondensed-boldItalic.fntdata"/><Relationship Id="rId53" Type="http://schemas.openxmlformats.org/officeDocument/2006/relationships/font" Target="fonts/Barlow-italic.fntdata"/><Relationship Id="rId52" Type="http://schemas.openxmlformats.org/officeDocument/2006/relationships/font" Target="fonts/Barlow-bold.fntdata"/><Relationship Id="rId11" Type="http://schemas.openxmlformats.org/officeDocument/2006/relationships/slide" Target="slides/slide5.xml"/><Relationship Id="rId55" Type="http://schemas.openxmlformats.org/officeDocument/2006/relationships/font" Target="fonts/CabinMedium-regular.fntdata"/><Relationship Id="rId10" Type="http://schemas.openxmlformats.org/officeDocument/2006/relationships/slide" Target="slides/slide4.xml"/><Relationship Id="rId54" Type="http://schemas.openxmlformats.org/officeDocument/2006/relationships/font" Target="fonts/Barlow-boldItalic.fntdata"/><Relationship Id="rId13" Type="http://schemas.openxmlformats.org/officeDocument/2006/relationships/slide" Target="slides/slide7.xml"/><Relationship Id="rId57" Type="http://schemas.openxmlformats.org/officeDocument/2006/relationships/font" Target="fonts/CabinMedium-italic.fntdata"/><Relationship Id="rId12" Type="http://schemas.openxmlformats.org/officeDocument/2006/relationships/slide" Target="slides/slide6.xml"/><Relationship Id="rId56" Type="http://schemas.openxmlformats.org/officeDocument/2006/relationships/font" Target="fonts/CabinMedium-bold.fntdata"/><Relationship Id="rId15" Type="http://schemas.openxmlformats.org/officeDocument/2006/relationships/slide" Target="slides/slide9.xml"/><Relationship Id="rId59" Type="http://schemas.openxmlformats.org/officeDocument/2006/relationships/font" Target="fonts/HomemadeApple-regular.fntdata"/><Relationship Id="rId14" Type="http://schemas.openxmlformats.org/officeDocument/2006/relationships/slide" Target="slides/slide8.xml"/><Relationship Id="rId58" Type="http://schemas.openxmlformats.org/officeDocument/2006/relationships/font" Target="fonts/Cabin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97c37d01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497c37d01c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af66f0cd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af66f0c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97c37d01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497c37d01c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ce15fba8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4ce15fba81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ce15fba8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ce15fba8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8a575bc4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38a575bc4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9f9603b7c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9f9603b7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9f9603b7c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49f9603b7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9f9603b7c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9f9603b7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97c37d01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497c37d01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af66f0cd1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3af66f0cd1_2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bbc29a3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4bbc29a30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4bbc29a30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4bbc29a30d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f3fcbece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4f3fcbece0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e7b9b059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4e7b9b059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4f9e43869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4f9e438697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4f9e43869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4f9e438697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4f3fcbece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4f3fcbece0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49f9603b7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49f9603b7c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497c37d01c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497c37d01c_0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497c37d01c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497c37d01c_0_3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4ce15fba8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4ce15fba81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497c37d01c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497c37d01c_0_3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3af66f0cd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3af66f0cd1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4a9f426f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4a9f426f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497c37d01c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497c37d01c_0_3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4e7b9b05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4e7b9b059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mania.com/" TargetMode="External"/><Relationship Id="rId3" Type="http://schemas.openxmlformats.org/officeDocument/2006/relationships/image" Target="../media/image6.png"/><Relationship Id="rId4" Type="http://schemas.openxmlformats.org/officeDocument/2006/relationships/hyperlink" Target="https://slidesmania.com/questions-powerpoint-google-slides/can-i-use-these-templates/" TargetMode="External"/><Relationship Id="rId11" Type="http://schemas.openxmlformats.org/officeDocument/2006/relationships/hyperlink" Target="https://www.instagram.com/slidesmania/" TargetMode="External"/><Relationship Id="rId10" Type="http://schemas.openxmlformats.org/officeDocument/2006/relationships/image" Target="../media/image1.png"/><Relationship Id="rId12" Type="http://schemas.openxmlformats.org/officeDocument/2006/relationships/image" Target="../media/image4.png"/><Relationship Id="rId9" Type="http://schemas.openxmlformats.org/officeDocument/2006/relationships/hyperlink" Target="https://www.pinterest.com/slidesmania/" TargetMode="External"/><Relationship Id="rId5" Type="http://schemas.openxmlformats.org/officeDocument/2006/relationships/hyperlink" Target="https://www.facebook.com/SlidesManiaSM/" TargetMode="External"/><Relationship Id="rId6" Type="http://schemas.openxmlformats.org/officeDocument/2006/relationships/image" Target="../media/image15.png"/><Relationship Id="rId7" Type="http://schemas.openxmlformats.org/officeDocument/2006/relationships/hyperlink" Target="https://twitter.com/SlidesManiaSM/" TargetMode="External"/><Relationship Id="rId8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5_Jefferson_Template_SlidesMania_1">
  <p:cSld name="Jefferson_1">
    <p:bg>
      <p:bgPr>
        <a:solidFill>
          <a:srgbClr val="F2F2F2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niño, persona, joven, sentado&#10;&#10;Descripción generada automáticamente" id="8" name="Google Shape;8;p2"/>
          <p:cNvPicPr preferRelativeResize="0"/>
          <p:nvPr/>
        </p:nvPicPr>
        <p:blipFill rotWithShape="1">
          <a:blip r:embed="rId2">
            <a:alphaModFix/>
          </a:blip>
          <a:srcRect b="14858" l="0" r="0" t="90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/>
          <p:nvPr/>
        </p:nvSpPr>
        <p:spPr>
          <a:xfrm>
            <a:off x="494489" y="0"/>
            <a:ext cx="2800755" cy="1200726"/>
          </a:xfrm>
          <a:prstGeom prst="rect">
            <a:avLst/>
          </a:prstGeom>
          <a:solidFill>
            <a:srgbClr val="7FCF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3295244" y="0"/>
            <a:ext cx="2800755" cy="1200726"/>
          </a:xfrm>
          <a:prstGeom prst="rect">
            <a:avLst/>
          </a:prstGeom>
          <a:solidFill>
            <a:srgbClr val="E9C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096000" y="0"/>
            <a:ext cx="2800755" cy="1200726"/>
          </a:xfrm>
          <a:prstGeom prst="rect">
            <a:avLst/>
          </a:prstGeom>
          <a:solidFill>
            <a:srgbClr val="E988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8896755" y="0"/>
            <a:ext cx="2800755" cy="1200726"/>
          </a:xfrm>
          <a:prstGeom prst="rect">
            <a:avLst/>
          </a:prstGeom>
          <a:solidFill>
            <a:srgbClr val="7DC3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567692" y="5218545"/>
            <a:ext cx="11129818" cy="1639455"/>
          </a:xfrm>
          <a:prstGeom prst="rect">
            <a:avLst/>
          </a:prstGeom>
          <a:solidFill>
            <a:srgbClr val="B2CB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 txBox="1"/>
          <p:nvPr/>
        </p:nvSpPr>
        <p:spPr>
          <a:xfrm rot="5400000">
            <a:off x="-679350" y="6122775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5_Jefferson_Template_SlidesMania_2">
  <p:cSld name="Jefferson_8">
    <p:bg>
      <p:bgPr>
        <a:solidFill>
          <a:srgbClr val="F2F2F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09599" y="2035277"/>
            <a:ext cx="900000" cy="900000"/>
          </a:xfrm>
          <a:prstGeom prst="rect">
            <a:avLst/>
          </a:prstGeom>
          <a:solidFill>
            <a:srgbClr val="E1C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344953" y="2035277"/>
            <a:ext cx="900000" cy="900000"/>
          </a:xfrm>
          <a:prstGeom prst="rect">
            <a:avLst/>
          </a:prstGeom>
          <a:solidFill>
            <a:srgbClr val="E78A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18867" y="2035277"/>
            <a:ext cx="900000" cy="900000"/>
          </a:xfrm>
          <a:prstGeom prst="rect">
            <a:avLst/>
          </a:prstGeom>
          <a:solidFill>
            <a:srgbClr val="7BC4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09599" y="4443510"/>
            <a:ext cx="900000" cy="900000"/>
          </a:xfrm>
          <a:prstGeom prst="rect">
            <a:avLst/>
          </a:prstGeom>
          <a:solidFill>
            <a:srgbClr val="86CC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344953" y="4443510"/>
            <a:ext cx="900000" cy="900000"/>
          </a:xfrm>
          <a:prstGeom prst="rect">
            <a:avLst/>
          </a:prstGeom>
          <a:solidFill>
            <a:srgbClr val="C9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118867" y="4443510"/>
            <a:ext cx="900000" cy="900000"/>
          </a:xfrm>
          <a:prstGeom prst="rect">
            <a:avLst/>
          </a:prstGeom>
          <a:solidFill>
            <a:srgbClr val="E17D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5_Jefferson_Template_SlidesMania_3">
  <p:cSld name="Jefferson_6">
    <p:bg>
      <p:bgPr>
        <a:solidFill>
          <a:srgbClr val="F2F2F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146921" y="3825551"/>
            <a:ext cx="2868573" cy="2789851"/>
          </a:xfrm>
          <a:prstGeom prst="rect">
            <a:avLst/>
          </a:prstGeom>
          <a:solidFill>
            <a:srgbClr val="7FCF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3145440" y="3825398"/>
            <a:ext cx="2868573" cy="2790000"/>
          </a:xfrm>
          <a:prstGeom prst="rect">
            <a:avLst/>
          </a:prstGeom>
          <a:solidFill>
            <a:srgbClr val="E9C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147479" y="3825398"/>
            <a:ext cx="2869200" cy="2790000"/>
          </a:xfrm>
          <a:prstGeom prst="rect">
            <a:avLst/>
          </a:prstGeom>
          <a:solidFill>
            <a:srgbClr val="E988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9155984" y="3816067"/>
            <a:ext cx="2868574" cy="2790000"/>
          </a:xfrm>
          <a:prstGeom prst="rect">
            <a:avLst/>
          </a:prstGeom>
          <a:solidFill>
            <a:srgbClr val="7DC3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45863" y="3429000"/>
            <a:ext cx="2868573" cy="60182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138224" y="3428998"/>
            <a:ext cx="2868573" cy="60182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148537" y="3428994"/>
            <a:ext cx="2869200" cy="60182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9157042" y="3419663"/>
            <a:ext cx="2868573" cy="60182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 rot="5400000">
            <a:off x="-679350" y="6122775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5_Jefferson_Template_SlidesMania_4">
  <p:cSld name="Jefferson_9">
    <p:bg>
      <p:bgPr>
        <a:solidFill>
          <a:srgbClr val="F2F2F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 b="57103" l="0" r="0" t="0"/>
          <a:stretch/>
        </p:blipFill>
        <p:spPr>
          <a:xfrm>
            <a:off x="0" y="3916218"/>
            <a:ext cx="3376782" cy="2941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57103" l="0" r="0" t="0"/>
          <a:stretch/>
        </p:blipFill>
        <p:spPr>
          <a:xfrm>
            <a:off x="3376782" y="3916218"/>
            <a:ext cx="3376782" cy="2941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 b="57103" l="0" r="0" t="0"/>
          <a:stretch/>
        </p:blipFill>
        <p:spPr>
          <a:xfrm>
            <a:off x="6753564" y="3916218"/>
            <a:ext cx="3376782" cy="2941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57103" l="0" r="38945" t="0"/>
          <a:stretch/>
        </p:blipFill>
        <p:spPr>
          <a:xfrm>
            <a:off x="10130346" y="3916218"/>
            <a:ext cx="2061654" cy="294178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/>
        </p:nvSpPr>
        <p:spPr>
          <a:xfrm rot="5400000">
            <a:off x="-679350" y="6122775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5_Jefferson_Template_SlidesMania_5">
  <p:cSld name="Jefferson_3">
    <p:bg>
      <p:bgPr>
        <a:solidFill>
          <a:srgbClr val="F2F2F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165394" y="4682836"/>
            <a:ext cx="11877637" cy="217516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165394" y="1756605"/>
            <a:ext cx="2868573" cy="2789851"/>
          </a:xfrm>
          <a:prstGeom prst="rect">
            <a:avLst/>
          </a:prstGeom>
          <a:solidFill>
            <a:srgbClr val="7FCF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3163913" y="1756452"/>
            <a:ext cx="2868573" cy="2790000"/>
          </a:xfrm>
          <a:prstGeom prst="rect">
            <a:avLst/>
          </a:prstGeom>
          <a:solidFill>
            <a:srgbClr val="E9C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6165952" y="1756452"/>
            <a:ext cx="2869200" cy="2790000"/>
          </a:xfrm>
          <a:prstGeom prst="rect">
            <a:avLst/>
          </a:prstGeom>
          <a:solidFill>
            <a:srgbClr val="E988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9174457" y="1747121"/>
            <a:ext cx="2868574" cy="2790000"/>
          </a:xfrm>
          <a:prstGeom prst="rect">
            <a:avLst/>
          </a:prstGeom>
          <a:solidFill>
            <a:srgbClr val="7DC3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5_Jefferson_Template_SlidesMania_6">
  <p:cSld name="Jefferson_2">
    <p:bg>
      <p:bgPr>
        <a:solidFill>
          <a:srgbClr val="F2F2F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192823" y="3818268"/>
            <a:ext cx="2868573" cy="2789851"/>
          </a:xfrm>
          <a:prstGeom prst="rect">
            <a:avLst/>
          </a:prstGeom>
          <a:solidFill>
            <a:srgbClr val="7FCF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3191342" y="3818115"/>
            <a:ext cx="2868573" cy="2790000"/>
          </a:xfrm>
          <a:prstGeom prst="rect">
            <a:avLst/>
          </a:prstGeom>
          <a:solidFill>
            <a:srgbClr val="E9C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6193381" y="3818115"/>
            <a:ext cx="2869200" cy="2790000"/>
          </a:xfrm>
          <a:prstGeom prst="rect">
            <a:avLst/>
          </a:prstGeom>
          <a:solidFill>
            <a:srgbClr val="E988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9201886" y="3808784"/>
            <a:ext cx="2868574" cy="2790000"/>
          </a:xfrm>
          <a:prstGeom prst="rect">
            <a:avLst/>
          </a:prstGeom>
          <a:solidFill>
            <a:srgbClr val="7DC3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8254460" y="1609164"/>
            <a:ext cx="3816000" cy="2050486"/>
          </a:xfrm>
          <a:prstGeom prst="rect">
            <a:avLst/>
          </a:prstGeom>
          <a:solidFill>
            <a:srgbClr val="C9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192823" y="1609174"/>
            <a:ext cx="3816944" cy="2050476"/>
          </a:xfrm>
          <a:prstGeom prst="rect">
            <a:avLst/>
          </a:prstGeom>
          <a:solidFill>
            <a:srgbClr val="E17D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4169915" y="1616364"/>
            <a:ext cx="3924000" cy="2050476"/>
          </a:xfrm>
          <a:prstGeom prst="rect">
            <a:avLst/>
          </a:prstGeom>
          <a:solidFill>
            <a:srgbClr val="7DC3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5_Jefferson_Template_SlidesMania_7">
  <p:cSld name="Jefferson_5">
    <p:bg>
      <p:bgPr>
        <a:solidFill>
          <a:srgbClr val="F2F2F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>
            <a:off x="391885" y="3870627"/>
            <a:ext cx="3806889" cy="2558159"/>
          </a:xfrm>
          <a:prstGeom prst="rect">
            <a:avLst/>
          </a:prstGeom>
          <a:solidFill>
            <a:srgbClr val="86CC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8003927" y="1710625"/>
            <a:ext cx="3796187" cy="2464864"/>
          </a:xfrm>
          <a:prstGeom prst="rect">
            <a:avLst/>
          </a:prstGeom>
          <a:solidFill>
            <a:srgbClr val="C9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272550" y="4322619"/>
            <a:ext cx="3657600" cy="2106168"/>
          </a:xfrm>
          <a:prstGeom prst="rect">
            <a:avLst/>
          </a:prstGeom>
          <a:solidFill>
            <a:srgbClr val="E17D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4272550" y="1710625"/>
            <a:ext cx="3657600" cy="2530788"/>
          </a:xfrm>
          <a:prstGeom prst="rect">
            <a:avLst/>
          </a:prstGeom>
          <a:solidFill>
            <a:srgbClr val="7DC3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5_Jefferson_Template_SlidesMania_8">
  <p:cSld name="Jefferson_7">
    <p:bg>
      <p:bgPr>
        <a:solidFill>
          <a:srgbClr val="F2F2F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9"/>
          <p:cNvGrpSpPr/>
          <p:nvPr/>
        </p:nvGrpSpPr>
        <p:grpSpPr>
          <a:xfrm>
            <a:off x="145863" y="1699491"/>
            <a:ext cx="11879752" cy="4915913"/>
            <a:chOff x="145863" y="3419663"/>
            <a:chExt cx="11879752" cy="3195739"/>
          </a:xfrm>
        </p:grpSpPr>
        <p:sp>
          <p:nvSpPr>
            <p:cNvPr id="59" name="Google Shape;59;p9"/>
            <p:cNvSpPr/>
            <p:nvPr/>
          </p:nvSpPr>
          <p:spPr>
            <a:xfrm>
              <a:off x="146921" y="3825551"/>
              <a:ext cx="2868573" cy="2789851"/>
            </a:xfrm>
            <a:prstGeom prst="rect">
              <a:avLst/>
            </a:prstGeom>
            <a:solidFill>
              <a:srgbClr val="7FCF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9"/>
            <p:cNvSpPr/>
            <p:nvPr/>
          </p:nvSpPr>
          <p:spPr>
            <a:xfrm>
              <a:off x="3145440" y="3825398"/>
              <a:ext cx="2868573" cy="2790000"/>
            </a:xfrm>
            <a:prstGeom prst="rect">
              <a:avLst/>
            </a:prstGeom>
            <a:solidFill>
              <a:srgbClr val="E9C35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>
              <a:off x="6147479" y="3825398"/>
              <a:ext cx="2869200" cy="2790000"/>
            </a:xfrm>
            <a:prstGeom prst="rect">
              <a:avLst/>
            </a:prstGeom>
            <a:solidFill>
              <a:srgbClr val="E988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>
              <a:off x="9155984" y="3816067"/>
              <a:ext cx="2868574" cy="2790000"/>
            </a:xfrm>
            <a:prstGeom prst="rect">
              <a:avLst/>
            </a:prstGeom>
            <a:solidFill>
              <a:srgbClr val="7DC3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>
              <a:off x="145863" y="3429000"/>
              <a:ext cx="2868573" cy="601824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>
              <a:off x="3138224" y="3428998"/>
              <a:ext cx="2868573" cy="601824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9"/>
            <p:cNvSpPr/>
            <p:nvPr/>
          </p:nvSpPr>
          <p:spPr>
            <a:xfrm>
              <a:off x="6148537" y="3428994"/>
              <a:ext cx="2869200" cy="601824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9157042" y="3419663"/>
              <a:ext cx="2868573" cy="601824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" name="Google Shape;67;p9"/>
          <p:cNvSpPr txBox="1"/>
          <p:nvPr/>
        </p:nvSpPr>
        <p:spPr>
          <a:xfrm rot="5400000">
            <a:off x="-679350" y="6122775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5_Jefferson_Template_SlidesMania_9">
  <p:cSld name="Jefferson_4">
    <p:bg>
      <p:bgPr>
        <a:solidFill>
          <a:srgbClr val="F2F2F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0"/>
          <p:cNvGrpSpPr/>
          <p:nvPr/>
        </p:nvGrpSpPr>
        <p:grpSpPr>
          <a:xfrm flipH="1" rot="10800000">
            <a:off x="165394" y="1747121"/>
            <a:ext cx="11877637" cy="5110878"/>
            <a:chOff x="165394" y="1747121"/>
            <a:chExt cx="11877637" cy="5110878"/>
          </a:xfrm>
        </p:grpSpPr>
        <p:sp>
          <p:nvSpPr>
            <p:cNvPr id="70" name="Google Shape;70;p10"/>
            <p:cNvSpPr/>
            <p:nvPr/>
          </p:nvSpPr>
          <p:spPr>
            <a:xfrm>
              <a:off x="165394" y="4682836"/>
              <a:ext cx="11877637" cy="2175163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0"/>
            <p:cNvSpPr/>
            <p:nvPr/>
          </p:nvSpPr>
          <p:spPr>
            <a:xfrm>
              <a:off x="165394" y="1756605"/>
              <a:ext cx="2868573" cy="2789851"/>
            </a:xfrm>
            <a:prstGeom prst="rect">
              <a:avLst/>
            </a:prstGeom>
            <a:solidFill>
              <a:srgbClr val="7FCF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0"/>
            <p:cNvSpPr/>
            <p:nvPr/>
          </p:nvSpPr>
          <p:spPr>
            <a:xfrm>
              <a:off x="3163913" y="1756452"/>
              <a:ext cx="2868573" cy="2790000"/>
            </a:xfrm>
            <a:prstGeom prst="rect">
              <a:avLst/>
            </a:prstGeom>
            <a:solidFill>
              <a:srgbClr val="E9C35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0"/>
            <p:cNvSpPr/>
            <p:nvPr/>
          </p:nvSpPr>
          <p:spPr>
            <a:xfrm>
              <a:off x="6165952" y="1756452"/>
              <a:ext cx="2869200" cy="2790000"/>
            </a:xfrm>
            <a:prstGeom prst="rect">
              <a:avLst/>
            </a:prstGeom>
            <a:solidFill>
              <a:srgbClr val="E988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9174457" y="1747121"/>
              <a:ext cx="2868574" cy="2790000"/>
            </a:xfrm>
            <a:prstGeom prst="rect">
              <a:avLst/>
            </a:prstGeom>
            <a:solidFill>
              <a:srgbClr val="7DC3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10"/>
          <p:cNvSpPr txBox="1"/>
          <p:nvPr/>
        </p:nvSpPr>
        <p:spPr>
          <a:xfrm rot="5400000">
            <a:off x="-679350" y="6122775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5_Jefferson_Template_SlidesMania_10">
  <p:cSld name="Jefferson_10">
    <p:bg>
      <p:bgPr>
        <a:solidFill>
          <a:srgbClr val="F2F2F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9" name="Google Shape;79;p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" name="Google Shape;80;p12">
              <a:hlinkClick r:id="rId2"/>
            </p:cNvPr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5600" y="331100"/>
              <a:ext cx="5101466" cy="2201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2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s-ES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b="1" lang="es-ES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s-ES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b="1" lang="es-ES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0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b="1" sz="3000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s-ES" sz="27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FAQ</a:t>
              </a:r>
              <a:r>
                <a:rPr b="1" lang="es-ES" sz="44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82" name="Google Shape;82;p12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cap="flat" cmpd="sng" w="38100">
              <a:solidFill>
                <a:srgbClr val="FFCB2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83" name="Google Shape;83;p12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2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2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2">
              <a:hlinkClick r:id="rId11"/>
            </p:cNvPr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2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400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b="1" sz="2400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 rot="5400000">
            <a:off x="-679350" y="6122775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menti.com/al6gg33zeebj" TargetMode="External"/><Relationship Id="rId4" Type="http://schemas.openxmlformats.org/officeDocument/2006/relationships/hyperlink" Target="http://www.menti.com" TargetMode="External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36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hyperlink" Target="https://docs.google.com/document/d/18l2OF5YuYkCxx9iWMXSDWkWATD9vxnJE/edit?usp=sharing&amp;ouid=108538602387646558091&amp;rtpof=true&amp;sd=true" TargetMode="External"/><Relationship Id="rId5" Type="http://schemas.openxmlformats.org/officeDocument/2006/relationships/hyperlink" Target="https://docs.google.com/document/d/1oaFhNno7U0ll3Q3sohWWPjp2oaEoBlr1/edit?usp=sharing&amp;ouid=108538602387646558091&amp;rtpof=true&amp;sd=true" TargetMode="External"/><Relationship Id="rId6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document/d/1Vk306tPNozzZOUNk2abuQb9dCWSNz-7QIOBgHFW8ZXo/edit?usp=sharing" TargetMode="External"/><Relationship Id="rId4" Type="http://schemas.openxmlformats.org/officeDocument/2006/relationships/hyperlink" Target="https://sites.google.com/tbaisd.org/micip/monitor#h.257l5mz81d4o" TargetMode="External"/><Relationship Id="rId5" Type="http://schemas.openxmlformats.org/officeDocument/2006/relationships/hyperlink" Target="https://docs.google.com/document/d/1ywsPJ2LGObSeEZNWVF2O8Iy6I4dY4vaLIe1KoT1VaoA/edit?usp=sharing" TargetMode="External"/><Relationship Id="rId6" Type="http://schemas.openxmlformats.org/officeDocument/2006/relationships/image" Target="../media/image24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0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rive.google.com/file/d/1R1Q4aD4tLf9Cdf4DgA4F9BY5JGmXpjLI/view?usp=sharing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jpg"/><Relationship Id="rId4" Type="http://schemas.openxmlformats.org/officeDocument/2006/relationships/image" Target="../media/image30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rive.google.com/file/d/1NMspB7nRZeX5OZdBI4XDc4ZdkjEgPhpN/view?usp=sharing" TargetMode="External"/><Relationship Id="rId4" Type="http://schemas.openxmlformats.org/officeDocument/2006/relationships/hyperlink" Target="https://drive.google.com/file/d/1Pr14SgI6p4Zk-_ffZKdLuSkRYE4EmcvO/view?usp=drive_link" TargetMode="External"/><Relationship Id="rId5" Type="http://schemas.openxmlformats.org/officeDocument/2006/relationships/hyperlink" Target="https://drive.google.com/file/d/11ImLMR1gzZKBzD8qzv2_dKcNVnLzsuWh/view?usp=sharing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44025" y="0"/>
            <a:ext cx="2697900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District Leader Implementation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241925" y="0"/>
            <a:ext cx="2770200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Building Leader Implementation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096325" y="100"/>
            <a:ext cx="2770200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SIT Chair Implementation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9236875" y="1"/>
            <a:ext cx="1774800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Resources</a:t>
            </a:r>
            <a:endParaRPr sz="2600">
              <a:solidFill>
                <a:schemeClr val="dk2"/>
              </a:solidFill>
            </a:endParaRPr>
          </a:p>
        </p:txBody>
      </p:sp>
      <p:grpSp>
        <p:nvGrpSpPr>
          <p:cNvPr id="98" name="Google Shape;98;p14"/>
          <p:cNvGrpSpPr/>
          <p:nvPr/>
        </p:nvGrpSpPr>
        <p:grpSpPr>
          <a:xfrm>
            <a:off x="10730111" y="261645"/>
            <a:ext cx="741967" cy="733017"/>
            <a:chOff x="3171000" y="4021950"/>
            <a:chExt cx="268100" cy="265875"/>
          </a:xfrm>
        </p:grpSpPr>
        <p:sp>
          <p:nvSpPr>
            <p:cNvPr id="99" name="Google Shape;99;p14"/>
            <p:cNvSpPr/>
            <p:nvPr/>
          </p:nvSpPr>
          <p:spPr>
            <a:xfrm>
              <a:off x="3171000" y="4058525"/>
              <a:ext cx="230200" cy="229300"/>
            </a:xfrm>
            <a:custGeom>
              <a:rect b="b" l="l" r="r" t="t"/>
              <a:pathLst>
                <a:path extrusionOk="0" h="9172" w="9208">
                  <a:moveTo>
                    <a:pt x="1782" y="6720"/>
                  </a:moveTo>
                  <a:cubicBezTo>
                    <a:pt x="1957" y="6720"/>
                    <a:pt x="2130" y="6787"/>
                    <a:pt x="2266" y="6923"/>
                  </a:cubicBezTo>
                  <a:cubicBezTo>
                    <a:pt x="2534" y="7191"/>
                    <a:pt x="2534" y="7619"/>
                    <a:pt x="2266" y="7869"/>
                  </a:cubicBezTo>
                  <a:lnTo>
                    <a:pt x="1142" y="8244"/>
                  </a:lnTo>
                  <a:lnTo>
                    <a:pt x="928" y="8047"/>
                  </a:lnTo>
                  <a:lnTo>
                    <a:pt x="1303" y="6905"/>
                  </a:lnTo>
                  <a:cubicBezTo>
                    <a:pt x="1443" y="6783"/>
                    <a:pt x="1614" y="6720"/>
                    <a:pt x="1782" y="6720"/>
                  </a:cubicBezTo>
                  <a:close/>
                  <a:moveTo>
                    <a:pt x="7494" y="0"/>
                  </a:moveTo>
                  <a:lnTo>
                    <a:pt x="839" y="6656"/>
                  </a:lnTo>
                  <a:lnTo>
                    <a:pt x="0" y="9171"/>
                  </a:lnTo>
                  <a:lnTo>
                    <a:pt x="2552" y="8333"/>
                  </a:lnTo>
                  <a:lnTo>
                    <a:pt x="9207" y="1695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91E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3367725" y="4021950"/>
              <a:ext cx="71375" cy="69150"/>
            </a:xfrm>
            <a:custGeom>
              <a:rect b="b" l="l" r="r" t="t"/>
              <a:pathLst>
                <a:path extrusionOk="0" h="2766" w="2855">
                  <a:moveTo>
                    <a:pt x="1320" y="0"/>
                  </a:moveTo>
                  <a:cubicBezTo>
                    <a:pt x="1187" y="0"/>
                    <a:pt x="1053" y="54"/>
                    <a:pt x="946" y="161"/>
                  </a:cubicBezTo>
                  <a:lnTo>
                    <a:pt x="0" y="1089"/>
                  </a:lnTo>
                  <a:lnTo>
                    <a:pt x="1695" y="2766"/>
                  </a:lnTo>
                  <a:lnTo>
                    <a:pt x="2623" y="1838"/>
                  </a:lnTo>
                  <a:cubicBezTo>
                    <a:pt x="2855" y="1642"/>
                    <a:pt x="2855" y="1303"/>
                    <a:pt x="2641" y="1106"/>
                  </a:cubicBezTo>
                  <a:lnTo>
                    <a:pt x="1695" y="161"/>
                  </a:lnTo>
                  <a:cubicBezTo>
                    <a:pt x="1588" y="54"/>
                    <a:pt x="1454" y="0"/>
                    <a:pt x="1320" y="0"/>
                  </a:cubicBezTo>
                  <a:close/>
                </a:path>
              </a:pathLst>
            </a:custGeom>
            <a:solidFill>
              <a:srgbClr val="91E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4"/>
          <p:cNvSpPr txBox="1"/>
          <p:nvPr/>
        </p:nvSpPr>
        <p:spPr>
          <a:xfrm>
            <a:off x="0" y="5188075"/>
            <a:ext cx="12192000" cy="1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700">
                <a:solidFill>
                  <a:schemeClr val="dk2"/>
                </a:solidFill>
                <a:latin typeface="Cabin Medium"/>
                <a:ea typeface="Cabin Medium"/>
                <a:cs typeface="Cabin Medium"/>
                <a:sym typeface="Cabin Medium"/>
              </a:rPr>
              <a:t>A Collaborative Approach to Continuous Improvement: </a:t>
            </a:r>
            <a:r>
              <a:rPr i="1" lang="es-ES" sz="3600">
                <a:solidFill>
                  <a:schemeClr val="dk2"/>
                </a:solidFill>
                <a:latin typeface="Cabin Medium"/>
                <a:ea typeface="Cabin Medium"/>
                <a:cs typeface="Cabin Medium"/>
                <a:sym typeface="Cabin Medium"/>
              </a:rPr>
              <a:t>From District to Building at Fitzgerald</a:t>
            </a:r>
            <a:endParaRPr i="1" sz="3600">
              <a:solidFill>
                <a:schemeClr val="dk2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1507053" y="408475"/>
            <a:ext cx="917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INTRODUCTION</a:t>
            </a:r>
            <a:r>
              <a:rPr b="1" lang="es-ES" sz="60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</a:t>
            </a:r>
            <a:endParaRPr b="1" sz="60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107" name="Google Shape;107;p15"/>
          <p:cNvGrpSpPr/>
          <p:nvPr/>
        </p:nvGrpSpPr>
        <p:grpSpPr>
          <a:xfrm>
            <a:off x="493225" y="2182921"/>
            <a:ext cx="3589560" cy="4290489"/>
            <a:chOff x="-235558" y="-793111"/>
            <a:chExt cx="2180115" cy="2431974"/>
          </a:xfrm>
        </p:grpSpPr>
        <p:sp>
          <p:nvSpPr>
            <p:cNvPr id="108" name="Google Shape;108;p15"/>
            <p:cNvSpPr/>
            <p:nvPr/>
          </p:nvSpPr>
          <p:spPr>
            <a:xfrm>
              <a:off x="-235558" y="-793111"/>
              <a:ext cx="2180105" cy="2431974"/>
            </a:xfrm>
            <a:custGeom>
              <a:rect b="b" l="l" r="r" t="t"/>
              <a:pathLst>
                <a:path extrusionOk="0" h="1643226" w="2180105">
                  <a:moveTo>
                    <a:pt x="0" y="0"/>
                  </a:moveTo>
                  <a:lnTo>
                    <a:pt x="2180105" y="0"/>
                  </a:lnTo>
                  <a:lnTo>
                    <a:pt x="2180105" y="1643226"/>
                  </a:lnTo>
                  <a:lnTo>
                    <a:pt x="0" y="1643226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</p:sp>
        <p:sp>
          <p:nvSpPr>
            <p:cNvPr id="109" name="Google Shape;109;p15"/>
            <p:cNvSpPr txBox="1"/>
            <p:nvPr/>
          </p:nvSpPr>
          <p:spPr>
            <a:xfrm>
              <a:off x="-235543" y="46832"/>
              <a:ext cx="2180100" cy="145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200">
                  <a:solidFill>
                    <a:srgbClr val="4294CE"/>
                  </a:solidFill>
                  <a:latin typeface="Cabin"/>
                  <a:ea typeface="Cabin"/>
                  <a:cs typeface="Cabin"/>
                  <a:sym typeface="Cabin"/>
                </a:rPr>
                <a:t>D</a:t>
              </a:r>
              <a:r>
                <a:rPr b="1" lang="es-ES" sz="3200">
                  <a:solidFill>
                    <a:srgbClr val="4294CE"/>
                  </a:solidFill>
                  <a:latin typeface="Cabin"/>
                  <a:ea typeface="Cabin"/>
                  <a:cs typeface="Cabin"/>
                  <a:sym typeface="Cabin"/>
                </a:rPr>
                <a:t>irector of Academic Services</a:t>
              </a:r>
              <a:endParaRPr b="1" i="0" sz="2800" u="none" cap="none" strike="noStrike">
                <a:solidFill>
                  <a:srgbClr val="4294CE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800" u="none" cap="none" strike="noStrike">
                <a:solidFill>
                  <a:srgbClr val="4294C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0" name="Google Shape;110;p15"/>
          <p:cNvGrpSpPr/>
          <p:nvPr/>
        </p:nvGrpSpPr>
        <p:grpSpPr>
          <a:xfrm rot="10800000">
            <a:off x="835467" y="1924831"/>
            <a:ext cx="2886150" cy="1761426"/>
            <a:chOff x="0" y="-38100"/>
            <a:chExt cx="1752900" cy="1069800"/>
          </a:xfrm>
        </p:grpSpPr>
        <p:sp>
          <p:nvSpPr>
            <p:cNvPr id="111" name="Google Shape;111;p15"/>
            <p:cNvSpPr/>
            <p:nvPr/>
          </p:nvSpPr>
          <p:spPr>
            <a:xfrm>
              <a:off x="0" y="0"/>
              <a:ext cx="1752814" cy="1031576"/>
            </a:xfrm>
            <a:custGeom>
              <a:rect b="b" l="l" r="r" t="t"/>
              <a:pathLst>
                <a:path extrusionOk="0" h="1031576" w="1752814">
                  <a:moveTo>
                    <a:pt x="0" y="0"/>
                  </a:moveTo>
                  <a:lnTo>
                    <a:pt x="1752814" y="0"/>
                  </a:lnTo>
                  <a:lnTo>
                    <a:pt x="1752814" y="1031576"/>
                  </a:lnTo>
                  <a:lnTo>
                    <a:pt x="0" y="1031576"/>
                  </a:lnTo>
                  <a:close/>
                </a:path>
              </a:pathLst>
            </a:custGeom>
            <a:solidFill>
              <a:srgbClr val="86CCE5"/>
            </a:solidFill>
            <a:ln>
              <a:noFill/>
            </a:ln>
          </p:spPr>
        </p:sp>
        <p:sp>
          <p:nvSpPr>
            <p:cNvPr id="112" name="Google Shape;112;p15"/>
            <p:cNvSpPr txBox="1"/>
            <p:nvPr/>
          </p:nvSpPr>
          <p:spPr>
            <a:xfrm>
              <a:off x="0" y="-38100"/>
              <a:ext cx="1752900" cy="1069800"/>
            </a:xfrm>
            <a:prstGeom prst="rect">
              <a:avLst/>
            </a:prstGeom>
            <a:solidFill>
              <a:srgbClr val="86CCE5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5"/>
          <p:cNvGrpSpPr/>
          <p:nvPr/>
        </p:nvGrpSpPr>
        <p:grpSpPr>
          <a:xfrm rot="10800000">
            <a:off x="4301236" y="2189975"/>
            <a:ext cx="3589543" cy="4044957"/>
            <a:chOff x="0" y="-38100"/>
            <a:chExt cx="2180105" cy="2456700"/>
          </a:xfrm>
        </p:grpSpPr>
        <p:sp>
          <p:nvSpPr>
            <p:cNvPr id="114" name="Google Shape;114;p15"/>
            <p:cNvSpPr/>
            <p:nvPr/>
          </p:nvSpPr>
          <p:spPr>
            <a:xfrm>
              <a:off x="0" y="0"/>
              <a:ext cx="2180105" cy="2418450"/>
            </a:xfrm>
            <a:custGeom>
              <a:rect b="b" l="l" r="r" t="t"/>
              <a:pathLst>
                <a:path extrusionOk="0" h="2418450" w="2180105">
                  <a:moveTo>
                    <a:pt x="0" y="0"/>
                  </a:moveTo>
                  <a:lnTo>
                    <a:pt x="2180105" y="0"/>
                  </a:lnTo>
                  <a:lnTo>
                    <a:pt x="2180105" y="2418450"/>
                  </a:lnTo>
                  <a:lnTo>
                    <a:pt x="0" y="241845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</p:sp>
        <p:sp>
          <p:nvSpPr>
            <p:cNvPr id="115" name="Google Shape;115;p15"/>
            <p:cNvSpPr txBox="1"/>
            <p:nvPr/>
          </p:nvSpPr>
          <p:spPr>
            <a:xfrm>
              <a:off x="0" y="-38100"/>
              <a:ext cx="2180100" cy="24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15"/>
          <p:cNvGrpSpPr/>
          <p:nvPr/>
        </p:nvGrpSpPr>
        <p:grpSpPr>
          <a:xfrm rot="10800000">
            <a:off x="4652860" y="1937180"/>
            <a:ext cx="2886150" cy="1749077"/>
            <a:chOff x="0" y="-38100"/>
            <a:chExt cx="1752900" cy="1062300"/>
          </a:xfrm>
        </p:grpSpPr>
        <p:sp>
          <p:nvSpPr>
            <p:cNvPr id="117" name="Google Shape;117;p15"/>
            <p:cNvSpPr/>
            <p:nvPr/>
          </p:nvSpPr>
          <p:spPr>
            <a:xfrm>
              <a:off x="0" y="0"/>
              <a:ext cx="1752814" cy="1024133"/>
            </a:xfrm>
            <a:custGeom>
              <a:rect b="b" l="l" r="r" t="t"/>
              <a:pathLst>
                <a:path extrusionOk="0" h="1024133" w="1752814">
                  <a:moveTo>
                    <a:pt x="0" y="0"/>
                  </a:moveTo>
                  <a:lnTo>
                    <a:pt x="1752814" y="0"/>
                  </a:lnTo>
                  <a:lnTo>
                    <a:pt x="1752814" y="1024133"/>
                  </a:lnTo>
                  <a:lnTo>
                    <a:pt x="0" y="1024133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118" name="Google Shape;118;p15"/>
            <p:cNvSpPr txBox="1"/>
            <p:nvPr/>
          </p:nvSpPr>
          <p:spPr>
            <a:xfrm>
              <a:off x="0" y="-38100"/>
              <a:ext cx="1752900" cy="10623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5"/>
          <p:cNvGrpSpPr/>
          <p:nvPr/>
        </p:nvGrpSpPr>
        <p:grpSpPr>
          <a:xfrm rot="10800000">
            <a:off x="8109232" y="2175237"/>
            <a:ext cx="3589543" cy="4305858"/>
            <a:chOff x="0" y="-38100"/>
            <a:chExt cx="2180105" cy="2456700"/>
          </a:xfrm>
        </p:grpSpPr>
        <p:sp>
          <p:nvSpPr>
            <p:cNvPr id="120" name="Google Shape;120;p15"/>
            <p:cNvSpPr/>
            <p:nvPr/>
          </p:nvSpPr>
          <p:spPr>
            <a:xfrm>
              <a:off x="0" y="0"/>
              <a:ext cx="2180105" cy="2418450"/>
            </a:xfrm>
            <a:custGeom>
              <a:rect b="b" l="l" r="r" t="t"/>
              <a:pathLst>
                <a:path extrusionOk="0" h="2418450" w="2180105">
                  <a:moveTo>
                    <a:pt x="0" y="0"/>
                  </a:moveTo>
                  <a:lnTo>
                    <a:pt x="2180105" y="0"/>
                  </a:lnTo>
                  <a:lnTo>
                    <a:pt x="2180105" y="2418450"/>
                  </a:lnTo>
                  <a:lnTo>
                    <a:pt x="0" y="241845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</p:sp>
        <p:sp>
          <p:nvSpPr>
            <p:cNvPr id="121" name="Google Shape;121;p15"/>
            <p:cNvSpPr txBox="1"/>
            <p:nvPr/>
          </p:nvSpPr>
          <p:spPr>
            <a:xfrm>
              <a:off x="0" y="-38100"/>
              <a:ext cx="2180100" cy="24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 rot="10800000">
            <a:off x="8479639" y="1937180"/>
            <a:ext cx="2886150" cy="1749077"/>
            <a:chOff x="0" y="-38100"/>
            <a:chExt cx="1752900" cy="1062300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1752814" cy="1024133"/>
            </a:xfrm>
            <a:custGeom>
              <a:rect b="b" l="l" r="r" t="t"/>
              <a:pathLst>
                <a:path extrusionOk="0" h="1024133" w="1752814">
                  <a:moveTo>
                    <a:pt x="0" y="0"/>
                  </a:moveTo>
                  <a:lnTo>
                    <a:pt x="1752814" y="0"/>
                  </a:lnTo>
                  <a:lnTo>
                    <a:pt x="1752814" y="1024133"/>
                  </a:lnTo>
                  <a:lnTo>
                    <a:pt x="0" y="1024133"/>
                  </a:lnTo>
                  <a:close/>
                </a:path>
              </a:pathLst>
            </a:custGeom>
            <a:solidFill>
              <a:srgbClr val="E9885B"/>
            </a:solidFill>
            <a:ln>
              <a:noFill/>
            </a:ln>
          </p:spPr>
        </p:sp>
        <p:sp>
          <p:nvSpPr>
            <p:cNvPr id="124" name="Google Shape;124;p15"/>
            <p:cNvSpPr txBox="1"/>
            <p:nvPr/>
          </p:nvSpPr>
          <p:spPr>
            <a:xfrm>
              <a:off x="0" y="-38100"/>
              <a:ext cx="1752900" cy="1062300"/>
            </a:xfrm>
            <a:prstGeom prst="rect">
              <a:avLst/>
            </a:prstGeom>
            <a:solidFill>
              <a:srgbClr val="E9885B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5"/>
          <p:cNvSpPr txBox="1"/>
          <p:nvPr/>
        </p:nvSpPr>
        <p:spPr>
          <a:xfrm>
            <a:off x="713150" y="2276775"/>
            <a:ext cx="30084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Elizabeth </a:t>
            </a:r>
            <a:endParaRPr b="1" sz="33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Jensen</a:t>
            </a:r>
            <a:endParaRPr b="1" sz="33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4652900" y="2302250"/>
            <a:ext cx="2886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Rebecca</a:t>
            </a:r>
            <a:endParaRPr sz="900"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3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r>
              <a:rPr b="1" lang="es-ES" sz="33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kins</a:t>
            </a:r>
            <a:endParaRPr sz="9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7890779" y="2308388"/>
            <a:ext cx="4064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Sarah </a:t>
            </a:r>
            <a:endParaRPr b="1" sz="33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Gagnon</a:t>
            </a:r>
            <a:endParaRPr b="1" sz="33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128" name="Google Shape;128;p15"/>
          <p:cNvGrpSpPr/>
          <p:nvPr/>
        </p:nvGrpSpPr>
        <p:grpSpPr>
          <a:xfrm>
            <a:off x="4301221" y="3664746"/>
            <a:ext cx="3589543" cy="2831035"/>
            <a:chOff x="0" y="-76200"/>
            <a:chExt cx="2180105" cy="1719426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0"/>
              <a:ext cx="2180105" cy="1643226"/>
            </a:xfrm>
            <a:custGeom>
              <a:rect b="b" l="l" r="r" t="t"/>
              <a:pathLst>
                <a:path extrusionOk="0" h="1643226" w="2180105">
                  <a:moveTo>
                    <a:pt x="0" y="0"/>
                  </a:moveTo>
                  <a:lnTo>
                    <a:pt x="2180105" y="0"/>
                  </a:lnTo>
                  <a:lnTo>
                    <a:pt x="2180105" y="1643226"/>
                  </a:lnTo>
                  <a:lnTo>
                    <a:pt x="0" y="1643226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</p:sp>
        <p:sp>
          <p:nvSpPr>
            <p:cNvPr id="130" name="Google Shape;130;p15"/>
            <p:cNvSpPr txBox="1"/>
            <p:nvPr/>
          </p:nvSpPr>
          <p:spPr>
            <a:xfrm>
              <a:off x="0" y="-76200"/>
              <a:ext cx="2180100" cy="17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3200" u="none" cap="none" strike="noStrike">
                  <a:solidFill>
                    <a:srgbClr val="4294CE"/>
                  </a:solidFill>
                  <a:latin typeface="Cabin"/>
                  <a:ea typeface="Cabin"/>
                  <a:cs typeface="Cabin"/>
                  <a:sym typeface="Cabin"/>
                </a:rPr>
                <a:t>Principal</a:t>
              </a:r>
              <a:endParaRPr sz="1300">
                <a:latin typeface="Cabin"/>
                <a:ea typeface="Cabin"/>
                <a:cs typeface="Cabin"/>
                <a:sym typeface="Cabin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200">
                  <a:solidFill>
                    <a:srgbClr val="4294CE"/>
                  </a:solidFill>
                  <a:latin typeface="Cabin"/>
                  <a:ea typeface="Cabin"/>
                  <a:cs typeface="Cabin"/>
                  <a:sym typeface="Cabin"/>
                </a:rPr>
                <a:t>Westview Lower Elementary </a:t>
              </a:r>
              <a:r>
                <a:rPr b="1" i="0" lang="es-ES" sz="3200" u="none" cap="none" strike="noStrike">
                  <a:solidFill>
                    <a:srgbClr val="4294CE"/>
                  </a:solidFill>
                  <a:latin typeface="Cabin"/>
                  <a:ea typeface="Cabin"/>
                  <a:cs typeface="Cabin"/>
                  <a:sym typeface="Cabin"/>
                </a:rPr>
                <a:t>School</a:t>
              </a:r>
              <a:endParaRPr sz="1300">
                <a:latin typeface="Cabin"/>
                <a:ea typeface="Cabin"/>
                <a:cs typeface="Cabin"/>
                <a:sym typeface="Cabin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800" u="none" cap="none" strike="noStrike">
                <a:solidFill>
                  <a:srgbClr val="4294C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1" name="Google Shape;131;p15"/>
          <p:cNvSpPr txBox="1"/>
          <p:nvPr/>
        </p:nvSpPr>
        <p:spPr>
          <a:xfrm>
            <a:off x="8109225" y="3767600"/>
            <a:ext cx="3589500" cy="20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4294CE"/>
                </a:solidFill>
                <a:latin typeface="Cabin"/>
                <a:ea typeface="Cabin"/>
                <a:cs typeface="Cabin"/>
                <a:sym typeface="Cabin"/>
              </a:rPr>
              <a:t>Reading Specialist and School Improvement Chair</a:t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150" y="128149"/>
            <a:ext cx="1484050" cy="148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/>
        </p:nvSpPr>
        <p:spPr>
          <a:xfrm>
            <a:off x="5223800" y="195475"/>
            <a:ext cx="6865200" cy="6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Location</a:t>
            </a:r>
            <a:r>
              <a:rPr b="1"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: </a:t>
            </a:r>
            <a:r>
              <a:rPr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We are a 4.605 square mile school district in Warren, MI.  We are located in the Southwest Corner of Macomb County.  Our district borders both Oakland and Wayne county. </a:t>
            </a:r>
            <a:endParaRPr sz="1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  <a:r>
              <a:rPr b="1"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umber of Schools:</a:t>
            </a:r>
            <a:r>
              <a:rPr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We have 5 </a:t>
            </a:r>
            <a:r>
              <a:rPr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buildings</a:t>
            </a:r>
            <a:r>
              <a:rPr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that house 6 schools, serving students from Pre-K to 12th Grade </a:t>
            </a:r>
            <a:endParaRPr sz="1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</a:pPr>
            <a:r>
              <a:rPr lang="es-ES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Schofield (Early Childhood): Pre-K to Kindergarten 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4383"/>
              </a:buClr>
              <a:buSzPts val="1400"/>
              <a:buFont typeface="Cabin"/>
              <a:buChar char="○"/>
            </a:pPr>
            <a:r>
              <a:rPr b="1" lang="es-ES">
                <a:solidFill>
                  <a:srgbClr val="034383"/>
                </a:solidFill>
                <a:latin typeface="Cabin"/>
                <a:ea typeface="Cabin"/>
                <a:cs typeface="Cabin"/>
                <a:sym typeface="Cabin"/>
              </a:rPr>
              <a:t>Westview</a:t>
            </a:r>
            <a:r>
              <a:rPr b="1" lang="es-ES">
                <a:solidFill>
                  <a:srgbClr val="034383"/>
                </a:solidFill>
                <a:latin typeface="Cabin"/>
                <a:ea typeface="Cabin"/>
                <a:cs typeface="Cabin"/>
                <a:sym typeface="Cabin"/>
              </a:rPr>
              <a:t> (Lower Elementary): 1st - 3rd Grade </a:t>
            </a:r>
            <a:endParaRPr b="1">
              <a:solidFill>
                <a:srgbClr val="034383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</a:pPr>
            <a:r>
              <a:rPr lang="es-ES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Mound Park (Upper Elementary): 4th-5th Grade 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</a:pPr>
            <a:r>
              <a:rPr lang="es-ES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Chatterton Middle School: 6th-8th 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</a:pPr>
            <a:r>
              <a:rPr lang="es-ES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High School: 9th - 12th 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</a:pPr>
            <a:r>
              <a:rPr lang="es-ES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High School (Virtual Academy): </a:t>
            </a:r>
            <a:r>
              <a:rPr lang="es-ES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9th - 12th 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Student-Teacher Ratio: </a:t>
            </a:r>
            <a:r>
              <a:rPr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24:1</a:t>
            </a:r>
            <a:endParaRPr sz="1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School Performance Data: </a:t>
            </a:r>
            <a:r>
              <a:rPr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No identified schools</a:t>
            </a:r>
            <a:endParaRPr sz="1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School of Choice: </a:t>
            </a:r>
            <a:r>
              <a:rPr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776 nonresident students enrolled and 759 resident students enrolled elsewhere</a:t>
            </a:r>
            <a:endParaRPr sz="1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Attendance Rates: </a:t>
            </a:r>
            <a:r>
              <a:rPr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50.9% of students are chronically absent</a:t>
            </a:r>
            <a:endParaRPr sz="1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Graduation Rates: </a:t>
            </a:r>
            <a:r>
              <a:rPr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80.69%</a:t>
            </a:r>
            <a:endParaRPr sz="1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bin"/>
              <a:buChar char="●"/>
            </a:pPr>
            <a:r>
              <a:rPr b="1"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Total Enrollment: </a:t>
            </a:r>
            <a:r>
              <a:rPr lang="es-ES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2348 students</a:t>
            </a:r>
            <a:endParaRPr sz="1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138" name="Google Shape;138;p16"/>
          <p:cNvGrpSpPr/>
          <p:nvPr/>
        </p:nvGrpSpPr>
        <p:grpSpPr>
          <a:xfrm>
            <a:off x="301112" y="912575"/>
            <a:ext cx="5041325" cy="5804298"/>
            <a:chOff x="244250" y="387000"/>
            <a:chExt cx="5041325" cy="5804298"/>
          </a:xfrm>
        </p:grpSpPr>
        <p:pic>
          <p:nvPicPr>
            <p:cNvPr id="139" name="Google Shape;139;p16"/>
            <p:cNvPicPr preferRelativeResize="0"/>
            <p:nvPr/>
          </p:nvPicPr>
          <p:blipFill rotWithShape="1">
            <a:blip r:embed="rId3">
              <a:alphaModFix/>
            </a:blip>
            <a:srcRect b="4044" l="10418" r="9562" t="3832"/>
            <a:stretch/>
          </p:blipFill>
          <p:spPr>
            <a:xfrm>
              <a:off x="244250" y="387000"/>
              <a:ext cx="5041325" cy="58042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19200" y="5124075"/>
              <a:ext cx="413225" cy="413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" name="Google Shape;141;p16"/>
          <p:cNvSpPr txBox="1"/>
          <p:nvPr/>
        </p:nvSpPr>
        <p:spPr>
          <a:xfrm>
            <a:off x="256776" y="195475"/>
            <a:ext cx="513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60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Demographics</a:t>
            </a:r>
            <a:endParaRPr b="1" sz="60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aphicFrame>
        <p:nvGraphicFramePr>
          <p:cNvPr id="142" name="Google Shape;142;p16"/>
          <p:cNvGraphicFramePr/>
          <p:nvPr/>
        </p:nvGraphicFramePr>
        <p:xfrm>
          <a:off x="5772225" y="513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{307CA0B1-F7C1-48CF-A7EC-E669544577BF}</a:tableStyleId>
              </a:tblPr>
              <a:tblGrid>
                <a:gridCol w="1579200"/>
                <a:gridCol w="1579200"/>
                <a:gridCol w="1579200"/>
                <a:gridCol w="1579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African Am.</a:t>
                      </a:r>
                      <a:endParaRPr b="1"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Caucasian</a:t>
                      </a:r>
                      <a:endParaRPr b="1"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Hispanic</a:t>
                      </a:r>
                      <a:endParaRPr b="1"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Asian</a:t>
                      </a:r>
                      <a:endParaRPr b="1"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51.87%</a:t>
                      </a:r>
                      <a:endParaRPr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14.69%</a:t>
                      </a:r>
                      <a:endParaRPr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4.94</a:t>
                      </a:r>
                      <a:r>
                        <a:rPr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%</a:t>
                      </a:r>
                      <a:endParaRPr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30.18</a:t>
                      </a:r>
                      <a:r>
                        <a:rPr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%</a:t>
                      </a:r>
                      <a:endParaRPr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2 or more races</a:t>
                      </a:r>
                      <a:endParaRPr b="1"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SPED</a:t>
                      </a:r>
                      <a:endParaRPr b="1"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ELL </a:t>
                      </a:r>
                      <a:endParaRPr b="1"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ED</a:t>
                      </a:r>
                      <a:endParaRPr b="1"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8.65%</a:t>
                      </a:r>
                      <a:endParaRPr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14.8%</a:t>
                      </a:r>
                      <a:endParaRPr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15.5%</a:t>
                      </a:r>
                      <a:endParaRPr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abin"/>
                          <a:ea typeface="Cabin"/>
                          <a:cs typeface="Cabin"/>
                          <a:sym typeface="Cabin"/>
                        </a:rPr>
                        <a:t>73.74%</a:t>
                      </a:r>
                      <a:endParaRPr sz="16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/>
        </p:nvSpPr>
        <p:spPr>
          <a:xfrm>
            <a:off x="1377750" y="408473"/>
            <a:ext cx="943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AGENDA</a:t>
            </a:r>
            <a:endParaRPr b="1" sz="60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240551" y="2757751"/>
            <a:ext cx="2650500" cy="3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4650" lvl="0" marL="45720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34383"/>
              </a:buClr>
              <a:buSzPts val="2300"/>
              <a:buFont typeface="Cabin"/>
              <a:buChar char="●"/>
            </a:pPr>
            <a:r>
              <a:rPr b="1" lang="es-ES" sz="2300">
                <a:solidFill>
                  <a:srgbClr val="034383"/>
                </a:solidFill>
                <a:latin typeface="Cabin"/>
                <a:ea typeface="Cabin"/>
                <a:cs typeface="Cabin"/>
                <a:sym typeface="Cabin"/>
              </a:rPr>
              <a:t>Continuous Improvement</a:t>
            </a:r>
            <a:endParaRPr b="1" sz="2300">
              <a:solidFill>
                <a:srgbClr val="034383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74650" lvl="0" marL="45720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34383"/>
              </a:buClr>
              <a:buSzPts val="2300"/>
              <a:buFont typeface="Cabin"/>
              <a:buChar char="●"/>
            </a:pPr>
            <a:r>
              <a:rPr b="1" lang="es-ES" sz="2300">
                <a:solidFill>
                  <a:srgbClr val="034383"/>
                </a:solidFill>
                <a:latin typeface="Cabin"/>
                <a:ea typeface="Cabin"/>
                <a:cs typeface="Cabin"/>
                <a:sym typeface="Cabin"/>
              </a:rPr>
              <a:t>Strategic Plan</a:t>
            </a:r>
            <a:endParaRPr b="1" sz="2300">
              <a:solidFill>
                <a:srgbClr val="034383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74650" lvl="0" marL="45720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34383"/>
              </a:buClr>
              <a:buSzPts val="2300"/>
              <a:buFont typeface="Cabin"/>
              <a:buChar char="●"/>
            </a:pPr>
            <a:r>
              <a:rPr b="1" lang="es-ES" sz="2300">
                <a:solidFill>
                  <a:srgbClr val="034383"/>
                </a:solidFill>
                <a:latin typeface="Cabin"/>
                <a:ea typeface="Cabin"/>
                <a:cs typeface="Cabin"/>
                <a:sym typeface="Cabin"/>
              </a:rPr>
              <a:t>District Level Implementation </a:t>
            </a:r>
            <a:endParaRPr b="1" sz="2300">
              <a:solidFill>
                <a:srgbClr val="034383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74650" lvl="0" marL="45720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34383"/>
              </a:buClr>
              <a:buSzPts val="2300"/>
              <a:buFont typeface="Cabin"/>
              <a:buChar char="●"/>
            </a:pPr>
            <a:r>
              <a:rPr b="1" lang="es-ES" sz="2300">
                <a:solidFill>
                  <a:srgbClr val="034383"/>
                </a:solidFill>
                <a:latin typeface="Cabin"/>
                <a:ea typeface="Cabin"/>
                <a:cs typeface="Cabin"/>
                <a:sym typeface="Cabin"/>
              </a:rPr>
              <a:t>Timelines/ Calendars</a:t>
            </a:r>
            <a:endParaRPr b="1" sz="2300">
              <a:solidFill>
                <a:srgbClr val="034383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74650" lvl="0" marL="45720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34383"/>
              </a:buClr>
              <a:buSzPts val="2300"/>
              <a:buFont typeface="Cabin"/>
              <a:buChar char="●"/>
            </a:pPr>
            <a:r>
              <a:rPr b="1" lang="es-ES" sz="2300">
                <a:solidFill>
                  <a:srgbClr val="034383"/>
                </a:solidFill>
                <a:latin typeface="Cabin"/>
                <a:ea typeface="Cabin"/>
                <a:cs typeface="Cabin"/>
                <a:sym typeface="Cabin"/>
              </a:rPr>
              <a:t>Monitoring </a:t>
            </a:r>
            <a:endParaRPr b="1" sz="2300">
              <a:solidFill>
                <a:srgbClr val="034383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3195575" y="2757753"/>
            <a:ext cx="2780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034383"/>
                </a:solidFill>
                <a:latin typeface="Cabin"/>
                <a:ea typeface="Cabin"/>
                <a:cs typeface="Cabin"/>
                <a:sym typeface="Cabin"/>
              </a:rPr>
              <a:t>Building Level Administrator overview setting up MICIP</a:t>
            </a:r>
            <a:endParaRPr sz="30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460598" y="5079231"/>
            <a:ext cx="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0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280500" y="2757753"/>
            <a:ext cx="26505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034383"/>
                </a:solidFill>
                <a:latin typeface="Cabin"/>
                <a:ea typeface="Cabin"/>
                <a:cs typeface="Cabin"/>
                <a:sym typeface="Cabin"/>
              </a:rPr>
              <a:t>School Improvement Chair Overview setting up MICIP</a:t>
            </a:r>
            <a:endParaRPr b="1" sz="3000">
              <a:solidFill>
                <a:srgbClr val="034383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9235534" y="2757749"/>
            <a:ext cx="2904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034383"/>
                </a:solidFill>
                <a:latin typeface="Cabin"/>
                <a:ea typeface="Cabin"/>
                <a:cs typeface="Cabin"/>
                <a:sym typeface="Cabin"/>
              </a:rPr>
              <a:t>Q and A and Resource Share</a:t>
            </a:r>
            <a:endParaRPr sz="30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150" y="128149"/>
            <a:ext cx="1484050" cy="148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102250" y="1701975"/>
            <a:ext cx="2904300" cy="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4800">
                <a:solidFill>
                  <a:schemeClr val="lt2"/>
                </a:solidFill>
              </a:rPr>
              <a:t>1</a:t>
            </a:r>
            <a:endParaRPr b="1" sz="4800">
              <a:solidFill>
                <a:schemeClr val="lt2"/>
              </a:solidFill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3140850" y="1723275"/>
            <a:ext cx="2904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800">
                <a:solidFill>
                  <a:srgbClr val="F2F2F2"/>
                </a:solidFill>
              </a:rPr>
              <a:t>2</a:t>
            </a:r>
            <a:endParaRPr b="1" sz="4800">
              <a:solidFill>
                <a:srgbClr val="F2F2F2"/>
              </a:solidFill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6153600" y="1723275"/>
            <a:ext cx="2904300" cy="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800">
                <a:solidFill>
                  <a:srgbClr val="F2F2F2"/>
                </a:solidFill>
              </a:rPr>
              <a:t>3</a:t>
            </a:r>
            <a:endParaRPr b="1" sz="4800">
              <a:solidFill>
                <a:srgbClr val="F2F2F2"/>
              </a:solidFill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9166350" y="1701975"/>
            <a:ext cx="2904300" cy="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800">
                <a:solidFill>
                  <a:srgbClr val="F2F2F2"/>
                </a:solidFill>
              </a:rPr>
              <a:t>4</a:t>
            </a:r>
            <a:endParaRPr b="1" sz="480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326580" y="242600"/>
            <a:ext cx="6151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Session Goals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391847" y="827375"/>
            <a:ext cx="615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Identifying individual learning goals for today’s session. </a:t>
            </a:r>
            <a:endParaRPr b="1"/>
          </a:p>
        </p:txBody>
      </p:sp>
      <p:cxnSp>
        <p:nvCxnSpPr>
          <p:cNvPr id="164" name="Google Shape;164;p18"/>
          <p:cNvCxnSpPr/>
          <p:nvPr/>
        </p:nvCxnSpPr>
        <p:spPr>
          <a:xfrm>
            <a:off x="450293" y="1362270"/>
            <a:ext cx="5700000" cy="23100"/>
          </a:xfrm>
          <a:prstGeom prst="straightConnector1">
            <a:avLst/>
          </a:prstGeom>
          <a:noFill/>
          <a:ln cap="flat" cmpd="sng" w="19050">
            <a:solidFill>
              <a:srgbClr val="E78A6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p18"/>
          <p:cNvSpPr txBox="1"/>
          <p:nvPr/>
        </p:nvSpPr>
        <p:spPr>
          <a:xfrm>
            <a:off x="326575" y="1432450"/>
            <a:ext cx="11760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900"/>
              <a:t>Please scan the QR code below, click </a:t>
            </a:r>
            <a:r>
              <a:rPr b="1" lang="es-ES" sz="2900" u="sng">
                <a:solidFill>
                  <a:schemeClr val="hlink"/>
                </a:solidFill>
                <a:hlinkClick r:id="rId3"/>
              </a:rPr>
              <a:t>here</a:t>
            </a:r>
            <a:r>
              <a:rPr lang="es-ES"/>
              <a:t>, or </a:t>
            </a:r>
            <a:r>
              <a:rPr b="1" lang="es-ES" sz="2900">
                <a:solidFill>
                  <a:schemeClr val="dk1"/>
                </a:solidFill>
              </a:rPr>
              <a:t>visit </a:t>
            </a:r>
            <a:r>
              <a:rPr b="1" lang="es-ES" sz="2900" u="sng">
                <a:solidFill>
                  <a:schemeClr val="hlink"/>
                </a:solidFill>
                <a:hlinkClick r:id="rId4"/>
              </a:rPr>
              <a:t>www.menti.com</a:t>
            </a:r>
            <a:endParaRPr b="1" sz="2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850" y="2086150"/>
            <a:ext cx="8575589" cy="44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/>
        </p:nvSpPr>
        <p:spPr>
          <a:xfrm rot="-1442362">
            <a:off x="7196819" y="5400893"/>
            <a:ext cx="5130051" cy="4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What the State says it looks like..</a:t>
            </a:r>
            <a:endParaRPr b="1" sz="28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/>
        </p:nvSpPr>
        <p:spPr>
          <a:xfrm>
            <a:off x="3531001" y="6217800"/>
            <a:ext cx="513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9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What the work actually is… </a:t>
            </a:r>
            <a:endParaRPr b="1" sz="29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 rot="-5400000">
            <a:off x="-2865900" y="2965050"/>
            <a:ext cx="681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Strategic Plan</a:t>
            </a:r>
            <a:endParaRPr b="1" sz="30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MICIP Goals/Strategies/Activities</a:t>
            </a:r>
            <a:endParaRPr b="1" sz="30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825" y="41700"/>
            <a:ext cx="10574886" cy="681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/>
        </p:nvSpPr>
        <p:spPr>
          <a:xfrm rot="-5400000">
            <a:off x="-2865900" y="2965050"/>
            <a:ext cx="681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Strategic Plan</a:t>
            </a:r>
            <a:endParaRPr b="1" sz="30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MICIP Goals/Strategies/Activities</a:t>
            </a:r>
            <a:endParaRPr b="1" sz="30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88" name="Google Shape;18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025" y="139513"/>
            <a:ext cx="9201951" cy="657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/>
        </p:nvSpPr>
        <p:spPr>
          <a:xfrm rot="-5400000">
            <a:off x="-2865900" y="2965050"/>
            <a:ext cx="681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Strategic Plan</a:t>
            </a:r>
            <a:endParaRPr b="1" sz="30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MICIP Goals/Strategies/Activities</a:t>
            </a:r>
            <a:endParaRPr b="1" sz="30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450" y="83950"/>
            <a:ext cx="9429050" cy="673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CCE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/>
        </p:nvSpPr>
        <p:spPr>
          <a:xfrm>
            <a:off x="-125" y="1046050"/>
            <a:ext cx="12192000" cy="26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latin typeface="Cabin"/>
                <a:ea typeface="Cabin"/>
                <a:cs typeface="Cabin"/>
                <a:sym typeface="Cabin"/>
              </a:rPr>
              <a:t>District Leader Implementation</a:t>
            </a:r>
            <a:endParaRPr b="1" sz="720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/>
        </p:nvSpPr>
        <p:spPr>
          <a:xfrm>
            <a:off x="326586" y="242600"/>
            <a:ext cx="11199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District </a:t>
            </a: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Leader Implementation Plan - Elizabeth</a:t>
            </a:r>
            <a:endParaRPr/>
          </a:p>
        </p:txBody>
      </p:sp>
      <p:cxnSp>
        <p:nvCxnSpPr>
          <p:cNvPr id="205" name="Google Shape;205;p25"/>
          <p:cNvCxnSpPr/>
          <p:nvPr/>
        </p:nvCxnSpPr>
        <p:spPr>
          <a:xfrm>
            <a:off x="450293" y="1362270"/>
            <a:ext cx="1229100" cy="0"/>
          </a:xfrm>
          <a:prstGeom prst="straightConnector1">
            <a:avLst/>
          </a:prstGeom>
          <a:noFill/>
          <a:ln cap="flat" cmpd="sng" w="19050">
            <a:solidFill>
              <a:srgbClr val="E9C3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6" name="Google Shape;206;p25"/>
          <p:cNvSpPr txBox="1"/>
          <p:nvPr/>
        </p:nvSpPr>
        <p:spPr>
          <a:xfrm>
            <a:off x="5244929" y="1859402"/>
            <a:ext cx="28107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District </a:t>
            </a: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Improvement Team Development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Identify SIT chairperson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Support chairperson in recruiting staff team members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Select meeting dates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1498316" y="1917177"/>
            <a:ext cx="28326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District </a:t>
            </a: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Goals</a:t>
            </a: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 and Strategic Plan	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Align building wide goals to ensure alignment with district vision, mission, and strategic plan goals.</a:t>
            </a:r>
            <a:endParaRPr/>
          </a:p>
        </p:txBody>
      </p:sp>
      <p:sp>
        <p:nvSpPr>
          <p:cNvPr id="208" name="Google Shape;208;p25"/>
          <p:cNvSpPr txBox="1"/>
          <p:nvPr/>
        </p:nvSpPr>
        <p:spPr>
          <a:xfrm>
            <a:off x="9018867" y="1917177"/>
            <a:ext cx="28251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Connecting 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Continuous School Improvement  processes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School SIT processes training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Year long training and support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5244954" y="4277873"/>
            <a:ext cx="28107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Monitoring</a:t>
            </a: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 Budgets and Data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Bi-weekly SIT chairperson meetings.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Monthly SIT meetings.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Quarterly district SI meetings.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Monitoring initiatives, collecting &amp; analysis data.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1438750" y="4277875"/>
            <a:ext cx="3023400" cy="18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Creating Timelines/ Calendars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Identifying SIT members interests and strengths.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Delegating SIT tasks to encourage team members active participation.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Encouraging SIT members to share their knowledge with staff.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9018867" y="4277873"/>
            <a:ext cx="28251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Celebrating 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Recognizing staff contributions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Developing parent relationships to ensure two way communication of SIT plan.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Inviting students to share their input.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12" name="Google Shape;212;p25"/>
          <p:cNvGrpSpPr/>
          <p:nvPr/>
        </p:nvGrpSpPr>
        <p:grpSpPr>
          <a:xfrm>
            <a:off x="4434861" y="4545670"/>
            <a:ext cx="741967" cy="733017"/>
            <a:chOff x="3171000" y="4021950"/>
            <a:chExt cx="268100" cy="265875"/>
          </a:xfrm>
        </p:grpSpPr>
        <p:sp>
          <p:nvSpPr>
            <p:cNvPr id="213" name="Google Shape;213;p25"/>
            <p:cNvSpPr/>
            <p:nvPr/>
          </p:nvSpPr>
          <p:spPr>
            <a:xfrm>
              <a:off x="3171000" y="4058525"/>
              <a:ext cx="230200" cy="229300"/>
            </a:xfrm>
            <a:custGeom>
              <a:rect b="b" l="l" r="r" t="t"/>
              <a:pathLst>
                <a:path extrusionOk="0" h="9172" w="9208">
                  <a:moveTo>
                    <a:pt x="1782" y="6720"/>
                  </a:moveTo>
                  <a:cubicBezTo>
                    <a:pt x="1957" y="6720"/>
                    <a:pt x="2130" y="6787"/>
                    <a:pt x="2266" y="6923"/>
                  </a:cubicBezTo>
                  <a:cubicBezTo>
                    <a:pt x="2534" y="7191"/>
                    <a:pt x="2534" y="7619"/>
                    <a:pt x="2266" y="7869"/>
                  </a:cubicBezTo>
                  <a:lnTo>
                    <a:pt x="1142" y="8244"/>
                  </a:lnTo>
                  <a:lnTo>
                    <a:pt x="928" y="8047"/>
                  </a:lnTo>
                  <a:lnTo>
                    <a:pt x="1303" y="6905"/>
                  </a:lnTo>
                  <a:cubicBezTo>
                    <a:pt x="1443" y="6783"/>
                    <a:pt x="1614" y="6720"/>
                    <a:pt x="1782" y="6720"/>
                  </a:cubicBezTo>
                  <a:close/>
                  <a:moveTo>
                    <a:pt x="7494" y="0"/>
                  </a:moveTo>
                  <a:lnTo>
                    <a:pt x="839" y="6656"/>
                  </a:lnTo>
                  <a:lnTo>
                    <a:pt x="0" y="9171"/>
                  </a:lnTo>
                  <a:lnTo>
                    <a:pt x="2552" y="8333"/>
                  </a:lnTo>
                  <a:lnTo>
                    <a:pt x="9207" y="1695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5"/>
            <p:cNvSpPr/>
            <p:nvPr/>
          </p:nvSpPr>
          <p:spPr>
            <a:xfrm>
              <a:off x="3367725" y="4021950"/>
              <a:ext cx="71375" cy="69150"/>
            </a:xfrm>
            <a:custGeom>
              <a:rect b="b" l="l" r="r" t="t"/>
              <a:pathLst>
                <a:path extrusionOk="0" h="2766" w="2855">
                  <a:moveTo>
                    <a:pt x="1320" y="0"/>
                  </a:moveTo>
                  <a:cubicBezTo>
                    <a:pt x="1187" y="0"/>
                    <a:pt x="1053" y="54"/>
                    <a:pt x="946" y="161"/>
                  </a:cubicBezTo>
                  <a:lnTo>
                    <a:pt x="0" y="1089"/>
                  </a:lnTo>
                  <a:lnTo>
                    <a:pt x="1695" y="2766"/>
                  </a:lnTo>
                  <a:lnTo>
                    <a:pt x="2623" y="1838"/>
                  </a:lnTo>
                  <a:cubicBezTo>
                    <a:pt x="2855" y="1642"/>
                    <a:pt x="2855" y="1303"/>
                    <a:pt x="2641" y="1106"/>
                  </a:cubicBezTo>
                  <a:lnTo>
                    <a:pt x="1695" y="161"/>
                  </a:lnTo>
                  <a:cubicBezTo>
                    <a:pt x="1588" y="54"/>
                    <a:pt x="1454" y="0"/>
                    <a:pt x="132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25"/>
          <p:cNvSpPr/>
          <p:nvPr/>
        </p:nvSpPr>
        <p:spPr>
          <a:xfrm>
            <a:off x="4392895" y="2064848"/>
            <a:ext cx="825891" cy="824067"/>
          </a:xfrm>
          <a:custGeom>
            <a:rect b="b" l="l" r="r" t="t"/>
            <a:pathLst>
              <a:path extrusionOk="0" h="11956" w="11937">
                <a:moveTo>
                  <a:pt x="9225" y="1125"/>
                </a:moveTo>
                <a:lnTo>
                  <a:pt x="10831" y="2730"/>
                </a:lnTo>
                <a:lnTo>
                  <a:pt x="9814" y="3747"/>
                </a:lnTo>
                <a:lnTo>
                  <a:pt x="8975" y="2927"/>
                </a:lnTo>
                <a:lnTo>
                  <a:pt x="8583" y="3301"/>
                </a:lnTo>
                <a:lnTo>
                  <a:pt x="9421" y="4140"/>
                </a:lnTo>
                <a:lnTo>
                  <a:pt x="8368" y="5175"/>
                </a:lnTo>
                <a:lnTo>
                  <a:pt x="7548" y="4354"/>
                </a:lnTo>
                <a:lnTo>
                  <a:pt x="7173" y="4729"/>
                </a:lnTo>
                <a:lnTo>
                  <a:pt x="8012" y="5550"/>
                </a:lnTo>
                <a:lnTo>
                  <a:pt x="6977" y="6584"/>
                </a:lnTo>
                <a:lnTo>
                  <a:pt x="6138" y="5764"/>
                </a:lnTo>
                <a:lnTo>
                  <a:pt x="5763" y="6138"/>
                </a:lnTo>
                <a:lnTo>
                  <a:pt x="6602" y="6959"/>
                </a:lnTo>
                <a:lnTo>
                  <a:pt x="5549" y="7994"/>
                </a:lnTo>
                <a:lnTo>
                  <a:pt x="4728" y="7173"/>
                </a:lnTo>
                <a:lnTo>
                  <a:pt x="4354" y="7548"/>
                </a:lnTo>
                <a:lnTo>
                  <a:pt x="5175" y="8369"/>
                </a:lnTo>
                <a:lnTo>
                  <a:pt x="4140" y="9404"/>
                </a:lnTo>
                <a:lnTo>
                  <a:pt x="3319" y="8583"/>
                </a:lnTo>
                <a:lnTo>
                  <a:pt x="2944" y="8958"/>
                </a:lnTo>
                <a:lnTo>
                  <a:pt x="3765" y="9778"/>
                </a:lnTo>
                <a:lnTo>
                  <a:pt x="2748" y="10795"/>
                </a:lnTo>
                <a:lnTo>
                  <a:pt x="1160" y="9207"/>
                </a:lnTo>
                <a:lnTo>
                  <a:pt x="9225" y="1125"/>
                </a:lnTo>
                <a:close/>
                <a:moveTo>
                  <a:pt x="9225" y="1"/>
                </a:moveTo>
                <a:lnTo>
                  <a:pt x="0" y="9225"/>
                </a:lnTo>
                <a:lnTo>
                  <a:pt x="2730" y="11955"/>
                </a:lnTo>
                <a:lnTo>
                  <a:pt x="11937" y="2748"/>
                </a:lnTo>
                <a:lnTo>
                  <a:pt x="9225" y="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699265" y="2109611"/>
            <a:ext cx="737054" cy="734534"/>
          </a:xfrm>
          <a:custGeom>
            <a:rect b="b" l="l" r="r" t="t"/>
            <a:pathLst>
              <a:path extrusionOk="0" h="10657" w="10653">
                <a:moveTo>
                  <a:pt x="6254" y="823"/>
                </a:moveTo>
                <a:cubicBezTo>
                  <a:pt x="6352" y="823"/>
                  <a:pt x="6452" y="841"/>
                  <a:pt x="6549" y="879"/>
                </a:cubicBezTo>
                <a:cubicBezTo>
                  <a:pt x="6959" y="1040"/>
                  <a:pt x="7155" y="1504"/>
                  <a:pt x="6977" y="1914"/>
                </a:cubicBezTo>
                <a:cubicBezTo>
                  <a:pt x="6867" y="2217"/>
                  <a:pt x="6554" y="2414"/>
                  <a:pt x="6237" y="2414"/>
                </a:cubicBezTo>
                <a:cubicBezTo>
                  <a:pt x="6143" y="2414"/>
                  <a:pt x="6049" y="2397"/>
                  <a:pt x="5960" y="2360"/>
                </a:cubicBezTo>
                <a:cubicBezTo>
                  <a:pt x="5532" y="2200"/>
                  <a:pt x="5353" y="1736"/>
                  <a:pt x="5514" y="1325"/>
                </a:cubicBezTo>
                <a:cubicBezTo>
                  <a:pt x="5636" y="1012"/>
                  <a:pt x="5936" y="823"/>
                  <a:pt x="6254" y="823"/>
                </a:cubicBezTo>
                <a:close/>
                <a:moveTo>
                  <a:pt x="9047" y="3609"/>
                </a:moveTo>
                <a:cubicBezTo>
                  <a:pt x="9493" y="3609"/>
                  <a:pt x="9849" y="3966"/>
                  <a:pt x="9849" y="4394"/>
                </a:cubicBezTo>
                <a:cubicBezTo>
                  <a:pt x="9849" y="4840"/>
                  <a:pt x="9493" y="5197"/>
                  <a:pt x="9047" y="5197"/>
                </a:cubicBezTo>
                <a:cubicBezTo>
                  <a:pt x="8618" y="5197"/>
                  <a:pt x="8244" y="4840"/>
                  <a:pt x="8244" y="4394"/>
                </a:cubicBezTo>
                <a:cubicBezTo>
                  <a:pt x="8244" y="3966"/>
                  <a:pt x="8618" y="3609"/>
                  <a:pt x="9047" y="3609"/>
                </a:cubicBezTo>
                <a:close/>
                <a:moveTo>
                  <a:pt x="5585" y="4662"/>
                </a:moveTo>
                <a:cubicBezTo>
                  <a:pt x="5817" y="4662"/>
                  <a:pt x="5978" y="4840"/>
                  <a:pt x="5978" y="5072"/>
                </a:cubicBezTo>
                <a:cubicBezTo>
                  <a:pt x="5978" y="5304"/>
                  <a:pt x="5817" y="5465"/>
                  <a:pt x="5585" y="5465"/>
                </a:cubicBezTo>
                <a:cubicBezTo>
                  <a:pt x="5371" y="5465"/>
                  <a:pt x="5193" y="5304"/>
                  <a:pt x="5193" y="5072"/>
                </a:cubicBezTo>
                <a:cubicBezTo>
                  <a:pt x="5193" y="4840"/>
                  <a:pt x="5371" y="4662"/>
                  <a:pt x="5585" y="4662"/>
                </a:cubicBezTo>
                <a:close/>
                <a:moveTo>
                  <a:pt x="6272" y="0"/>
                </a:moveTo>
                <a:cubicBezTo>
                  <a:pt x="5644" y="0"/>
                  <a:pt x="5041" y="377"/>
                  <a:pt x="4782" y="1004"/>
                </a:cubicBezTo>
                <a:cubicBezTo>
                  <a:pt x="4443" y="1807"/>
                  <a:pt x="4853" y="2735"/>
                  <a:pt x="5656" y="3074"/>
                </a:cubicBezTo>
                <a:cubicBezTo>
                  <a:pt x="5817" y="3145"/>
                  <a:pt x="5978" y="3163"/>
                  <a:pt x="6138" y="3181"/>
                </a:cubicBezTo>
                <a:lnTo>
                  <a:pt x="4943" y="4376"/>
                </a:lnTo>
                <a:lnTo>
                  <a:pt x="4639" y="5036"/>
                </a:lnTo>
                <a:lnTo>
                  <a:pt x="803" y="7195"/>
                </a:lnTo>
                <a:lnTo>
                  <a:pt x="0" y="8534"/>
                </a:lnTo>
                <a:lnTo>
                  <a:pt x="3854" y="6803"/>
                </a:lnTo>
                <a:lnTo>
                  <a:pt x="2124" y="10657"/>
                </a:lnTo>
                <a:lnTo>
                  <a:pt x="2124" y="10657"/>
                </a:lnTo>
                <a:lnTo>
                  <a:pt x="3462" y="9854"/>
                </a:lnTo>
                <a:lnTo>
                  <a:pt x="5603" y="6036"/>
                </a:lnTo>
                <a:lnTo>
                  <a:pt x="6245" y="5732"/>
                </a:lnTo>
                <a:lnTo>
                  <a:pt x="7459" y="4537"/>
                </a:lnTo>
                <a:cubicBezTo>
                  <a:pt x="7512" y="5376"/>
                  <a:pt x="8208" y="6000"/>
                  <a:pt x="9047" y="6000"/>
                </a:cubicBezTo>
                <a:cubicBezTo>
                  <a:pt x="9939" y="6000"/>
                  <a:pt x="10652" y="5286"/>
                  <a:pt x="10652" y="4394"/>
                </a:cubicBezTo>
                <a:cubicBezTo>
                  <a:pt x="10652" y="3520"/>
                  <a:pt x="9939" y="2806"/>
                  <a:pt x="9047" y="2806"/>
                </a:cubicBezTo>
                <a:cubicBezTo>
                  <a:pt x="8708" y="2806"/>
                  <a:pt x="8386" y="2913"/>
                  <a:pt x="8119" y="3109"/>
                </a:cubicBezTo>
                <a:lnTo>
                  <a:pt x="6834" y="3823"/>
                </a:lnTo>
                <a:lnTo>
                  <a:pt x="7548" y="2539"/>
                </a:lnTo>
                <a:cubicBezTo>
                  <a:pt x="7619" y="2431"/>
                  <a:pt x="7690" y="2307"/>
                  <a:pt x="7726" y="2200"/>
                </a:cubicBezTo>
                <a:cubicBezTo>
                  <a:pt x="8065" y="1379"/>
                  <a:pt x="7673" y="451"/>
                  <a:pt x="6852" y="112"/>
                </a:cubicBezTo>
                <a:cubicBezTo>
                  <a:pt x="6662" y="36"/>
                  <a:pt x="6466" y="0"/>
                  <a:pt x="6272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25"/>
          <p:cNvGrpSpPr/>
          <p:nvPr/>
        </p:nvGrpSpPr>
        <p:grpSpPr>
          <a:xfrm>
            <a:off x="714879" y="4536627"/>
            <a:ext cx="700039" cy="697383"/>
            <a:chOff x="5684575" y="4038000"/>
            <a:chExt cx="252950" cy="252950"/>
          </a:xfrm>
        </p:grpSpPr>
        <p:sp>
          <p:nvSpPr>
            <p:cNvPr id="218" name="Google Shape;218;p25"/>
            <p:cNvSpPr/>
            <p:nvPr/>
          </p:nvSpPr>
          <p:spPr>
            <a:xfrm>
              <a:off x="5684575" y="4038000"/>
              <a:ext cx="252950" cy="252950"/>
            </a:xfrm>
            <a:custGeom>
              <a:rect b="b" l="l" r="r" t="t"/>
              <a:pathLst>
                <a:path extrusionOk="0" h="10118" w="10118">
                  <a:moveTo>
                    <a:pt x="5068" y="803"/>
                  </a:moveTo>
                  <a:cubicBezTo>
                    <a:pt x="7405" y="803"/>
                    <a:pt x="9332" y="2730"/>
                    <a:pt x="9332" y="5068"/>
                  </a:cubicBezTo>
                  <a:cubicBezTo>
                    <a:pt x="9332" y="7405"/>
                    <a:pt x="7405" y="9314"/>
                    <a:pt x="5068" y="9314"/>
                  </a:cubicBezTo>
                  <a:cubicBezTo>
                    <a:pt x="2731" y="9314"/>
                    <a:pt x="804" y="7405"/>
                    <a:pt x="804" y="5068"/>
                  </a:cubicBezTo>
                  <a:cubicBezTo>
                    <a:pt x="804" y="2730"/>
                    <a:pt x="2731" y="803"/>
                    <a:pt x="5068" y="803"/>
                  </a:cubicBezTo>
                  <a:close/>
                  <a:moveTo>
                    <a:pt x="5068" y="1"/>
                  </a:moveTo>
                  <a:cubicBezTo>
                    <a:pt x="2267" y="1"/>
                    <a:pt x="1" y="2267"/>
                    <a:pt x="1" y="5068"/>
                  </a:cubicBezTo>
                  <a:cubicBezTo>
                    <a:pt x="1" y="7851"/>
                    <a:pt x="2267" y="10117"/>
                    <a:pt x="5068" y="10117"/>
                  </a:cubicBezTo>
                  <a:cubicBezTo>
                    <a:pt x="7851" y="10117"/>
                    <a:pt x="10118" y="7851"/>
                    <a:pt x="10118" y="5068"/>
                  </a:cubicBezTo>
                  <a:cubicBezTo>
                    <a:pt x="10118" y="2267"/>
                    <a:pt x="7851" y="1"/>
                    <a:pt x="5068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5"/>
            <p:cNvSpPr/>
            <p:nvPr/>
          </p:nvSpPr>
          <p:spPr>
            <a:xfrm>
              <a:off x="5804575" y="4097775"/>
              <a:ext cx="58000" cy="118225"/>
            </a:xfrm>
            <a:custGeom>
              <a:rect b="b" l="l" r="r" t="t"/>
              <a:pathLst>
                <a:path extrusionOk="0" h="4729" w="2320">
                  <a:moveTo>
                    <a:pt x="0" y="0"/>
                  </a:moveTo>
                  <a:lnTo>
                    <a:pt x="0" y="2677"/>
                  </a:lnTo>
                  <a:cubicBezTo>
                    <a:pt x="0" y="2748"/>
                    <a:pt x="36" y="2820"/>
                    <a:pt x="90" y="2855"/>
                  </a:cubicBezTo>
                  <a:lnTo>
                    <a:pt x="1963" y="4729"/>
                  </a:lnTo>
                  <a:lnTo>
                    <a:pt x="2320" y="4372"/>
                  </a:lnTo>
                  <a:lnTo>
                    <a:pt x="536" y="257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5"/>
            <p:cNvSpPr/>
            <p:nvPr/>
          </p:nvSpPr>
          <p:spPr>
            <a:xfrm>
              <a:off x="5804575" y="4071450"/>
              <a:ext cx="13400" cy="13400"/>
            </a:xfrm>
            <a:custGeom>
              <a:rect b="b" l="l" r="r" t="t"/>
              <a:pathLst>
                <a:path extrusionOk="0" h="536" w="536">
                  <a:moveTo>
                    <a:pt x="268" y="1"/>
                  </a:moveTo>
                  <a:cubicBezTo>
                    <a:pt x="125" y="1"/>
                    <a:pt x="0" y="126"/>
                    <a:pt x="0" y="268"/>
                  </a:cubicBezTo>
                  <a:cubicBezTo>
                    <a:pt x="0" y="411"/>
                    <a:pt x="125" y="536"/>
                    <a:pt x="268" y="536"/>
                  </a:cubicBezTo>
                  <a:cubicBezTo>
                    <a:pt x="411" y="536"/>
                    <a:pt x="536" y="411"/>
                    <a:pt x="536" y="268"/>
                  </a:cubicBezTo>
                  <a:cubicBezTo>
                    <a:pt x="536" y="126"/>
                    <a:pt x="411" y="1"/>
                    <a:pt x="268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5"/>
            <p:cNvSpPr/>
            <p:nvPr/>
          </p:nvSpPr>
          <p:spPr>
            <a:xfrm>
              <a:off x="5804575" y="4244525"/>
              <a:ext cx="13400" cy="12975"/>
            </a:xfrm>
            <a:custGeom>
              <a:rect b="b" l="l" r="r" t="t"/>
              <a:pathLst>
                <a:path extrusionOk="0" h="519" w="536">
                  <a:moveTo>
                    <a:pt x="268" y="1"/>
                  </a:moveTo>
                  <a:cubicBezTo>
                    <a:pt x="125" y="1"/>
                    <a:pt x="0" y="126"/>
                    <a:pt x="0" y="268"/>
                  </a:cubicBezTo>
                  <a:cubicBezTo>
                    <a:pt x="0" y="411"/>
                    <a:pt x="125" y="518"/>
                    <a:pt x="268" y="518"/>
                  </a:cubicBezTo>
                  <a:cubicBezTo>
                    <a:pt x="411" y="518"/>
                    <a:pt x="536" y="411"/>
                    <a:pt x="536" y="268"/>
                  </a:cubicBezTo>
                  <a:cubicBezTo>
                    <a:pt x="536" y="126"/>
                    <a:pt x="411" y="1"/>
                    <a:pt x="268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5"/>
            <p:cNvSpPr/>
            <p:nvPr/>
          </p:nvSpPr>
          <p:spPr>
            <a:xfrm>
              <a:off x="5718025" y="4158000"/>
              <a:ext cx="13425" cy="13400"/>
            </a:xfrm>
            <a:custGeom>
              <a:rect b="b" l="l" r="r" t="t"/>
              <a:pathLst>
                <a:path extrusionOk="0" h="536" w="537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35"/>
                    <a:pt x="269" y="535"/>
                  </a:cubicBezTo>
                  <a:cubicBezTo>
                    <a:pt x="411" y="535"/>
                    <a:pt x="536" y="411"/>
                    <a:pt x="536" y="268"/>
                  </a:cubicBezTo>
                  <a:cubicBezTo>
                    <a:pt x="536" y="125"/>
                    <a:pt x="411" y="0"/>
                    <a:pt x="26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5"/>
            <p:cNvSpPr/>
            <p:nvPr/>
          </p:nvSpPr>
          <p:spPr>
            <a:xfrm>
              <a:off x="5891100" y="4158000"/>
              <a:ext cx="13425" cy="13400"/>
            </a:xfrm>
            <a:custGeom>
              <a:rect b="b" l="l" r="r" t="t"/>
              <a:pathLst>
                <a:path extrusionOk="0" h="536" w="537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35"/>
                    <a:pt x="269" y="535"/>
                  </a:cubicBezTo>
                  <a:cubicBezTo>
                    <a:pt x="411" y="535"/>
                    <a:pt x="536" y="411"/>
                    <a:pt x="536" y="268"/>
                  </a:cubicBezTo>
                  <a:cubicBezTo>
                    <a:pt x="536" y="125"/>
                    <a:pt x="411" y="0"/>
                    <a:pt x="26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" name="Google Shape;224;p25"/>
          <p:cNvGrpSpPr/>
          <p:nvPr/>
        </p:nvGrpSpPr>
        <p:grpSpPr>
          <a:xfrm>
            <a:off x="8228520" y="2109762"/>
            <a:ext cx="695127" cy="734258"/>
            <a:chOff x="3927075" y="3612900"/>
            <a:chExt cx="251175" cy="266325"/>
          </a:xfrm>
        </p:grpSpPr>
        <p:sp>
          <p:nvSpPr>
            <p:cNvPr id="225" name="Google Shape;225;p25"/>
            <p:cNvSpPr/>
            <p:nvPr/>
          </p:nvSpPr>
          <p:spPr>
            <a:xfrm>
              <a:off x="4031450" y="3726200"/>
              <a:ext cx="40175" cy="39725"/>
            </a:xfrm>
            <a:custGeom>
              <a:rect b="b" l="l" r="r" t="t"/>
              <a:pathLst>
                <a:path extrusionOk="0" h="1589" w="1607">
                  <a:moveTo>
                    <a:pt x="804" y="1"/>
                  </a:moveTo>
                  <a:cubicBezTo>
                    <a:pt x="358" y="1"/>
                    <a:pt x="1" y="357"/>
                    <a:pt x="1" y="786"/>
                  </a:cubicBezTo>
                  <a:cubicBezTo>
                    <a:pt x="1" y="1232"/>
                    <a:pt x="358" y="1589"/>
                    <a:pt x="804" y="1589"/>
                  </a:cubicBezTo>
                  <a:cubicBezTo>
                    <a:pt x="1250" y="1589"/>
                    <a:pt x="1607" y="1232"/>
                    <a:pt x="1607" y="786"/>
                  </a:cubicBezTo>
                  <a:cubicBezTo>
                    <a:pt x="1607" y="357"/>
                    <a:pt x="1250" y="1"/>
                    <a:pt x="804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5"/>
            <p:cNvSpPr/>
            <p:nvPr/>
          </p:nvSpPr>
          <p:spPr>
            <a:xfrm>
              <a:off x="3927075" y="3612900"/>
              <a:ext cx="251175" cy="266325"/>
            </a:xfrm>
            <a:custGeom>
              <a:rect b="b" l="l" r="r" t="t"/>
              <a:pathLst>
                <a:path extrusionOk="0" h="10653" w="10047">
                  <a:moveTo>
                    <a:pt x="4979" y="536"/>
                  </a:moveTo>
                  <a:cubicBezTo>
                    <a:pt x="5389" y="536"/>
                    <a:pt x="5889" y="1249"/>
                    <a:pt x="6228" y="2463"/>
                  </a:cubicBezTo>
                  <a:cubicBezTo>
                    <a:pt x="5853" y="2606"/>
                    <a:pt x="5425" y="2766"/>
                    <a:pt x="5014" y="2945"/>
                  </a:cubicBezTo>
                  <a:cubicBezTo>
                    <a:pt x="4586" y="2748"/>
                    <a:pt x="4158" y="2570"/>
                    <a:pt x="3748" y="2445"/>
                  </a:cubicBezTo>
                  <a:cubicBezTo>
                    <a:pt x="4069" y="1232"/>
                    <a:pt x="4586" y="536"/>
                    <a:pt x="4979" y="536"/>
                  </a:cubicBezTo>
                  <a:close/>
                  <a:moveTo>
                    <a:pt x="6353" y="2980"/>
                  </a:moveTo>
                  <a:cubicBezTo>
                    <a:pt x="6406" y="3230"/>
                    <a:pt x="6442" y="3480"/>
                    <a:pt x="6478" y="3747"/>
                  </a:cubicBezTo>
                  <a:cubicBezTo>
                    <a:pt x="6335" y="3658"/>
                    <a:pt x="6210" y="3569"/>
                    <a:pt x="6049" y="3480"/>
                  </a:cubicBezTo>
                  <a:cubicBezTo>
                    <a:pt x="5907" y="3408"/>
                    <a:pt x="5782" y="3337"/>
                    <a:pt x="5639" y="3248"/>
                  </a:cubicBezTo>
                  <a:cubicBezTo>
                    <a:pt x="5871" y="3141"/>
                    <a:pt x="6121" y="3069"/>
                    <a:pt x="6353" y="2980"/>
                  </a:cubicBezTo>
                  <a:close/>
                  <a:moveTo>
                    <a:pt x="3605" y="2962"/>
                  </a:moveTo>
                  <a:cubicBezTo>
                    <a:pt x="3855" y="3034"/>
                    <a:pt x="4122" y="3141"/>
                    <a:pt x="4390" y="3248"/>
                  </a:cubicBezTo>
                  <a:cubicBezTo>
                    <a:pt x="4265" y="3319"/>
                    <a:pt x="4122" y="3391"/>
                    <a:pt x="3980" y="3480"/>
                  </a:cubicBezTo>
                  <a:cubicBezTo>
                    <a:pt x="3819" y="3587"/>
                    <a:pt x="3658" y="3694"/>
                    <a:pt x="3480" y="3801"/>
                  </a:cubicBezTo>
                  <a:cubicBezTo>
                    <a:pt x="3516" y="3498"/>
                    <a:pt x="3551" y="3230"/>
                    <a:pt x="3605" y="2962"/>
                  </a:cubicBezTo>
                  <a:close/>
                  <a:moveTo>
                    <a:pt x="1785" y="2623"/>
                  </a:moveTo>
                  <a:cubicBezTo>
                    <a:pt x="2178" y="2623"/>
                    <a:pt x="2606" y="2695"/>
                    <a:pt x="3087" y="2820"/>
                  </a:cubicBezTo>
                  <a:cubicBezTo>
                    <a:pt x="2998" y="3230"/>
                    <a:pt x="2927" y="3712"/>
                    <a:pt x="2891" y="4194"/>
                  </a:cubicBezTo>
                  <a:cubicBezTo>
                    <a:pt x="2517" y="4461"/>
                    <a:pt x="2178" y="4711"/>
                    <a:pt x="1892" y="4996"/>
                  </a:cubicBezTo>
                  <a:cubicBezTo>
                    <a:pt x="1000" y="4086"/>
                    <a:pt x="625" y="3284"/>
                    <a:pt x="821" y="2927"/>
                  </a:cubicBezTo>
                  <a:cubicBezTo>
                    <a:pt x="946" y="2730"/>
                    <a:pt x="1285" y="2623"/>
                    <a:pt x="1785" y="2623"/>
                  </a:cubicBezTo>
                  <a:close/>
                  <a:moveTo>
                    <a:pt x="8244" y="2623"/>
                  </a:moveTo>
                  <a:cubicBezTo>
                    <a:pt x="8726" y="2623"/>
                    <a:pt x="9083" y="2748"/>
                    <a:pt x="9208" y="2927"/>
                  </a:cubicBezTo>
                  <a:cubicBezTo>
                    <a:pt x="9404" y="3284"/>
                    <a:pt x="9047" y="4086"/>
                    <a:pt x="8137" y="4996"/>
                  </a:cubicBezTo>
                  <a:cubicBezTo>
                    <a:pt x="7816" y="4693"/>
                    <a:pt x="7459" y="4408"/>
                    <a:pt x="7049" y="4122"/>
                  </a:cubicBezTo>
                  <a:cubicBezTo>
                    <a:pt x="7013" y="3676"/>
                    <a:pt x="6941" y="3230"/>
                    <a:pt x="6852" y="2837"/>
                  </a:cubicBezTo>
                  <a:cubicBezTo>
                    <a:pt x="7352" y="2695"/>
                    <a:pt x="7851" y="2623"/>
                    <a:pt x="8244" y="2623"/>
                  </a:cubicBezTo>
                  <a:close/>
                  <a:moveTo>
                    <a:pt x="2856" y="4872"/>
                  </a:moveTo>
                  <a:cubicBezTo>
                    <a:pt x="2856" y="5032"/>
                    <a:pt x="2856" y="5175"/>
                    <a:pt x="2856" y="5318"/>
                  </a:cubicBezTo>
                  <a:cubicBezTo>
                    <a:pt x="2856" y="5496"/>
                    <a:pt x="2856" y="5674"/>
                    <a:pt x="2856" y="5835"/>
                  </a:cubicBezTo>
                  <a:cubicBezTo>
                    <a:pt x="2659" y="5674"/>
                    <a:pt x="2463" y="5514"/>
                    <a:pt x="2285" y="5353"/>
                  </a:cubicBezTo>
                  <a:cubicBezTo>
                    <a:pt x="2463" y="5193"/>
                    <a:pt x="2659" y="5032"/>
                    <a:pt x="2856" y="4872"/>
                  </a:cubicBezTo>
                  <a:close/>
                  <a:moveTo>
                    <a:pt x="7102" y="4818"/>
                  </a:moveTo>
                  <a:cubicBezTo>
                    <a:pt x="7334" y="5014"/>
                    <a:pt x="7548" y="5193"/>
                    <a:pt x="7744" y="5371"/>
                  </a:cubicBezTo>
                  <a:cubicBezTo>
                    <a:pt x="7548" y="5550"/>
                    <a:pt x="7334" y="5728"/>
                    <a:pt x="7102" y="5906"/>
                  </a:cubicBezTo>
                  <a:cubicBezTo>
                    <a:pt x="7102" y="5710"/>
                    <a:pt x="7102" y="5532"/>
                    <a:pt x="7102" y="5335"/>
                  </a:cubicBezTo>
                  <a:cubicBezTo>
                    <a:pt x="7102" y="5157"/>
                    <a:pt x="7102" y="4979"/>
                    <a:pt x="7102" y="4818"/>
                  </a:cubicBezTo>
                  <a:close/>
                  <a:moveTo>
                    <a:pt x="5014" y="3551"/>
                  </a:moveTo>
                  <a:cubicBezTo>
                    <a:pt x="5264" y="3658"/>
                    <a:pt x="5514" y="3801"/>
                    <a:pt x="5782" y="3944"/>
                  </a:cubicBezTo>
                  <a:cubicBezTo>
                    <a:pt x="6049" y="4104"/>
                    <a:pt x="6317" y="4265"/>
                    <a:pt x="6549" y="4425"/>
                  </a:cubicBezTo>
                  <a:cubicBezTo>
                    <a:pt x="6585" y="4711"/>
                    <a:pt x="6585" y="5014"/>
                    <a:pt x="6585" y="5318"/>
                  </a:cubicBezTo>
                  <a:cubicBezTo>
                    <a:pt x="6585" y="5657"/>
                    <a:pt x="6567" y="5978"/>
                    <a:pt x="6531" y="6299"/>
                  </a:cubicBezTo>
                  <a:cubicBezTo>
                    <a:pt x="6317" y="6424"/>
                    <a:pt x="6103" y="6567"/>
                    <a:pt x="5853" y="6709"/>
                  </a:cubicBezTo>
                  <a:cubicBezTo>
                    <a:pt x="5585" y="6870"/>
                    <a:pt x="5300" y="7030"/>
                    <a:pt x="5014" y="7155"/>
                  </a:cubicBezTo>
                  <a:cubicBezTo>
                    <a:pt x="4747" y="7030"/>
                    <a:pt x="4461" y="6870"/>
                    <a:pt x="4176" y="6709"/>
                  </a:cubicBezTo>
                  <a:cubicBezTo>
                    <a:pt x="3908" y="6549"/>
                    <a:pt x="3658" y="6388"/>
                    <a:pt x="3409" y="6228"/>
                  </a:cubicBezTo>
                  <a:cubicBezTo>
                    <a:pt x="3391" y="5942"/>
                    <a:pt x="3391" y="5657"/>
                    <a:pt x="3391" y="5318"/>
                  </a:cubicBezTo>
                  <a:cubicBezTo>
                    <a:pt x="3391" y="5032"/>
                    <a:pt x="3391" y="4764"/>
                    <a:pt x="3409" y="4479"/>
                  </a:cubicBezTo>
                  <a:cubicBezTo>
                    <a:pt x="3676" y="4301"/>
                    <a:pt x="3944" y="4122"/>
                    <a:pt x="4265" y="3944"/>
                  </a:cubicBezTo>
                  <a:cubicBezTo>
                    <a:pt x="4515" y="3801"/>
                    <a:pt x="4765" y="3658"/>
                    <a:pt x="5014" y="3551"/>
                  </a:cubicBezTo>
                  <a:close/>
                  <a:moveTo>
                    <a:pt x="6478" y="6959"/>
                  </a:moveTo>
                  <a:cubicBezTo>
                    <a:pt x="6424" y="7227"/>
                    <a:pt x="6388" y="7477"/>
                    <a:pt x="6353" y="7691"/>
                  </a:cubicBezTo>
                  <a:cubicBezTo>
                    <a:pt x="6121" y="7619"/>
                    <a:pt x="5871" y="7530"/>
                    <a:pt x="5639" y="7423"/>
                  </a:cubicBezTo>
                  <a:cubicBezTo>
                    <a:pt x="5800" y="7352"/>
                    <a:pt x="5960" y="7262"/>
                    <a:pt x="6121" y="7155"/>
                  </a:cubicBezTo>
                  <a:cubicBezTo>
                    <a:pt x="6246" y="7102"/>
                    <a:pt x="6371" y="7030"/>
                    <a:pt x="6478" y="6959"/>
                  </a:cubicBezTo>
                  <a:close/>
                  <a:moveTo>
                    <a:pt x="3480" y="6906"/>
                  </a:moveTo>
                  <a:lnTo>
                    <a:pt x="3480" y="6906"/>
                  </a:lnTo>
                  <a:cubicBezTo>
                    <a:pt x="3641" y="7013"/>
                    <a:pt x="3766" y="7084"/>
                    <a:pt x="3926" y="7173"/>
                  </a:cubicBezTo>
                  <a:cubicBezTo>
                    <a:pt x="4069" y="7262"/>
                    <a:pt x="4229" y="7352"/>
                    <a:pt x="4390" y="7423"/>
                  </a:cubicBezTo>
                  <a:cubicBezTo>
                    <a:pt x="4122" y="7530"/>
                    <a:pt x="3873" y="7637"/>
                    <a:pt x="3623" y="7709"/>
                  </a:cubicBezTo>
                  <a:cubicBezTo>
                    <a:pt x="3569" y="7459"/>
                    <a:pt x="3534" y="7191"/>
                    <a:pt x="3480" y="6906"/>
                  </a:cubicBezTo>
                  <a:close/>
                  <a:moveTo>
                    <a:pt x="1910" y="5728"/>
                  </a:moveTo>
                  <a:cubicBezTo>
                    <a:pt x="2213" y="5996"/>
                    <a:pt x="2552" y="6263"/>
                    <a:pt x="2909" y="6531"/>
                  </a:cubicBezTo>
                  <a:cubicBezTo>
                    <a:pt x="2945" y="6995"/>
                    <a:pt x="3016" y="7441"/>
                    <a:pt x="3105" y="7851"/>
                  </a:cubicBezTo>
                  <a:cubicBezTo>
                    <a:pt x="2659" y="7976"/>
                    <a:pt x="2231" y="8030"/>
                    <a:pt x="1856" y="8030"/>
                  </a:cubicBezTo>
                  <a:cubicBezTo>
                    <a:pt x="1375" y="8030"/>
                    <a:pt x="1018" y="7905"/>
                    <a:pt x="911" y="7726"/>
                  </a:cubicBezTo>
                  <a:cubicBezTo>
                    <a:pt x="697" y="7387"/>
                    <a:pt x="1053" y="6602"/>
                    <a:pt x="1910" y="5728"/>
                  </a:cubicBezTo>
                  <a:close/>
                  <a:moveTo>
                    <a:pt x="8137" y="5728"/>
                  </a:moveTo>
                  <a:cubicBezTo>
                    <a:pt x="8976" y="6602"/>
                    <a:pt x="9332" y="7387"/>
                    <a:pt x="9136" y="7726"/>
                  </a:cubicBezTo>
                  <a:cubicBezTo>
                    <a:pt x="9011" y="7923"/>
                    <a:pt x="8672" y="8030"/>
                    <a:pt x="8173" y="8030"/>
                  </a:cubicBezTo>
                  <a:cubicBezTo>
                    <a:pt x="7780" y="8030"/>
                    <a:pt x="7334" y="7958"/>
                    <a:pt x="6870" y="7851"/>
                  </a:cubicBezTo>
                  <a:cubicBezTo>
                    <a:pt x="6941" y="7441"/>
                    <a:pt x="7013" y="7030"/>
                    <a:pt x="7049" y="6584"/>
                  </a:cubicBezTo>
                  <a:cubicBezTo>
                    <a:pt x="7459" y="6299"/>
                    <a:pt x="7816" y="6031"/>
                    <a:pt x="8137" y="5728"/>
                  </a:cubicBezTo>
                  <a:close/>
                  <a:moveTo>
                    <a:pt x="5014" y="7744"/>
                  </a:moveTo>
                  <a:cubicBezTo>
                    <a:pt x="5425" y="7923"/>
                    <a:pt x="5835" y="8083"/>
                    <a:pt x="6210" y="8208"/>
                  </a:cubicBezTo>
                  <a:cubicBezTo>
                    <a:pt x="5871" y="9421"/>
                    <a:pt x="5389" y="10117"/>
                    <a:pt x="4979" y="10117"/>
                  </a:cubicBezTo>
                  <a:cubicBezTo>
                    <a:pt x="4586" y="10117"/>
                    <a:pt x="4069" y="9421"/>
                    <a:pt x="3748" y="8226"/>
                  </a:cubicBezTo>
                  <a:cubicBezTo>
                    <a:pt x="4158" y="8101"/>
                    <a:pt x="4586" y="7940"/>
                    <a:pt x="5014" y="7744"/>
                  </a:cubicBezTo>
                  <a:close/>
                  <a:moveTo>
                    <a:pt x="4979" y="0"/>
                  </a:moveTo>
                  <a:cubicBezTo>
                    <a:pt x="4265" y="0"/>
                    <a:pt x="3605" y="910"/>
                    <a:pt x="3230" y="2302"/>
                  </a:cubicBezTo>
                  <a:cubicBezTo>
                    <a:pt x="2695" y="2159"/>
                    <a:pt x="2213" y="2088"/>
                    <a:pt x="1803" y="2088"/>
                  </a:cubicBezTo>
                  <a:cubicBezTo>
                    <a:pt x="1107" y="2088"/>
                    <a:pt x="590" y="2267"/>
                    <a:pt x="375" y="2659"/>
                  </a:cubicBezTo>
                  <a:cubicBezTo>
                    <a:pt x="1" y="3301"/>
                    <a:pt x="482" y="4318"/>
                    <a:pt x="1517" y="5353"/>
                  </a:cubicBezTo>
                  <a:cubicBezTo>
                    <a:pt x="536" y="6370"/>
                    <a:pt x="72" y="7352"/>
                    <a:pt x="447" y="7976"/>
                  </a:cubicBezTo>
                  <a:cubicBezTo>
                    <a:pt x="661" y="8369"/>
                    <a:pt x="1178" y="8547"/>
                    <a:pt x="1856" y="8547"/>
                  </a:cubicBezTo>
                  <a:cubicBezTo>
                    <a:pt x="2267" y="8547"/>
                    <a:pt x="2731" y="8494"/>
                    <a:pt x="3230" y="8369"/>
                  </a:cubicBezTo>
                  <a:cubicBezTo>
                    <a:pt x="3623" y="9743"/>
                    <a:pt x="4265" y="10653"/>
                    <a:pt x="4979" y="10653"/>
                  </a:cubicBezTo>
                  <a:cubicBezTo>
                    <a:pt x="5693" y="10653"/>
                    <a:pt x="6353" y="9743"/>
                    <a:pt x="6727" y="8369"/>
                  </a:cubicBezTo>
                  <a:cubicBezTo>
                    <a:pt x="7245" y="8494"/>
                    <a:pt x="7727" y="8583"/>
                    <a:pt x="8155" y="8583"/>
                  </a:cubicBezTo>
                  <a:cubicBezTo>
                    <a:pt x="8851" y="8583"/>
                    <a:pt x="9350" y="8387"/>
                    <a:pt x="9582" y="8012"/>
                  </a:cubicBezTo>
                  <a:cubicBezTo>
                    <a:pt x="9939" y="7387"/>
                    <a:pt x="9493" y="6388"/>
                    <a:pt x="8512" y="5389"/>
                  </a:cubicBezTo>
                  <a:cubicBezTo>
                    <a:pt x="9564" y="4336"/>
                    <a:pt x="10046" y="3301"/>
                    <a:pt x="9671" y="2659"/>
                  </a:cubicBezTo>
                  <a:cubicBezTo>
                    <a:pt x="9439" y="2284"/>
                    <a:pt x="8940" y="2106"/>
                    <a:pt x="8244" y="2106"/>
                  </a:cubicBezTo>
                  <a:cubicBezTo>
                    <a:pt x="7798" y="2106"/>
                    <a:pt x="7298" y="2177"/>
                    <a:pt x="6745" y="2320"/>
                  </a:cubicBezTo>
                  <a:cubicBezTo>
                    <a:pt x="6353" y="928"/>
                    <a:pt x="5710" y="0"/>
                    <a:pt x="497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" name="Google Shape;227;p25"/>
          <p:cNvGrpSpPr/>
          <p:nvPr/>
        </p:nvGrpSpPr>
        <p:grpSpPr>
          <a:xfrm>
            <a:off x="8228690" y="4430070"/>
            <a:ext cx="694810" cy="811823"/>
            <a:chOff x="6907250" y="4018375"/>
            <a:chExt cx="226625" cy="265875"/>
          </a:xfrm>
        </p:grpSpPr>
        <p:sp>
          <p:nvSpPr>
            <p:cNvPr id="228" name="Google Shape;228;p25"/>
            <p:cNvSpPr/>
            <p:nvPr/>
          </p:nvSpPr>
          <p:spPr>
            <a:xfrm>
              <a:off x="6953650" y="4018375"/>
              <a:ext cx="133375" cy="119575"/>
            </a:xfrm>
            <a:custGeom>
              <a:rect b="b" l="l" r="r" t="t"/>
              <a:pathLst>
                <a:path extrusionOk="0" h="4783" w="5335">
                  <a:moveTo>
                    <a:pt x="2659" y="786"/>
                  </a:moveTo>
                  <a:cubicBezTo>
                    <a:pt x="3337" y="786"/>
                    <a:pt x="3854" y="1321"/>
                    <a:pt x="3854" y="1981"/>
                  </a:cubicBezTo>
                  <a:lnTo>
                    <a:pt x="1463" y="1981"/>
                  </a:lnTo>
                  <a:cubicBezTo>
                    <a:pt x="1463" y="1321"/>
                    <a:pt x="1998" y="786"/>
                    <a:pt x="2659" y="786"/>
                  </a:cubicBezTo>
                  <a:close/>
                  <a:moveTo>
                    <a:pt x="2659" y="0"/>
                  </a:moveTo>
                  <a:cubicBezTo>
                    <a:pt x="1570" y="0"/>
                    <a:pt x="660" y="893"/>
                    <a:pt x="660" y="1981"/>
                  </a:cubicBezTo>
                  <a:lnTo>
                    <a:pt x="0" y="1981"/>
                  </a:lnTo>
                  <a:lnTo>
                    <a:pt x="0" y="4515"/>
                  </a:lnTo>
                  <a:cubicBezTo>
                    <a:pt x="0" y="4657"/>
                    <a:pt x="125" y="4782"/>
                    <a:pt x="268" y="4782"/>
                  </a:cubicBezTo>
                  <a:lnTo>
                    <a:pt x="2123" y="4782"/>
                  </a:lnTo>
                  <a:lnTo>
                    <a:pt x="2123" y="4515"/>
                  </a:lnTo>
                  <a:cubicBezTo>
                    <a:pt x="2123" y="4372"/>
                    <a:pt x="2248" y="4247"/>
                    <a:pt x="2391" y="4247"/>
                  </a:cubicBezTo>
                  <a:lnTo>
                    <a:pt x="2926" y="4247"/>
                  </a:lnTo>
                  <a:cubicBezTo>
                    <a:pt x="3087" y="4247"/>
                    <a:pt x="3194" y="4372"/>
                    <a:pt x="3194" y="4515"/>
                  </a:cubicBezTo>
                  <a:lnTo>
                    <a:pt x="3194" y="4782"/>
                  </a:lnTo>
                  <a:lnTo>
                    <a:pt x="5067" y="4782"/>
                  </a:lnTo>
                  <a:cubicBezTo>
                    <a:pt x="5210" y="4782"/>
                    <a:pt x="5335" y="4657"/>
                    <a:pt x="5335" y="4515"/>
                  </a:cubicBezTo>
                  <a:lnTo>
                    <a:pt x="5335" y="1981"/>
                  </a:lnTo>
                  <a:lnTo>
                    <a:pt x="4657" y="1981"/>
                  </a:lnTo>
                  <a:cubicBezTo>
                    <a:pt x="4657" y="893"/>
                    <a:pt x="3765" y="0"/>
                    <a:pt x="265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5"/>
            <p:cNvSpPr/>
            <p:nvPr/>
          </p:nvSpPr>
          <p:spPr>
            <a:xfrm>
              <a:off x="6967025" y="4234275"/>
              <a:ext cx="106625" cy="49975"/>
            </a:xfrm>
            <a:custGeom>
              <a:rect b="b" l="l" r="r" t="t"/>
              <a:pathLst>
                <a:path extrusionOk="0" h="1999" w="4265">
                  <a:moveTo>
                    <a:pt x="179" y="0"/>
                  </a:moveTo>
                  <a:cubicBezTo>
                    <a:pt x="90" y="0"/>
                    <a:pt x="0" y="89"/>
                    <a:pt x="0" y="179"/>
                  </a:cubicBezTo>
                  <a:lnTo>
                    <a:pt x="0" y="1999"/>
                  </a:lnTo>
                  <a:lnTo>
                    <a:pt x="4265" y="1999"/>
                  </a:lnTo>
                  <a:lnTo>
                    <a:pt x="4265" y="179"/>
                  </a:lnTo>
                  <a:cubicBezTo>
                    <a:pt x="4265" y="89"/>
                    <a:pt x="4176" y="0"/>
                    <a:pt x="408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5"/>
            <p:cNvSpPr/>
            <p:nvPr/>
          </p:nvSpPr>
          <p:spPr>
            <a:xfrm>
              <a:off x="6907250" y="4071900"/>
              <a:ext cx="226625" cy="212350"/>
            </a:xfrm>
            <a:custGeom>
              <a:rect b="b" l="l" r="r" t="t"/>
              <a:pathLst>
                <a:path extrusionOk="0" h="8494" w="9065">
                  <a:moveTo>
                    <a:pt x="1321" y="1"/>
                  </a:moveTo>
                  <a:cubicBezTo>
                    <a:pt x="1000" y="179"/>
                    <a:pt x="786" y="554"/>
                    <a:pt x="786" y="911"/>
                  </a:cubicBezTo>
                  <a:lnTo>
                    <a:pt x="786" y="4104"/>
                  </a:lnTo>
                  <a:lnTo>
                    <a:pt x="536" y="4104"/>
                  </a:lnTo>
                  <a:cubicBezTo>
                    <a:pt x="232" y="4104"/>
                    <a:pt x="0" y="4354"/>
                    <a:pt x="0" y="4640"/>
                  </a:cubicBezTo>
                  <a:lnTo>
                    <a:pt x="0" y="6763"/>
                  </a:lnTo>
                  <a:cubicBezTo>
                    <a:pt x="0" y="7066"/>
                    <a:pt x="232" y="7298"/>
                    <a:pt x="536" y="7298"/>
                  </a:cubicBezTo>
                  <a:lnTo>
                    <a:pt x="786" y="7298"/>
                  </a:lnTo>
                  <a:lnTo>
                    <a:pt x="786" y="7958"/>
                  </a:lnTo>
                  <a:cubicBezTo>
                    <a:pt x="786" y="8262"/>
                    <a:pt x="1035" y="8494"/>
                    <a:pt x="1321" y="8494"/>
                  </a:cubicBezTo>
                  <a:lnTo>
                    <a:pt x="1856" y="8494"/>
                  </a:lnTo>
                  <a:lnTo>
                    <a:pt x="1856" y="6674"/>
                  </a:lnTo>
                  <a:cubicBezTo>
                    <a:pt x="1856" y="6299"/>
                    <a:pt x="2177" y="5960"/>
                    <a:pt x="2570" y="5960"/>
                  </a:cubicBezTo>
                  <a:lnTo>
                    <a:pt x="6495" y="5960"/>
                  </a:lnTo>
                  <a:cubicBezTo>
                    <a:pt x="6888" y="5960"/>
                    <a:pt x="7191" y="6299"/>
                    <a:pt x="7191" y="6674"/>
                  </a:cubicBezTo>
                  <a:lnTo>
                    <a:pt x="7191" y="8494"/>
                  </a:lnTo>
                  <a:lnTo>
                    <a:pt x="7726" y="8494"/>
                  </a:lnTo>
                  <a:cubicBezTo>
                    <a:pt x="8030" y="8494"/>
                    <a:pt x="8262" y="8262"/>
                    <a:pt x="8262" y="7958"/>
                  </a:cubicBezTo>
                  <a:lnTo>
                    <a:pt x="8262" y="7298"/>
                  </a:lnTo>
                  <a:lnTo>
                    <a:pt x="8529" y="7298"/>
                  </a:lnTo>
                  <a:cubicBezTo>
                    <a:pt x="8815" y="7298"/>
                    <a:pt x="9065" y="7066"/>
                    <a:pt x="9065" y="6763"/>
                  </a:cubicBezTo>
                  <a:lnTo>
                    <a:pt x="9065" y="4640"/>
                  </a:lnTo>
                  <a:cubicBezTo>
                    <a:pt x="9047" y="4354"/>
                    <a:pt x="8815" y="4104"/>
                    <a:pt x="8511" y="4104"/>
                  </a:cubicBezTo>
                  <a:lnTo>
                    <a:pt x="8244" y="4104"/>
                  </a:lnTo>
                  <a:lnTo>
                    <a:pt x="8244" y="911"/>
                  </a:lnTo>
                  <a:cubicBezTo>
                    <a:pt x="8244" y="536"/>
                    <a:pt x="8047" y="179"/>
                    <a:pt x="7708" y="1"/>
                  </a:cubicBezTo>
                  <a:lnTo>
                    <a:pt x="7708" y="2374"/>
                  </a:lnTo>
                  <a:cubicBezTo>
                    <a:pt x="7708" y="2820"/>
                    <a:pt x="7352" y="3177"/>
                    <a:pt x="6923" y="3177"/>
                  </a:cubicBezTo>
                  <a:lnTo>
                    <a:pt x="5050" y="3177"/>
                  </a:lnTo>
                  <a:lnTo>
                    <a:pt x="5050" y="3444"/>
                  </a:lnTo>
                  <a:cubicBezTo>
                    <a:pt x="5050" y="3587"/>
                    <a:pt x="4943" y="3712"/>
                    <a:pt x="4782" y="3712"/>
                  </a:cubicBezTo>
                  <a:lnTo>
                    <a:pt x="4247" y="3712"/>
                  </a:lnTo>
                  <a:cubicBezTo>
                    <a:pt x="4104" y="3712"/>
                    <a:pt x="3979" y="3587"/>
                    <a:pt x="3979" y="3444"/>
                  </a:cubicBezTo>
                  <a:lnTo>
                    <a:pt x="3979" y="3177"/>
                  </a:lnTo>
                  <a:lnTo>
                    <a:pt x="2124" y="3177"/>
                  </a:lnTo>
                  <a:cubicBezTo>
                    <a:pt x="1695" y="3177"/>
                    <a:pt x="1321" y="2820"/>
                    <a:pt x="1321" y="2374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/>
          <p:nvPr/>
        </p:nvSpPr>
        <p:spPr>
          <a:xfrm>
            <a:off x="0" y="96925"/>
            <a:ext cx="12192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MICIP - District Agenda (Part 1)</a:t>
            </a:r>
            <a:endParaRPr b="1"/>
          </a:p>
        </p:txBody>
      </p:sp>
      <p:pic>
        <p:nvPicPr>
          <p:cNvPr id="236" name="Google Shape;2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8500" y="860925"/>
            <a:ext cx="4756125" cy="582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0100" y="821150"/>
            <a:ext cx="4756126" cy="590034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 txBox="1"/>
          <p:nvPr/>
        </p:nvSpPr>
        <p:spPr>
          <a:xfrm>
            <a:off x="153425" y="876700"/>
            <a:ext cx="2152800" cy="582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8899" lvl="0" marL="26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/>
              <a:t>Create 5 district improvement meetings each year.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/>
              <a:t> </a:t>
            </a:r>
            <a:endParaRPr sz="800"/>
          </a:p>
          <a:p>
            <a:pPr indent="-268899" lvl="0" marL="26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/>
              <a:t>Submit them all to MOECS for SCECHS.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/>
              <a:t>  </a:t>
            </a:r>
            <a:endParaRPr sz="800"/>
          </a:p>
          <a:p>
            <a:pPr indent="-268899" lvl="0" marL="26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/>
              <a:t>Include each part of the MICIP process on every agenda.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dk1"/>
                </a:solidFill>
              </a:rPr>
              <a:t>  </a:t>
            </a:r>
            <a:endParaRPr/>
          </a:p>
          <a:p>
            <a:pPr indent="-268899" lvl="0" marL="269999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Char char="●"/>
            </a:pPr>
            <a:r>
              <a:rPr i="1" lang="es-ES">
                <a:solidFill>
                  <a:srgbClr val="38761D"/>
                </a:solidFill>
              </a:rPr>
              <a:t>Green Italic Font lists the breadcrumbs to finding/placing documents later.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dk1"/>
                </a:solidFill>
              </a:rPr>
              <a:t>  </a:t>
            </a:r>
            <a:endParaRPr i="1">
              <a:solidFill>
                <a:srgbClr val="38761D"/>
              </a:solidFill>
            </a:endParaRPr>
          </a:p>
          <a:p>
            <a:pPr indent="-268899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>
                <a:solidFill>
                  <a:schemeClr val="dk1"/>
                </a:solidFill>
              </a:rPr>
              <a:t>Hyperlink any </a:t>
            </a:r>
            <a:r>
              <a:rPr lang="es-ES">
                <a:solidFill>
                  <a:schemeClr val="dk1"/>
                </a:solidFill>
              </a:rPr>
              <a:t>document</a:t>
            </a:r>
            <a:r>
              <a:rPr lang="es-ES">
                <a:solidFill>
                  <a:schemeClr val="dk1"/>
                </a:solidFill>
              </a:rPr>
              <a:t> you want the team to work in/on during the meeting. 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indent="-268899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>
                <a:solidFill>
                  <a:schemeClr val="dk1"/>
                </a:solidFill>
              </a:rPr>
              <a:t>Put things in writing that are important so teams can return to consistent information.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/>
        </p:nvSpPr>
        <p:spPr>
          <a:xfrm>
            <a:off x="13" y="298650"/>
            <a:ext cx="12192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MICIP - District Agenda (Part 2)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244" name="Google Shape;2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26" y="883349"/>
            <a:ext cx="4966300" cy="57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273" y="883348"/>
            <a:ext cx="4573986" cy="57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7"/>
          <p:cNvSpPr txBox="1"/>
          <p:nvPr/>
        </p:nvSpPr>
        <p:spPr>
          <a:xfrm>
            <a:off x="9945400" y="847150"/>
            <a:ext cx="2152800" cy="582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8899" lvl="0" marL="26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/>
              <a:t>In include an additional section for state and federal programs requirements to ensure compliance.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/>
              <a:t> </a:t>
            </a:r>
            <a:endParaRPr sz="800"/>
          </a:p>
          <a:p>
            <a:pPr indent="-268899" lvl="0" marL="26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/>
              <a:t>Allow a space for buildings to report to the group their progress.  </a:t>
            </a:r>
            <a:r>
              <a:rPr lang="es-ES">
                <a:highlight>
                  <a:srgbClr val="FFF2CC"/>
                </a:highlight>
              </a:rPr>
              <a:t>Color coding allows them to </a:t>
            </a:r>
            <a:r>
              <a:rPr lang="es-ES">
                <a:highlight>
                  <a:srgbClr val="FFF2CC"/>
                </a:highlight>
              </a:rPr>
              <a:t>review</a:t>
            </a:r>
            <a:r>
              <a:rPr lang="es-ES">
                <a:highlight>
                  <a:srgbClr val="FFF2CC"/>
                </a:highlight>
              </a:rPr>
              <a:t> what needs to be done in the future. </a:t>
            </a:r>
            <a:endParaRPr>
              <a:highlight>
                <a:srgbClr val="FFF2CC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/>
              <a:t>  </a:t>
            </a:r>
            <a:endParaRPr sz="800"/>
          </a:p>
          <a:p>
            <a:pPr indent="-268899" lvl="0" marL="26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/>
              <a:t>Ask for the date they will share with their building, and get feedback.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268899" lvl="0" marL="26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/>
              <a:t>Outline “</a:t>
            </a:r>
            <a:r>
              <a:rPr lang="es-ES"/>
              <a:t>homework</a:t>
            </a:r>
            <a:r>
              <a:rPr lang="es-ES"/>
              <a:t>” including what buildings need to bring to the next meeting.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/>
          <p:nvPr/>
        </p:nvSpPr>
        <p:spPr>
          <a:xfrm>
            <a:off x="6273592" y="4407984"/>
            <a:ext cx="27300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8"/>
          <p:cNvSpPr txBox="1"/>
          <p:nvPr/>
        </p:nvSpPr>
        <p:spPr>
          <a:xfrm>
            <a:off x="9274930" y="4407984"/>
            <a:ext cx="27300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 txBox="1"/>
          <p:nvPr/>
        </p:nvSpPr>
        <p:spPr>
          <a:xfrm>
            <a:off x="2100725" y="624825"/>
            <a:ext cx="99003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Setting Up Your </a:t>
            </a:r>
            <a:r>
              <a:rPr b="1" lang="es-ES" sz="4000">
                <a:solidFill>
                  <a:srgbClr val="1BACB1"/>
                </a:solidFill>
                <a:latin typeface="Barlow"/>
                <a:ea typeface="Barlow"/>
                <a:cs typeface="Barlow"/>
                <a:sym typeface="Barlow"/>
              </a:rPr>
              <a:t>Needs </a:t>
            </a:r>
            <a:r>
              <a:rPr b="1" lang="es-ES" sz="4000">
                <a:solidFill>
                  <a:srgbClr val="1BACB1"/>
                </a:solidFill>
                <a:latin typeface="Barlow"/>
                <a:ea typeface="Barlow"/>
                <a:cs typeface="Barlow"/>
                <a:sym typeface="Barlow"/>
              </a:rPr>
              <a:t>Assessment</a:t>
            </a:r>
            <a:endParaRPr b="1" sz="4000">
              <a:solidFill>
                <a:srgbClr val="1BACB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391886" y="827372"/>
            <a:ext cx="182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255" name="Google Shape;255;p28"/>
          <p:cNvCxnSpPr/>
          <p:nvPr/>
        </p:nvCxnSpPr>
        <p:spPr>
          <a:xfrm>
            <a:off x="560779" y="917170"/>
            <a:ext cx="1229100" cy="0"/>
          </a:xfrm>
          <a:prstGeom prst="straightConnector1">
            <a:avLst/>
          </a:prstGeom>
          <a:noFill/>
          <a:ln cap="flat" cmpd="sng" w="19050">
            <a:solidFill>
              <a:srgbClr val="C998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6" name="Google Shape;256;p28"/>
          <p:cNvSpPr txBox="1"/>
          <p:nvPr/>
        </p:nvSpPr>
        <p:spPr>
          <a:xfrm>
            <a:off x="464250" y="1785825"/>
            <a:ext cx="11263500" cy="469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13" y="106350"/>
            <a:ext cx="1594925" cy="162165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8"/>
          <p:cNvSpPr txBox="1"/>
          <p:nvPr/>
        </p:nvSpPr>
        <p:spPr>
          <a:xfrm>
            <a:off x="560775" y="1939950"/>
            <a:ext cx="2013300" cy="444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/>
              <a:t>YEAR 1 - </a:t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/>
              <a:t>ASSESSING NEEDS</a:t>
            </a:r>
            <a:r>
              <a:rPr lang="es-E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Do a deep dive in all data.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Use this to determine District Goals and District Strategies.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Buildings</a:t>
            </a:r>
            <a:r>
              <a:rPr lang="es-ES"/>
              <a:t> will identify needs unique to them for individual activities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8"/>
          <p:cNvSpPr txBox="1"/>
          <p:nvPr/>
        </p:nvSpPr>
        <p:spPr>
          <a:xfrm>
            <a:off x="5546900" y="1837775"/>
            <a:ext cx="6030000" cy="4548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1BAC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>
                <a:solidFill>
                  <a:schemeClr val="dk1"/>
                </a:solidFill>
              </a:rPr>
              <a:t>YEAR 1 and annually after- ASSESSING NEEDS</a:t>
            </a:r>
            <a:r>
              <a:rPr lang="es-ES">
                <a:solidFill>
                  <a:schemeClr val="dk1"/>
                </a:solidFill>
              </a:rPr>
              <a:t> to Build your Activities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Collect the Same Data Every Year to Monitor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s-ES"/>
              <a:t>Achievement:</a:t>
            </a:r>
            <a:r>
              <a:rPr lang="es-ES"/>
              <a:t> State and Local; All and Student Groups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s-ES"/>
              <a:t>Demographic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s-ES"/>
              <a:t>Perception:</a:t>
            </a:r>
            <a:r>
              <a:rPr lang="es-ES"/>
              <a:t> From Students / Parents / Staff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s-ES"/>
              <a:t>Process Data</a:t>
            </a:r>
            <a:r>
              <a:rPr lang="es-ES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Collect it in the same way every year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Build your methods for data collection and record keeping</a:t>
            </a:r>
            <a:endParaRPr/>
          </a:p>
        </p:txBody>
      </p:sp>
      <p:pic>
        <p:nvPicPr>
          <p:cNvPr id="260" name="Google Shape;26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8400" y="1939948"/>
            <a:ext cx="2796731" cy="4446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/>
          <p:nvPr/>
        </p:nvSpPr>
        <p:spPr>
          <a:xfrm>
            <a:off x="5195125" y="1615950"/>
            <a:ext cx="496500" cy="5139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1BACB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9980" y="3810768"/>
            <a:ext cx="1594900" cy="248979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8"/>
          <p:cNvSpPr/>
          <p:nvPr/>
        </p:nvSpPr>
        <p:spPr>
          <a:xfrm>
            <a:off x="7854475" y="4792200"/>
            <a:ext cx="741300" cy="36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BAC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5363" y="3755513"/>
            <a:ext cx="2733675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/>
        </p:nvSpPr>
        <p:spPr>
          <a:xfrm>
            <a:off x="6273592" y="4407984"/>
            <a:ext cx="27300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9"/>
          <p:cNvSpPr txBox="1"/>
          <p:nvPr/>
        </p:nvSpPr>
        <p:spPr>
          <a:xfrm>
            <a:off x="9274930" y="4407984"/>
            <a:ext cx="27300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9"/>
          <p:cNvSpPr txBox="1"/>
          <p:nvPr/>
        </p:nvSpPr>
        <p:spPr>
          <a:xfrm>
            <a:off x="2100725" y="624825"/>
            <a:ext cx="99003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Setting Up Your </a:t>
            </a:r>
            <a:r>
              <a:rPr b="1" lang="es-ES" sz="4000">
                <a:solidFill>
                  <a:srgbClr val="FF9900"/>
                </a:solidFill>
                <a:latin typeface="Barlow"/>
                <a:ea typeface="Barlow"/>
                <a:cs typeface="Barlow"/>
                <a:sym typeface="Barlow"/>
              </a:rPr>
              <a:t>Planning </a:t>
            </a:r>
            <a:r>
              <a:rPr lang="es-ES" sz="40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Documents</a:t>
            </a:r>
            <a:endParaRPr sz="40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r </a:t>
            </a:r>
            <a:r>
              <a:rPr b="1" lang="es-ES" sz="4000">
                <a:solidFill>
                  <a:srgbClr val="1BACB1"/>
                </a:solidFill>
                <a:latin typeface="Barlow"/>
                <a:ea typeface="Barlow"/>
                <a:cs typeface="Barlow"/>
                <a:sym typeface="Barlow"/>
              </a:rPr>
              <a:t>Needs Assessment</a:t>
            </a:r>
            <a:endParaRPr b="1" sz="4000">
              <a:solidFill>
                <a:srgbClr val="1BACB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2" name="Google Shape;272;p29"/>
          <p:cNvSpPr txBox="1"/>
          <p:nvPr/>
        </p:nvSpPr>
        <p:spPr>
          <a:xfrm>
            <a:off x="391886" y="827372"/>
            <a:ext cx="182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273" name="Google Shape;273;p29"/>
          <p:cNvCxnSpPr/>
          <p:nvPr/>
        </p:nvCxnSpPr>
        <p:spPr>
          <a:xfrm>
            <a:off x="560779" y="917170"/>
            <a:ext cx="1229100" cy="0"/>
          </a:xfrm>
          <a:prstGeom prst="straightConnector1">
            <a:avLst/>
          </a:prstGeom>
          <a:noFill/>
          <a:ln cap="flat" cmpd="sng" w="19050">
            <a:solidFill>
              <a:srgbClr val="C998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4" name="Google Shape;274;p29"/>
          <p:cNvSpPr txBox="1"/>
          <p:nvPr/>
        </p:nvSpPr>
        <p:spPr>
          <a:xfrm>
            <a:off x="464250" y="1785825"/>
            <a:ext cx="11263500" cy="469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9"/>
          <p:cNvSpPr txBox="1"/>
          <p:nvPr/>
        </p:nvSpPr>
        <p:spPr>
          <a:xfrm>
            <a:off x="639650" y="1939950"/>
            <a:ext cx="2076300" cy="444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/>
              <a:t>YEAR 1 - </a:t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/>
              <a:t>PLANNING </a:t>
            </a:r>
            <a:r>
              <a:rPr lang="es-E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Determine where you are and where you want to be with your data.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Determine your interim measures along the way.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Use </a:t>
            </a:r>
            <a:r>
              <a:rPr b="1" lang="es-ES"/>
              <a:t>DATA </a:t>
            </a:r>
            <a:r>
              <a:rPr lang="es-ES"/>
              <a:t>to plan your activities.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9"/>
          <p:cNvSpPr txBox="1"/>
          <p:nvPr/>
        </p:nvSpPr>
        <p:spPr>
          <a:xfrm>
            <a:off x="5285075" y="1939950"/>
            <a:ext cx="6291900" cy="44463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>
                <a:solidFill>
                  <a:schemeClr val="dk1"/>
                </a:solidFill>
              </a:rPr>
              <a:t>YEAR 1 and </a:t>
            </a:r>
            <a:r>
              <a:rPr b="1" i="1" lang="es-ES">
                <a:solidFill>
                  <a:schemeClr val="dk1"/>
                </a:solidFill>
              </a:rPr>
              <a:t>annually</a:t>
            </a:r>
            <a:r>
              <a:rPr b="1" i="1" lang="es-ES">
                <a:solidFill>
                  <a:schemeClr val="dk1"/>
                </a:solidFill>
              </a:rPr>
              <a:t> after - PLANNING </a:t>
            </a:r>
            <a:r>
              <a:rPr lang="es-ES">
                <a:solidFill>
                  <a:schemeClr val="dk1"/>
                </a:solidFill>
              </a:rPr>
              <a:t>your Data Driven Activities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Use the Data to drive the plan.  Identify the gaps, think about an activity.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Build budget spreadsheets for buildings to use as tracking documents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Create rules for inputting information</a:t>
            </a: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4987875" y="1720650"/>
            <a:ext cx="496500" cy="5139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099" y="1910775"/>
            <a:ext cx="2232114" cy="44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775" y="113675"/>
            <a:ext cx="1606975" cy="160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4169" y="2475594"/>
            <a:ext cx="6113700" cy="1630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9"/>
          <p:cNvPicPr preferRelativeResize="0"/>
          <p:nvPr/>
        </p:nvPicPr>
        <p:blipFill rotWithShape="1">
          <a:blip r:embed="rId6">
            <a:alphaModFix/>
          </a:blip>
          <a:srcRect b="40891" l="0" r="0" t="0"/>
          <a:stretch/>
        </p:blipFill>
        <p:spPr>
          <a:xfrm>
            <a:off x="5484375" y="4635825"/>
            <a:ext cx="6066301" cy="10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9"/>
          <p:cNvSpPr/>
          <p:nvPr/>
        </p:nvSpPr>
        <p:spPr>
          <a:xfrm>
            <a:off x="6674163" y="5304200"/>
            <a:ext cx="3686700" cy="1154100"/>
          </a:xfrm>
          <a:prstGeom prst="wedgeRoundRectCallout">
            <a:avLst>
              <a:gd fmla="val -48357" name="adj1"/>
              <a:gd fmla="val -86256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4587" y="5372324"/>
            <a:ext cx="3485875" cy="101785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/>
          <p:nvPr/>
        </p:nvSpPr>
        <p:spPr>
          <a:xfrm>
            <a:off x="6273592" y="4407984"/>
            <a:ext cx="27300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0"/>
          <p:cNvSpPr txBox="1"/>
          <p:nvPr/>
        </p:nvSpPr>
        <p:spPr>
          <a:xfrm>
            <a:off x="9274930" y="4407984"/>
            <a:ext cx="27300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0"/>
          <p:cNvSpPr txBox="1"/>
          <p:nvPr/>
        </p:nvSpPr>
        <p:spPr>
          <a:xfrm>
            <a:off x="2100725" y="624825"/>
            <a:ext cx="99003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 sz="40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Setting Up Your </a:t>
            </a:r>
            <a:r>
              <a:rPr b="1" lang="es-ES" sz="4000">
                <a:solidFill>
                  <a:srgbClr val="CC0000"/>
                </a:solidFill>
                <a:latin typeface="Barlow"/>
                <a:ea typeface="Barlow"/>
                <a:cs typeface="Barlow"/>
                <a:sym typeface="Barlow"/>
              </a:rPr>
              <a:t>Implementation Monitoring</a:t>
            </a:r>
            <a:endParaRPr sz="40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r </a:t>
            </a:r>
            <a:r>
              <a:rPr b="1" lang="es-ES" sz="4000">
                <a:solidFill>
                  <a:srgbClr val="1BACB1"/>
                </a:solidFill>
                <a:latin typeface="Barlow"/>
                <a:ea typeface="Barlow"/>
                <a:cs typeface="Barlow"/>
                <a:sym typeface="Barlow"/>
              </a:rPr>
              <a:t>Needs Assessment</a:t>
            </a:r>
            <a:endParaRPr b="1" sz="4000">
              <a:solidFill>
                <a:srgbClr val="1BACB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1" name="Google Shape;291;p30"/>
          <p:cNvSpPr txBox="1"/>
          <p:nvPr/>
        </p:nvSpPr>
        <p:spPr>
          <a:xfrm>
            <a:off x="391886" y="827372"/>
            <a:ext cx="182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292" name="Google Shape;292;p30"/>
          <p:cNvCxnSpPr/>
          <p:nvPr/>
        </p:nvCxnSpPr>
        <p:spPr>
          <a:xfrm>
            <a:off x="560779" y="917170"/>
            <a:ext cx="1229100" cy="0"/>
          </a:xfrm>
          <a:prstGeom prst="straightConnector1">
            <a:avLst/>
          </a:prstGeom>
          <a:noFill/>
          <a:ln cap="flat" cmpd="sng" w="19050">
            <a:solidFill>
              <a:srgbClr val="C998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p30"/>
          <p:cNvSpPr txBox="1"/>
          <p:nvPr/>
        </p:nvSpPr>
        <p:spPr>
          <a:xfrm>
            <a:off x="464250" y="1785825"/>
            <a:ext cx="11263500" cy="469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812" y="100763"/>
            <a:ext cx="1684925" cy="163281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0"/>
          <p:cNvSpPr txBox="1"/>
          <p:nvPr/>
        </p:nvSpPr>
        <p:spPr>
          <a:xfrm>
            <a:off x="608550" y="1837775"/>
            <a:ext cx="10974900" cy="45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>
                <a:solidFill>
                  <a:schemeClr val="dk1"/>
                </a:solidFill>
              </a:rPr>
              <a:t>Program Monitoring (All Grant Budget Related Items)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All budgeted items must meet the </a:t>
            </a:r>
            <a:r>
              <a:rPr lang="es-ES" u="sng">
                <a:solidFill>
                  <a:schemeClr val="hlink"/>
                </a:solidFill>
                <a:hlinkClick r:id="rId4"/>
              </a:rPr>
              <a:t>intent and purpose</a:t>
            </a:r>
            <a:r>
              <a:rPr lang="es-ES"/>
              <a:t> of the grant.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Programs can be monitored with Program Evaluation Tools - staff need to identify the data source they will use for tracking.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ES"/>
              <a:t>Programs can also be monitored with a strategy implementation guide.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>
                <a:solidFill>
                  <a:schemeClr val="dk1"/>
                </a:solidFill>
              </a:rPr>
              <a:t>Title I </a:t>
            </a:r>
            <a:r>
              <a:rPr b="1" i="1" lang="es-ES">
                <a:solidFill>
                  <a:schemeClr val="dk1"/>
                </a:solidFill>
              </a:rPr>
              <a:t>Compliance</a:t>
            </a:r>
            <a:r>
              <a:rPr b="1" i="1" lang="es-ES">
                <a:solidFill>
                  <a:schemeClr val="dk1"/>
                </a:solidFill>
              </a:rPr>
              <a:t> </a:t>
            </a:r>
            <a:r>
              <a:rPr b="1" i="1" lang="es-ES">
                <a:solidFill>
                  <a:schemeClr val="dk1"/>
                </a:solidFill>
              </a:rPr>
              <a:t>Monitoring - Where there is overlap, make it easy for your building teams. </a:t>
            </a:r>
            <a:endParaRPr b="1" i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-ES" u="sng">
                <a:solidFill>
                  <a:schemeClr val="hlink"/>
                </a:solidFill>
                <a:hlinkClick r:id="rId5"/>
              </a:rPr>
              <a:t>Title I Targeted and School Wide Template</a:t>
            </a:r>
            <a:r>
              <a:rPr lang="es-ES">
                <a:solidFill>
                  <a:schemeClr val="dk1"/>
                </a:solidFill>
              </a:rPr>
              <a:t> have sections that align to program monitoring</a:t>
            </a:r>
            <a:endParaRPr>
              <a:solidFill>
                <a:schemeClr val="dk1"/>
              </a:solidFill>
            </a:endParaRPr>
          </a:p>
          <a:p>
            <a:pPr indent="0" lvl="0" marL="45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000">
                <a:solidFill>
                  <a:schemeClr val="dk1"/>
                </a:solidFill>
              </a:rPr>
              <a:t>(Requirement 2: High Quality Supports for All Students / Requirement 3: Identification and Monitoring of High Need Students / Requirement 4: Services to High Need Students)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-ES">
                <a:solidFill>
                  <a:schemeClr val="dk1"/>
                </a:solidFill>
              </a:rPr>
              <a:t>Fiscal Monitoring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-ES">
                <a:solidFill>
                  <a:schemeClr val="dk1"/>
                </a:solidFill>
              </a:rPr>
              <a:t>Buildings monitori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>implementation by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>putting the status of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>their purchase  </a:t>
            </a:r>
            <a:r>
              <a:rPr lang="es-ES" sz="1000">
                <a:solidFill>
                  <a:schemeClr val="dk1"/>
                </a:solidFill>
              </a:rPr>
              <a:t>(1-not 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dk1"/>
                </a:solidFill>
              </a:rPr>
              <a:t>started, 2-in progress, 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dk1"/>
                </a:solidFill>
              </a:rPr>
              <a:t>3-complete, 4-Not Doing 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dk1"/>
                </a:solidFill>
              </a:rPr>
              <a:t>(</a:t>
            </a:r>
            <a:r>
              <a:rPr lang="es-ES" sz="1000" strike="sngStrike">
                <a:solidFill>
                  <a:schemeClr val="dk1"/>
                </a:solidFill>
              </a:rPr>
              <a:t>Strike Out</a:t>
            </a:r>
            <a:r>
              <a:rPr lang="es-ES" sz="1000">
                <a:solidFill>
                  <a:schemeClr val="dk1"/>
                </a:solidFill>
              </a:rPr>
              <a:t>), 5-New Item 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dk1"/>
                </a:solidFill>
              </a:rPr>
              <a:t>(</a:t>
            </a:r>
            <a:r>
              <a:rPr lang="es-ES" sz="1000">
                <a:solidFill>
                  <a:schemeClr val="dk1"/>
                </a:solidFill>
                <a:highlight>
                  <a:srgbClr val="FFFF00"/>
                </a:highlight>
              </a:rPr>
              <a:t>Highlight Yellow</a:t>
            </a:r>
            <a:r>
              <a:rPr lang="es-ES" sz="1000">
                <a:solidFill>
                  <a:schemeClr val="dk1"/>
                </a:solidFill>
              </a:rPr>
              <a:t>))</a:t>
            </a:r>
            <a:endParaRPr sz="10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-ES">
                <a:solidFill>
                  <a:schemeClr val="dk1"/>
                </a:solidFill>
              </a:rPr>
              <a:t>Monitor purchases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>with our Procurement Process, Travel Reimbursement, Inventories, Time and Effort Logs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-ES">
                <a:solidFill>
                  <a:schemeClr val="dk1"/>
                </a:solidFill>
              </a:rPr>
              <a:t>Have conversations with your business office!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-ES">
                <a:solidFill>
                  <a:schemeClr val="dk1"/>
                </a:solidFill>
              </a:rPr>
              <a:t>Teach your staff how to use the charts that work for you!  (Allow viewing for all and editing for some)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1100" y="3697975"/>
            <a:ext cx="8751251" cy="19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/>
          <p:nvPr/>
        </p:nvSpPr>
        <p:spPr>
          <a:xfrm>
            <a:off x="6273592" y="4407984"/>
            <a:ext cx="27300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1"/>
          <p:cNvSpPr txBox="1"/>
          <p:nvPr/>
        </p:nvSpPr>
        <p:spPr>
          <a:xfrm>
            <a:off x="9274930" y="4407984"/>
            <a:ext cx="27300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1"/>
          <p:cNvSpPr txBox="1"/>
          <p:nvPr/>
        </p:nvSpPr>
        <p:spPr>
          <a:xfrm>
            <a:off x="2100725" y="624825"/>
            <a:ext cx="99003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Setting Up Your </a:t>
            </a:r>
            <a:r>
              <a:rPr b="1" lang="es-ES" sz="4000">
                <a:solidFill>
                  <a:srgbClr val="45818E"/>
                </a:solidFill>
                <a:latin typeface="Barlow"/>
                <a:ea typeface="Barlow"/>
                <a:cs typeface="Barlow"/>
                <a:sym typeface="Barlow"/>
              </a:rPr>
              <a:t>Impact </a:t>
            </a:r>
            <a:r>
              <a:rPr b="1" lang="es-ES" sz="4000">
                <a:solidFill>
                  <a:srgbClr val="45818E"/>
                </a:solidFill>
                <a:latin typeface="Barlow"/>
                <a:ea typeface="Barlow"/>
                <a:cs typeface="Barlow"/>
                <a:sym typeface="Barlow"/>
              </a:rPr>
              <a:t>Monitoring</a:t>
            </a:r>
            <a:endParaRPr sz="4000">
              <a:solidFill>
                <a:srgbClr val="45818E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r </a:t>
            </a:r>
            <a:r>
              <a:rPr b="1" lang="es-ES" sz="4000">
                <a:solidFill>
                  <a:srgbClr val="1BACB1"/>
                </a:solidFill>
                <a:latin typeface="Barlow"/>
                <a:ea typeface="Barlow"/>
                <a:cs typeface="Barlow"/>
                <a:sym typeface="Barlow"/>
              </a:rPr>
              <a:t>Needs Assessment</a:t>
            </a:r>
            <a:endParaRPr b="1" sz="4000">
              <a:solidFill>
                <a:srgbClr val="1BACB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04" name="Google Shape;304;p31"/>
          <p:cNvSpPr txBox="1"/>
          <p:nvPr/>
        </p:nvSpPr>
        <p:spPr>
          <a:xfrm>
            <a:off x="391886" y="827372"/>
            <a:ext cx="182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305" name="Google Shape;305;p31"/>
          <p:cNvCxnSpPr/>
          <p:nvPr/>
        </p:nvCxnSpPr>
        <p:spPr>
          <a:xfrm>
            <a:off x="560779" y="917170"/>
            <a:ext cx="1229100" cy="0"/>
          </a:xfrm>
          <a:prstGeom prst="straightConnector1">
            <a:avLst/>
          </a:prstGeom>
          <a:noFill/>
          <a:ln cap="flat" cmpd="sng" w="19050">
            <a:solidFill>
              <a:srgbClr val="C998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6" name="Google Shape;306;p31"/>
          <p:cNvSpPr txBox="1"/>
          <p:nvPr/>
        </p:nvSpPr>
        <p:spPr>
          <a:xfrm>
            <a:off x="464250" y="1785825"/>
            <a:ext cx="11263500" cy="469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1"/>
          <p:cNvSpPr txBox="1"/>
          <p:nvPr/>
        </p:nvSpPr>
        <p:spPr>
          <a:xfrm>
            <a:off x="608550" y="1837775"/>
            <a:ext cx="10974900" cy="45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-ES">
                <a:solidFill>
                  <a:schemeClr val="dk1"/>
                </a:solidFill>
              </a:rPr>
              <a:t>Where will we see impact? </a:t>
            </a:r>
            <a:endParaRPr b="1" i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-ES">
                <a:solidFill>
                  <a:schemeClr val="dk1"/>
                </a:solidFill>
              </a:rPr>
              <a:t>Have Staff Share </a:t>
            </a:r>
            <a:r>
              <a:rPr lang="es-ES">
                <a:solidFill>
                  <a:schemeClr val="dk1"/>
                </a:solidFill>
              </a:rPr>
              <a:t>Data Updates with the team at each meeting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s-ES">
                <a:solidFill>
                  <a:schemeClr val="dk1"/>
                </a:solidFill>
              </a:rPr>
              <a:t>Achievement Data (3x per year)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s-ES">
                <a:solidFill>
                  <a:schemeClr val="dk1"/>
                </a:solidFill>
              </a:rPr>
              <a:t>Behavior Data (at each meeting)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s-ES">
                <a:solidFill>
                  <a:schemeClr val="dk1"/>
                </a:solidFill>
              </a:rPr>
              <a:t>Attendance Data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-ES">
                <a:solidFill>
                  <a:schemeClr val="dk1"/>
                </a:solidFill>
              </a:rPr>
              <a:t>Buildings Bring Progress Monitoring Data for their 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>Program Evaluations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-ES">
                <a:solidFill>
                  <a:schemeClr val="dk1"/>
                </a:solidFill>
              </a:rPr>
              <a:t>Monitoring the Impact of a Goal</a:t>
            </a:r>
            <a:endParaRPr b="1" i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-ES" u="sng">
                <a:solidFill>
                  <a:schemeClr val="hlink"/>
                </a:solidFill>
                <a:hlinkClick r:id="rId3"/>
              </a:rPr>
              <a:t>Capacity, Fidelity, Scale, Impact Reflection Protocol</a:t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>
                <a:solidFill>
                  <a:schemeClr val="dk1"/>
                </a:solidFill>
              </a:rPr>
              <a:t>Monitoring the Impact of a Strategy </a:t>
            </a:r>
            <a:endParaRPr b="1" i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-ES" u="sng">
                <a:solidFill>
                  <a:schemeClr val="hlink"/>
                </a:solidFill>
                <a:hlinkClick r:id="rId4"/>
              </a:rPr>
              <a:t>Strategy Implementation Guide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-ES" u="sng">
                <a:solidFill>
                  <a:schemeClr val="hlink"/>
                </a:solidFill>
                <a:hlinkClick r:id="rId5"/>
              </a:rPr>
              <a:t>Monitoring Form</a:t>
            </a:r>
            <a:r>
              <a:rPr lang="es-ES">
                <a:solidFill>
                  <a:schemeClr val="dk1"/>
                </a:solidFill>
              </a:rPr>
              <a:t> (Date Monitored, Who Monitored, Evidence of </a:t>
            </a:r>
            <a:r>
              <a:rPr lang="es-ES">
                <a:solidFill>
                  <a:schemeClr val="dk1"/>
                </a:solidFill>
              </a:rPr>
              <a:t>Implementation</a:t>
            </a:r>
            <a:r>
              <a:rPr lang="es-ES">
                <a:solidFill>
                  <a:schemeClr val="dk1"/>
                </a:solidFill>
              </a:rPr>
              <a:t> (Lacking or Present), Follow-Up Date/Support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s-ES">
                <a:solidFill>
                  <a:schemeClr val="dk1"/>
                </a:solidFill>
              </a:rPr>
              <a:t>Accountability?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s-ES">
                <a:solidFill>
                  <a:schemeClr val="dk1"/>
                </a:solidFill>
              </a:rPr>
              <a:t>Support?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08" name="Google Shape;308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250" y="33725"/>
            <a:ext cx="1822800" cy="1766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1"/>
          <p:cNvPicPr preferRelativeResize="0"/>
          <p:nvPr/>
        </p:nvPicPr>
        <p:blipFill rotWithShape="1">
          <a:blip r:embed="rId7">
            <a:alphaModFix/>
          </a:blip>
          <a:srcRect b="36853" l="3459" r="4789" t="9267"/>
          <a:stretch/>
        </p:blipFill>
        <p:spPr>
          <a:xfrm>
            <a:off x="6273600" y="1915025"/>
            <a:ext cx="5241425" cy="220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1"/>
          <p:cNvPicPr preferRelativeResize="0"/>
          <p:nvPr/>
        </p:nvPicPr>
        <p:blipFill rotWithShape="1">
          <a:blip r:embed="rId8">
            <a:alphaModFix/>
          </a:blip>
          <a:srcRect b="42938" l="0" r="1224" t="0"/>
          <a:stretch/>
        </p:blipFill>
        <p:spPr>
          <a:xfrm>
            <a:off x="6273600" y="4165672"/>
            <a:ext cx="5241425" cy="2161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 txBox="1"/>
          <p:nvPr/>
        </p:nvSpPr>
        <p:spPr>
          <a:xfrm>
            <a:off x="6273592" y="4407984"/>
            <a:ext cx="27300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2"/>
          <p:cNvSpPr txBox="1"/>
          <p:nvPr/>
        </p:nvSpPr>
        <p:spPr>
          <a:xfrm>
            <a:off x="9274930" y="4407984"/>
            <a:ext cx="27300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2"/>
          <p:cNvSpPr txBox="1"/>
          <p:nvPr/>
        </p:nvSpPr>
        <p:spPr>
          <a:xfrm>
            <a:off x="2039002" y="624825"/>
            <a:ext cx="10103700" cy="584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75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 sz="40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Setting Up Your </a:t>
            </a:r>
            <a:r>
              <a:rPr b="1" lang="es-ES" sz="4000">
                <a:solidFill>
                  <a:srgbClr val="C9DB35"/>
                </a:solidFill>
                <a:latin typeface="Barlow"/>
                <a:ea typeface="Barlow"/>
                <a:cs typeface="Barlow"/>
                <a:sym typeface="Barlow"/>
              </a:rPr>
              <a:t>Program Evaluations</a:t>
            </a:r>
            <a:endParaRPr b="1" sz="4000">
              <a:solidFill>
                <a:srgbClr val="C9DB3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8" name="Google Shape;318;p32"/>
          <p:cNvSpPr txBox="1"/>
          <p:nvPr/>
        </p:nvSpPr>
        <p:spPr>
          <a:xfrm>
            <a:off x="391886" y="827372"/>
            <a:ext cx="182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319" name="Google Shape;319;p32"/>
          <p:cNvCxnSpPr/>
          <p:nvPr/>
        </p:nvCxnSpPr>
        <p:spPr>
          <a:xfrm>
            <a:off x="560779" y="917170"/>
            <a:ext cx="1229100" cy="0"/>
          </a:xfrm>
          <a:prstGeom prst="straightConnector1">
            <a:avLst/>
          </a:prstGeom>
          <a:noFill/>
          <a:ln cap="flat" cmpd="sng" w="19050">
            <a:solidFill>
              <a:srgbClr val="C998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0" name="Google Shape;320;p32"/>
          <p:cNvSpPr txBox="1"/>
          <p:nvPr/>
        </p:nvSpPr>
        <p:spPr>
          <a:xfrm>
            <a:off x="464250" y="1785825"/>
            <a:ext cx="11263500" cy="469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250" y="91225"/>
            <a:ext cx="1822800" cy="165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2"/>
          <p:cNvSpPr txBox="1"/>
          <p:nvPr/>
        </p:nvSpPr>
        <p:spPr>
          <a:xfrm>
            <a:off x="608550" y="1837775"/>
            <a:ext cx="1964100" cy="45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C9D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>
                <a:solidFill>
                  <a:schemeClr val="dk1"/>
                </a:solidFill>
              </a:rPr>
              <a:t>Teams will do this at the Beginning and End of the Year.  </a:t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>
                <a:solidFill>
                  <a:schemeClr val="dk1"/>
                </a:solidFill>
              </a:rPr>
              <a:t>Set Up a System for </a:t>
            </a:r>
            <a:r>
              <a:rPr b="1" i="1" lang="es-ES">
                <a:solidFill>
                  <a:schemeClr val="dk1"/>
                </a:solidFill>
              </a:rPr>
              <a:t>Buildings</a:t>
            </a:r>
            <a:r>
              <a:rPr b="1" i="1" lang="es-ES">
                <a:solidFill>
                  <a:schemeClr val="dk1"/>
                </a:solidFill>
              </a:rPr>
              <a:t> to Progress Monitor Data.  </a:t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>
                <a:solidFill>
                  <a:schemeClr val="dk1"/>
                </a:solidFill>
              </a:rPr>
              <a:t>Give yourself time to give Feedback on Impact.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7300" y="1962600"/>
            <a:ext cx="4734176" cy="407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4575" y="2266281"/>
            <a:ext cx="4734174" cy="413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 txBox="1"/>
          <p:nvPr/>
        </p:nvSpPr>
        <p:spPr>
          <a:xfrm>
            <a:off x="326575" y="242600"/>
            <a:ext cx="113898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 sz="34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Timeline for </a:t>
            </a:r>
            <a:r>
              <a:rPr b="1" i="1" lang="es-ES" sz="34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wrapping up</a:t>
            </a:r>
            <a:r>
              <a:rPr lang="es-ES" sz="34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 2024-2025 School Year to support successful implementation of MICIP</a:t>
            </a:r>
            <a:endParaRPr/>
          </a:p>
        </p:txBody>
      </p:sp>
      <p:cxnSp>
        <p:nvCxnSpPr>
          <p:cNvPr id="330" name="Google Shape;330;p33"/>
          <p:cNvCxnSpPr/>
          <p:nvPr/>
        </p:nvCxnSpPr>
        <p:spPr>
          <a:xfrm>
            <a:off x="506279" y="1362270"/>
            <a:ext cx="1229100" cy="0"/>
          </a:xfrm>
          <a:prstGeom prst="straightConnector1">
            <a:avLst/>
          </a:prstGeom>
          <a:noFill/>
          <a:ln cap="flat" cmpd="sng" w="19050">
            <a:solidFill>
              <a:srgbClr val="7DC39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1" name="Google Shape;331;p33"/>
          <p:cNvSpPr txBox="1"/>
          <p:nvPr/>
        </p:nvSpPr>
        <p:spPr>
          <a:xfrm>
            <a:off x="153450" y="1654350"/>
            <a:ext cx="5877000" cy="9777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DO NOW 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for this year’s plan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*Italics means you will find this in both years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262450" y="2808925"/>
            <a:ext cx="5631600" cy="36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AutoNum type="arabi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Be sure all grants in NexSys are to “Grant Funds Available”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rabi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Be sure all money is spent by your Business Office Cut-Off date, so POs can be closed.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rabi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Be sure all state/federal funded staff have maintained adequate records for compliance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rabicPeriod"/>
            </a:pPr>
            <a:r>
              <a:rPr i="1"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Hold final Title I Parent event: </a:t>
            </a:r>
            <a:endParaRPr i="1"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lphaLcPeriod"/>
            </a:pPr>
            <a:r>
              <a:rPr i="1"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Review evaluation data from all of this year’s events</a:t>
            </a:r>
            <a:endParaRPr i="1"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lphaLcPeriod"/>
            </a:pPr>
            <a:r>
              <a:rPr i="1"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Get input on next year’s events, potential PD, the Home-School Compact and Parent Plan. </a:t>
            </a:r>
            <a:endParaRPr i="1"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rabicPeriod"/>
            </a:pPr>
            <a:r>
              <a:rPr i="1"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Hold final District Improvement Meeting: </a:t>
            </a:r>
            <a:endParaRPr i="1"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lphaLcPeriod"/>
            </a:pPr>
            <a:r>
              <a:rPr i="1"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Ensure CNA is complete</a:t>
            </a:r>
            <a:endParaRPr i="1"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lphaLcPeriod"/>
            </a:pPr>
            <a:r>
              <a:rPr i="1"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Ensure Program Evals are complete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6293850" y="2808850"/>
            <a:ext cx="5631600" cy="36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AutoNum type="arabi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Complete 31a Report.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rabi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Mark all of the items in </a:t>
            </a: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MICIP that were completed in order to meet your goal.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rabi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Make sure all POs are closed.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6164675" y="1654350"/>
            <a:ext cx="5877000" cy="9777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DO THIS SUMMER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for this year’s plan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*Italics means you will find this in both years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/>
          <p:nvPr/>
        </p:nvSpPr>
        <p:spPr>
          <a:xfrm>
            <a:off x="326575" y="242600"/>
            <a:ext cx="113898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4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Timeline for </a:t>
            </a:r>
            <a:r>
              <a:rPr b="1" i="1" lang="es-ES" sz="34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setting up</a:t>
            </a:r>
            <a:r>
              <a:rPr lang="es-ES" sz="34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 2025-2026 School Year to support successful </a:t>
            </a:r>
            <a:r>
              <a:rPr lang="es-ES" sz="34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implementation</a:t>
            </a:r>
            <a:r>
              <a:rPr lang="es-ES" sz="34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 of MICIP</a:t>
            </a: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/>
          </a:p>
        </p:txBody>
      </p:sp>
      <p:cxnSp>
        <p:nvCxnSpPr>
          <p:cNvPr id="340" name="Google Shape;340;p34"/>
          <p:cNvCxnSpPr/>
          <p:nvPr/>
        </p:nvCxnSpPr>
        <p:spPr>
          <a:xfrm>
            <a:off x="506279" y="1362270"/>
            <a:ext cx="1229100" cy="0"/>
          </a:xfrm>
          <a:prstGeom prst="straightConnector1">
            <a:avLst/>
          </a:prstGeom>
          <a:noFill/>
          <a:ln cap="flat" cmpd="sng" w="19050">
            <a:solidFill>
              <a:srgbClr val="7DC39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1" name="Google Shape;341;p34"/>
          <p:cNvSpPr txBox="1"/>
          <p:nvPr/>
        </p:nvSpPr>
        <p:spPr>
          <a:xfrm>
            <a:off x="153450" y="1654350"/>
            <a:ext cx="5877000" cy="9777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DO NOW 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for next year’s plan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*Italics means you will find this in both years</a:t>
            </a:r>
            <a:endParaRPr i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2" name="Google Shape;342;p34"/>
          <p:cNvSpPr txBox="1"/>
          <p:nvPr/>
        </p:nvSpPr>
        <p:spPr>
          <a:xfrm>
            <a:off x="262450" y="2739575"/>
            <a:ext cx="5631600" cy="373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AutoNum type="arabicPeriod"/>
            </a:pPr>
            <a:r>
              <a:rPr lang="es-ES" sz="15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Set up Grant Budget Folder &gt; 2025-2026</a:t>
            </a:r>
            <a:endParaRPr sz="15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11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AutoNum type="alphaLcPeriod"/>
            </a:pPr>
            <a:r>
              <a:rPr lang="es-ES" sz="15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Set up Budget Spreadsheets for all State and Federal Grants to help buildings allocate funds</a:t>
            </a:r>
            <a:endParaRPr sz="15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Barlow"/>
              <a:buAutoNum type="alphaLcPeriod"/>
            </a:pPr>
            <a:r>
              <a:rPr lang="es-ES" sz="15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Set up a sub folder for quotes, job descriptions, materials lists</a:t>
            </a:r>
            <a:endParaRPr sz="15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Barlow"/>
              <a:buAutoNum type="alphaLcPeriod"/>
            </a:pPr>
            <a:r>
              <a:rPr lang="es-ES" sz="15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Determine staffing costs for grant funded staff</a:t>
            </a:r>
            <a:endParaRPr sz="15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Barlow"/>
              <a:buAutoNum type="alphaLcPeriod"/>
            </a:pPr>
            <a:r>
              <a:rPr lang="es-ES" sz="15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Determine building/program allocations for each grant you recieve</a:t>
            </a:r>
            <a:endParaRPr sz="15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Barlow"/>
              <a:buAutoNum type="arabicPeriod"/>
            </a:pPr>
            <a:r>
              <a:rPr lang="es-ES" sz="15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Set up Google Folder for District/School Improvement 2025-2026</a:t>
            </a:r>
            <a:endParaRPr sz="15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Barlow"/>
              <a:buAutoNum type="arabicPeriod"/>
            </a:pPr>
            <a:r>
              <a:rPr i="1" lang="es-ES" sz="15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Hold final Title I Parent event to get input on next year’s events, potential PD, the Home-School Compact and Parent Plan. </a:t>
            </a:r>
            <a:endParaRPr i="1" sz="15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Barlow"/>
              <a:buAutoNum type="arabicPeriod"/>
            </a:pPr>
            <a:r>
              <a:rPr i="1" lang="es-ES" sz="15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Hold final District Improvement Meeting to allocate funds for the 2025-2026 school year. </a:t>
            </a:r>
            <a:endParaRPr i="1" sz="15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3" name="Google Shape;343;p34"/>
          <p:cNvSpPr txBox="1"/>
          <p:nvPr/>
        </p:nvSpPr>
        <p:spPr>
          <a:xfrm>
            <a:off x="6293850" y="2808850"/>
            <a:ext cx="5631600" cy="36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AutoNum type="arabi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Transfer all grant language and allocations into the Con App in NexSys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rabi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Transfer all grant language into MICIP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rabi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Set up Google Folder for District/School Improvement 2025-2026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lphaL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Create District Improvement Agenda Outline and Calendar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romanL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Submit Agendas to the State for SCECH Approval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lphaL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Create folders for next year’s team work space.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Barlow"/>
              <a:buAutoNum type="arabicPeriod"/>
            </a:pPr>
            <a:r>
              <a:rPr lang="es-ES" sz="1600">
                <a:solidFill>
                  <a:srgbClr val="262626"/>
                </a:solidFill>
                <a:latin typeface="Barlow"/>
                <a:ea typeface="Barlow"/>
                <a:cs typeface="Barlow"/>
                <a:sym typeface="Barlow"/>
              </a:rPr>
              <a:t>Hold Boot Camp for all building principals/school improvement chairs to be on track for the school year!</a:t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62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4" name="Google Shape;344;p34"/>
          <p:cNvSpPr txBox="1"/>
          <p:nvPr/>
        </p:nvSpPr>
        <p:spPr>
          <a:xfrm>
            <a:off x="6164675" y="1654350"/>
            <a:ext cx="5877000" cy="9777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DO THIS SUMMER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for next year’s plan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s-ES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*Italics means you will find this in both years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C354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"/>
          <p:cNvSpPr txBox="1"/>
          <p:nvPr/>
        </p:nvSpPr>
        <p:spPr>
          <a:xfrm>
            <a:off x="-125" y="1046050"/>
            <a:ext cx="12192000" cy="26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latin typeface="Cabin"/>
                <a:ea typeface="Cabin"/>
                <a:cs typeface="Cabin"/>
                <a:sym typeface="Cabin"/>
              </a:rPr>
              <a:t>Building </a:t>
            </a:r>
            <a:r>
              <a:rPr b="1" lang="es-ES" sz="7200">
                <a:latin typeface="Cabin"/>
                <a:ea typeface="Cabin"/>
                <a:cs typeface="Cabin"/>
                <a:sym typeface="Cabin"/>
              </a:rPr>
              <a:t>Leader Implementation</a:t>
            </a:r>
            <a:endParaRPr b="1" sz="720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"/>
          <p:cNvSpPr txBox="1"/>
          <p:nvPr/>
        </p:nvSpPr>
        <p:spPr>
          <a:xfrm>
            <a:off x="326586" y="242600"/>
            <a:ext cx="11199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Building Leader Implementation Plan</a:t>
            </a:r>
            <a:endParaRPr/>
          </a:p>
        </p:txBody>
      </p:sp>
      <p:cxnSp>
        <p:nvCxnSpPr>
          <p:cNvPr id="355" name="Google Shape;355;p36"/>
          <p:cNvCxnSpPr/>
          <p:nvPr/>
        </p:nvCxnSpPr>
        <p:spPr>
          <a:xfrm>
            <a:off x="450293" y="1362270"/>
            <a:ext cx="1229217" cy="0"/>
          </a:xfrm>
          <a:prstGeom prst="straightConnector1">
            <a:avLst/>
          </a:prstGeom>
          <a:noFill/>
          <a:ln cap="flat" cmpd="sng" w="19050">
            <a:solidFill>
              <a:srgbClr val="E9C3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6" name="Google Shape;356;p36"/>
          <p:cNvSpPr txBox="1"/>
          <p:nvPr/>
        </p:nvSpPr>
        <p:spPr>
          <a:xfrm>
            <a:off x="5244954" y="2035277"/>
            <a:ext cx="28108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School Improvement Team Development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Identify SIT chairperson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Support chairperson in </a:t>
            </a: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recruiting</a:t>
            </a: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 staff team members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Select meeting dates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7" name="Google Shape;357;p36"/>
          <p:cNvSpPr txBox="1"/>
          <p:nvPr/>
        </p:nvSpPr>
        <p:spPr>
          <a:xfrm>
            <a:off x="1534153" y="2035277"/>
            <a:ext cx="283257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Building and District Goal Alignment	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Align building wide goals to ensure alignment with district vision, mission, and strategic plan goals.</a:t>
            </a:r>
            <a:endParaRPr/>
          </a:p>
        </p:txBody>
      </p:sp>
      <p:sp>
        <p:nvSpPr>
          <p:cNvPr id="358" name="Google Shape;358;p36"/>
          <p:cNvSpPr txBox="1"/>
          <p:nvPr/>
        </p:nvSpPr>
        <p:spPr>
          <a:xfrm>
            <a:off x="9018867" y="2035277"/>
            <a:ext cx="282511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Building Shared Capacity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Continuous School Improvement  processes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School SIT processes training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Year long training and support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9" name="Google Shape;359;p36"/>
          <p:cNvSpPr txBox="1"/>
          <p:nvPr/>
        </p:nvSpPr>
        <p:spPr>
          <a:xfrm>
            <a:off x="5244954" y="4397848"/>
            <a:ext cx="28108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Continuous Team Collaboration &amp; Monitoring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Bi-weekly SIT chairperson meetings.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Monthly SIT meetings.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Quarterly district SI meetings.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Monitoring initiatives, collecting &amp; analysis data.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0" name="Google Shape;360;p36"/>
          <p:cNvSpPr txBox="1"/>
          <p:nvPr/>
        </p:nvSpPr>
        <p:spPr>
          <a:xfrm>
            <a:off x="1534153" y="4397848"/>
            <a:ext cx="283257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Empowering Staff to Lead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Identifying SIT members </a:t>
            </a: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interests and strengths.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Delegating SIT tasks to encourage team members active participation.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Encouraging SIT members to share their knowledge with staff.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9018867" y="4397848"/>
            <a:ext cx="282511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Celebrating Staff, Student, and Parent Contributions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Recognizing staff contributions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Developing parent relationships to ensure two way communication of SIT plan.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Inviting students to share their input.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362" name="Google Shape;362;p36"/>
          <p:cNvGrpSpPr/>
          <p:nvPr/>
        </p:nvGrpSpPr>
        <p:grpSpPr>
          <a:xfrm>
            <a:off x="4434861" y="4545670"/>
            <a:ext cx="741967" cy="733017"/>
            <a:chOff x="3171000" y="4021950"/>
            <a:chExt cx="268100" cy="265875"/>
          </a:xfrm>
        </p:grpSpPr>
        <p:sp>
          <p:nvSpPr>
            <p:cNvPr id="363" name="Google Shape;363;p36"/>
            <p:cNvSpPr/>
            <p:nvPr/>
          </p:nvSpPr>
          <p:spPr>
            <a:xfrm>
              <a:off x="3171000" y="4058525"/>
              <a:ext cx="230200" cy="229300"/>
            </a:xfrm>
            <a:custGeom>
              <a:rect b="b" l="l" r="r" t="t"/>
              <a:pathLst>
                <a:path extrusionOk="0" h="9172" w="9208">
                  <a:moveTo>
                    <a:pt x="1782" y="6720"/>
                  </a:moveTo>
                  <a:cubicBezTo>
                    <a:pt x="1957" y="6720"/>
                    <a:pt x="2130" y="6787"/>
                    <a:pt x="2266" y="6923"/>
                  </a:cubicBezTo>
                  <a:cubicBezTo>
                    <a:pt x="2534" y="7191"/>
                    <a:pt x="2534" y="7619"/>
                    <a:pt x="2266" y="7869"/>
                  </a:cubicBezTo>
                  <a:lnTo>
                    <a:pt x="1142" y="8244"/>
                  </a:lnTo>
                  <a:lnTo>
                    <a:pt x="928" y="8047"/>
                  </a:lnTo>
                  <a:lnTo>
                    <a:pt x="1303" y="6905"/>
                  </a:lnTo>
                  <a:cubicBezTo>
                    <a:pt x="1443" y="6783"/>
                    <a:pt x="1614" y="6720"/>
                    <a:pt x="1782" y="6720"/>
                  </a:cubicBezTo>
                  <a:close/>
                  <a:moveTo>
                    <a:pt x="7494" y="0"/>
                  </a:moveTo>
                  <a:lnTo>
                    <a:pt x="839" y="6656"/>
                  </a:lnTo>
                  <a:lnTo>
                    <a:pt x="0" y="9171"/>
                  </a:lnTo>
                  <a:lnTo>
                    <a:pt x="2552" y="8333"/>
                  </a:lnTo>
                  <a:lnTo>
                    <a:pt x="9207" y="1695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3367725" y="4021950"/>
              <a:ext cx="71375" cy="69150"/>
            </a:xfrm>
            <a:custGeom>
              <a:rect b="b" l="l" r="r" t="t"/>
              <a:pathLst>
                <a:path extrusionOk="0" h="2766" w="2855">
                  <a:moveTo>
                    <a:pt x="1320" y="0"/>
                  </a:moveTo>
                  <a:cubicBezTo>
                    <a:pt x="1187" y="0"/>
                    <a:pt x="1053" y="54"/>
                    <a:pt x="946" y="161"/>
                  </a:cubicBezTo>
                  <a:lnTo>
                    <a:pt x="0" y="1089"/>
                  </a:lnTo>
                  <a:lnTo>
                    <a:pt x="1695" y="2766"/>
                  </a:lnTo>
                  <a:lnTo>
                    <a:pt x="2623" y="1838"/>
                  </a:lnTo>
                  <a:cubicBezTo>
                    <a:pt x="2855" y="1642"/>
                    <a:pt x="2855" y="1303"/>
                    <a:pt x="2641" y="1106"/>
                  </a:cubicBezTo>
                  <a:lnTo>
                    <a:pt x="1695" y="161"/>
                  </a:lnTo>
                  <a:cubicBezTo>
                    <a:pt x="1588" y="54"/>
                    <a:pt x="1454" y="0"/>
                    <a:pt x="132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5" name="Google Shape;365;p36"/>
          <p:cNvSpPr/>
          <p:nvPr/>
        </p:nvSpPr>
        <p:spPr>
          <a:xfrm>
            <a:off x="4392895" y="2064848"/>
            <a:ext cx="825891" cy="824067"/>
          </a:xfrm>
          <a:custGeom>
            <a:rect b="b" l="l" r="r" t="t"/>
            <a:pathLst>
              <a:path extrusionOk="0" h="11956" w="11937">
                <a:moveTo>
                  <a:pt x="9225" y="1125"/>
                </a:moveTo>
                <a:lnTo>
                  <a:pt x="10831" y="2730"/>
                </a:lnTo>
                <a:lnTo>
                  <a:pt x="9814" y="3747"/>
                </a:lnTo>
                <a:lnTo>
                  <a:pt x="8975" y="2927"/>
                </a:lnTo>
                <a:lnTo>
                  <a:pt x="8583" y="3301"/>
                </a:lnTo>
                <a:lnTo>
                  <a:pt x="9421" y="4140"/>
                </a:lnTo>
                <a:lnTo>
                  <a:pt x="8368" y="5175"/>
                </a:lnTo>
                <a:lnTo>
                  <a:pt x="7548" y="4354"/>
                </a:lnTo>
                <a:lnTo>
                  <a:pt x="7173" y="4729"/>
                </a:lnTo>
                <a:lnTo>
                  <a:pt x="8012" y="5550"/>
                </a:lnTo>
                <a:lnTo>
                  <a:pt x="6977" y="6584"/>
                </a:lnTo>
                <a:lnTo>
                  <a:pt x="6138" y="5764"/>
                </a:lnTo>
                <a:lnTo>
                  <a:pt x="5763" y="6138"/>
                </a:lnTo>
                <a:lnTo>
                  <a:pt x="6602" y="6959"/>
                </a:lnTo>
                <a:lnTo>
                  <a:pt x="5549" y="7994"/>
                </a:lnTo>
                <a:lnTo>
                  <a:pt x="4728" y="7173"/>
                </a:lnTo>
                <a:lnTo>
                  <a:pt x="4354" y="7548"/>
                </a:lnTo>
                <a:lnTo>
                  <a:pt x="5175" y="8369"/>
                </a:lnTo>
                <a:lnTo>
                  <a:pt x="4140" y="9404"/>
                </a:lnTo>
                <a:lnTo>
                  <a:pt x="3319" y="8583"/>
                </a:lnTo>
                <a:lnTo>
                  <a:pt x="2944" y="8958"/>
                </a:lnTo>
                <a:lnTo>
                  <a:pt x="3765" y="9778"/>
                </a:lnTo>
                <a:lnTo>
                  <a:pt x="2748" y="10795"/>
                </a:lnTo>
                <a:lnTo>
                  <a:pt x="1160" y="9207"/>
                </a:lnTo>
                <a:lnTo>
                  <a:pt x="9225" y="1125"/>
                </a:lnTo>
                <a:close/>
                <a:moveTo>
                  <a:pt x="9225" y="1"/>
                </a:moveTo>
                <a:lnTo>
                  <a:pt x="0" y="9225"/>
                </a:lnTo>
                <a:lnTo>
                  <a:pt x="2730" y="11955"/>
                </a:lnTo>
                <a:lnTo>
                  <a:pt x="11937" y="2748"/>
                </a:lnTo>
                <a:lnTo>
                  <a:pt x="9225" y="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6"/>
          <p:cNvSpPr/>
          <p:nvPr/>
        </p:nvSpPr>
        <p:spPr>
          <a:xfrm>
            <a:off x="699265" y="2109611"/>
            <a:ext cx="737054" cy="734534"/>
          </a:xfrm>
          <a:custGeom>
            <a:rect b="b" l="l" r="r" t="t"/>
            <a:pathLst>
              <a:path extrusionOk="0" h="10657" w="10653">
                <a:moveTo>
                  <a:pt x="6254" y="823"/>
                </a:moveTo>
                <a:cubicBezTo>
                  <a:pt x="6352" y="823"/>
                  <a:pt x="6452" y="841"/>
                  <a:pt x="6549" y="879"/>
                </a:cubicBezTo>
                <a:cubicBezTo>
                  <a:pt x="6959" y="1040"/>
                  <a:pt x="7155" y="1504"/>
                  <a:pt x="6977" y="1914"/>
                </a:cubicBezTo>
                <a:cubicBezTo>
                  <a:pt x="6867" y="2217"/>
                  <a:pt x="6554" y="2414"/>
                  <a:pt x="6237" y="2414"/>
                </a:cubicBezTo>
                <a:cubicBezTo>
                  <a:pt x="6143" y="2414"/>
                  <a:pt x="6049" y="2397"/>
                  <a:pt x="5960" y="2360"/>
                </a:cubicBezTo>
                <a:cubicBezTo>
                  <a:pt x="5532" y="2200"/>
                  <a:pt x="5353" y="1736"/>
                  <a:pt x="5514" y="1325"/>
                </a:cubicBezTo>
                <a:cubicBezTo>
                  <a:pt x="5636" y="1012"/>
                  <a:pt x="5936" y="823"/>
                  <a:pt x="6254" y="823"/>
                </a:cubicBezTo>
                <a:close/>
                <a:moveTo>
                  <a:pt x="9047" y="3609"/>
                </a:moveTo>
                <a:cubicBezTo>
                  <a:pt x="9493" y="3609"/>
                  <a:pt x="9849" y="3966"/>
                  <a:pt x="9849" y="4394"/>
                </a:cubicBezTo>
                <a:cubicBezTo>
                  <a:pt x="9849" y="4840"/>
                  <a:pt x="9493" y="5197"/>
                  <a:pt x="9047" y="5197"/>
                </a:cubicBezTo>
                <a:cubicBezTo>
                  <a:pt x="8618" y="5197"/>
                  <a:pt x="8244" y="4840"/>
                  <a:pt x="8244" y="4394"/>
                </a:cubicBezTo>
                <a:cubicBezTo>
                  <a:pt x="8244" y="3966"/>
                  <a:pt x="8618" y="3609"/>
                  <a:pt x="9047" y="3609"/>
                </a:cubicBezTo>
                <a:close/>
                <a:moveTo>
                  <a:pt x="5585" y="4662"/>
                </a:moveTo>
                <a:cubicBezTo>
                  <a:pt x="5817" y="4662"/>
                  <a:pt x="5978" y="4840"/>
                  <a:pt x="5978" y="5072"/>
                </a:cubicBezTo>
                <a:cubicBezTo>
                  <a:pt x="5978" y="5304"/>
                  <a:pt x="5817" y="5465"/>
                  <a:pt x="5585" y="5465"/>
                </a:cubicBezTo>
                <a:cubicBezTo>
                  <a:pt x="5371" y="5465"/>
                  <a:pt x="5193" y="5304"/>
                  <a:pt x="5193" y="5072"/>
                </a:cubicBezTo>
                <a:cubicBezTo>
                  <a:pt x="5193" y="4840"/>
                  <a:pt x="5371" y="4662"/>
                  <a:pt x="5585" y="4662"/>
                </a:cubicBezTo>
                <a:close/>
                <a:moveTo>
                  <a:pt x="6272" y="0"/>
                </a:moveTo>
                <a:cubicBezTo>
                  <a:pt x="5644" y="0"/>
                  <a:pt x="5041" y="377"/>
                  <a:pt x="4782" y="1004"/>
                </a:cubicBezTo>
                <a:cubicBezTo>
                  <a:pt x="4443" y="1807"/>
                  <a:pt x="4853" y="2735"/>
                  <a:pt x="5656" y="3074"/>
                </a:cubicBezTo>
                <a:cubicBezTo>
                  <a:pt x="5817" y="3145"/>
                  <a:pt x="5978" y="3163"/>
                  <a:pt x="6138" y="3181"/>
                </a:cubicBezTo>
                <a:lnTo>
                  <a:pt x="4943" y="4376"/>
                </a:lnTo>
                <a:lnTo>
                  <a:pt x="4639" y="5036"/>
                </a:lnTo>
                <a:lnTo>
                  <a:pt x="803" y="7195"/>
                </a:lnTo>
                <a:lnTo>
                  <a:pt x="0" y="8534"/>
                </a:lnTo>
                <a:lnTo>
                  <a:pt x="3854" y="6803"/>
                </a:lnTo>
                <a:lnTo>
                  <a:pt x="2124" y="10657"/>
                </a:lnTo>
                <a:lnTo>
                  <a:pt x="2124" y="10657"/>
                </a:lnTo>
                <a:lnTo>
                  <a:pt x="3462" y="9854"/>
                </a:lnTo>
                <a:lnTo>
                  <a:pt x="5603" y="6036"/>
                </a:lnTo>
                <a:lnTo>
                  <a:pt x="6245" y="5732"/>
                </a:lnTo>
                <a:lnTo>
                  <a:pt x="7459" y="4537"/>
                </a:lnTo>
                <a:cubicBezTo>
                  <a:pt x="7512" y="5376"/>
                  <a:pt x="8208" y="6000"/>
                  <a:pt x="9047" y="6000"/>
                </a:cubicBezTo>
                <a:cubicBezTo>
                  <a:pt x="9939" y="6000"/>
                  <a:pt x="10652" y="5286"/>
                  <a:pt x="10652" y="4394"/>
                </a:cubicBezTo>
                <a:cubicBezTo>
                  <a:pt x="10652" y="3520"/>
                  <a:pt x="9939" y="2806"/>
                  <a:pt x="9047" y="2806"/>
                </a:cubicBezTo>
                <a:cubicBezTo>
                  <a:pt x="8708" y="2806"/>
                  <a:pt x="8386" y="2913"/>
                  <a:pt x="8119" y="3109"/>
                </a:cubicBezTo>
                <a:lnTo>
                  <a:pt x="6834" y="3823"/>
                </a:lnTo>
                <a:lnTo>
                  <a:pt x="7548" y="2539"/>
                </a:lnTo>
                <a:cubicBezTo>
                  <a:pt x="7619" y="2431"/>
                  <a:pt x="7690" y="2307"/>
                  <a:pt x="7726" y="2200"/>
                </a:cubicBezTo>
                <a:cubicBezTo>
                  <a:pt x="8065" y="1379"/>
                  <a:pt x="7673" y="451"/>
                  <a:pt x="6852" y="112"/>
                </a:cubicBezTo>
                <a:cubicBezTo>
                  <a:pt x="6662" y="36"/>
                  <a:pt x="6466" y="0"/>
                  <a:pt x="6272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7" name="Google Shape;367;p36"/>
          <p:cNvGrpSpPr/>
          <p:nvPr/>
        </p:nvGrpSpPr>
        <p:grpSpPr>
          <a:xfrm>
            <a:off x="714879" y="4536627"/>
            <a:ext cx="700039" cy="697383"/>
            <a:chOff x="5684575" y="4038000"/>
            <a:chExt cx="252950" cy="252950"/>
          </a:xfrm>
        </p:grpSpPr>
        <p:sp>
          <p:nvSpPr>
            <p:cNvPr id="368" name="Google Shape;368;p36"/>
            <p:cNvSpPr/>
            <p:nvPr/>
          </p:nvSpPr>
          <p:spPr>
            <a:xfrm>
              <a:off x="5684575" y="4038000"/>
              <a:ext cx="252950" cy="252950"/>
            </a:xfrm>
            <a:custGeom>
              <a:rect b="b" l="l" r="r" t="t"/>
              <a:pathLst>
                <a:path extrusionOk="0" h="10118" w="10118">
                  <a:moveTo>
                    <a:pt x="5068" y="803"/>
                  </a:moveTo>
                  <a:cubicBezTo>
                    <a:pt x="7405" y="803"/>
                    <a:pt x="9332" y="2730"/>
                    <a:pt x="9332" y="5068"/>
                  </a:cubicBezTo>
                  <a:cubicBezTo>
                    <a:pt x="9332" y="7405"/>
                    <a:pt x="7405" y="9314"/>
                    <a:pt x="5068" y="9314"/>
                  </a:cubicBezTo>
                  <a:cubicBezTo>
                    <a:pt x="2731" y="9314"/>
                    <a:pt x="804" y="7405"/>
                    <a:pt x="804" y="5068"/>
                  </a:cubicBezTo>
                  <a:cubicBezTo>
                    <a:pt x="804" y="2730"/>
                    <a:pt x="2731" y="803"/>
                    <a:pt x="5068" y="803"/>
                  </a:cubicBezTo>
                  <a:close/>
                  <a:moveTo>
                    <a:pt x="5068" y="1"/>
                  </a:moveTo>
                  <a:cubicBezTo>
                    <a:pt x="2267" y="1"/>
                    <a:pt x="1" y="2267"/>
                    <a:pt x="1" y="5068"/>
                  </a:cubicBezTo>
                  <a:cubicBezTo>
                    <a:pt x="1" y="7851"/>
                    <a:pt x="2267" y="10117"/>
                    <a:pt x="5068" y="10117"/>
                  </a:cubicBezTo>
                  <a:cubicBezTo>
                    <a:pt x="7851" y="10117"/>
                    <a:pt x="10118" y="7851"/>
                    <a:pt x="10118" y="5068"/>
                  </a:cubicBezTo>
                  <a:cubicBezTo>
                    <a:pt x="10118" y="2267"/>
                    <a:pt x="7851" y="1"/>
                    <a:pt x="5068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5804575" y="4097775"/>
              <a:ext cx="58000" cy="118225"/>
            </a:xfrm>
            <a:custGeom>
              <a:rect b="b" l="l" r="r" t="t"/>
              <a:pathLst>
                <a:path extrusionOk="0" h="4729" w="2320">
                  <a:moveTo>
                    <a:pt x="0" y="0"/>
                  </a:moveTo>
                  <a:lnTo>
                    <a:pt x="0" y="2677"/>
                  </a:lnTo>
                  <a:cubicBezTo>
                    <a:pt x="0" y="2748"/>
                    <a:pt x="36" y="2820"/>
                    <a:pt x="90" y="2855"/>
                  </a:cubicBezTo>
                  <a:lnTo>
                    <a:pt x="1963" y="4729"/>
                  </a:lnTo>
                  <a:lnTo>
                    <a:pt x="2320" y="4372"/>
                  </a:lnTo>
                  <a:lnTo>
                    <a:pt x="536" y="257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5804575" y="4071450"/>
              <a:ext cx="13400" cy="13400"/>
            </a:xfrm>
            <a:custGeom>
              <a:rect b="b" l="l" r="r" t="t"/>
              <a:pathLst>
                <a:path extrusionOk="0" h="536" w="536">
                  <a:moveTo>
                    <a:pt x="268" y="1"/>
                  </a:moveTo>
                  <a:cubicBezTo>
                    <a:pt x="125" y="1"/>
                    <a:pt x="0" y="126"/>
                    <a:pt x="0" y="268"/>
                  </a:cubicBezTo>
                  <a:cubicBezTo>
                    <a:pt x="0" y="411"/>
                    <a:pt x="125" y="536"/>
                    <a:pt x="268" y="536"/>
                  </a:cubicBezTo>
                  <a:cubicBezTo>
                    <a:pt x="411" y="536"/>
                    <a:pt x="536" y="411"/>
                    <a:pt x="536" y="268"/>
                  </a:cubicBezTo>
                  <a:cubicBezTo>
                    <a:pt x="536" y="126"/>
                    <a:pt x="411" y="1"/>
                    <a:pt x="268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5804575" y="4244525"/>
              <a:ext cx="13400" cy="12975"/>
            </a:xfrm>
            <a:custGeom>
              <a:rect b="b" l="l" r="r" t="t"/>
              <a:pathLst>
                <a:path extrusionOk="0" h="519" w="536">
                  <a:moveTo>
                    <a:pt x="268" y="1"/>
                  </a:moveTo>
                  <a:cubicBezTo>
                    <a:pt x="125" y="1"/>
                    <a:pt x="0" y="126"/>
                    <a:pt x="0" y="268"/>
                  </a:cubicBezTo>
                  <a:cubicBezTo>
                    <a:pt x="0" y="411"/>
                    <a:pt x="125" y="518"/>
                    <a:pt x="268" y="518"/>
                  </a:cubicBezTo>
                  <a:cubicBezTo>
                    <a:pt x="411" y="518"/>
                    <a:pt x="536" y="411"/>
                    <a:pt x="536" y="268"/>
                  </a:cubicBezTo>
                  <a:cubicBezTo>
                    <a:pt x="536" y="126"/>
                    <a:pt x="411" y="1"/>
                    <a:pt x="268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5718025" y="4158000"/>
              <a:ext cx="13425" cy="13400"/>
            </a:xfrm>
            <a:custGeom>
              <a:rect b="b" l="l" r="r" t="t"/>
              <a:pathLst>
                <a:path extrusionOk="0" h="536" w="537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35"/>
                    <a:pt x="269" y="535"/>
                  </a:cubicBezTo>
                  <a:cubicBezTo>
                    <a:pt x="411" y="535"/>
                    <a:pt x="536" y="411"/>
                    <a:pt x="536" y="268"/>
                  </a:cubicBezTo>
                  <a:cubicBezTo>
                    <a:pt x="536" y="125"/>
                    <a:pt x="411" y="0"/>
                    <a:pt x="26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5891100" y="4158000"/>
              <a:ext cx="13425" cy="13400"/>
            </a:xfrm>
            <a:custGeom>
              <a:rect b="b" l="l" r="r" t="t"/>
              <a:pathLst>
                <a:path extrusionOk="0" h="536" w="537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35"/>
                    <a:pt x="269" y="535"/>
                  </a:cubicBezTo>
                  <a:cubicBezTo>
                    <a:pt x="411" y="535"/>
                    <a:pt x="536" y="411"/>
                    <a:pt x="536" y="268"/>
                  </a:cubicBezTo>
                  <a:cubicBezTo>
                    <a:pt x="536" y="125"/>
                    <a:pt x="411" y="0"/>
                    <a:pt x="26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" name="Google Shape;374;p36"/>
          <p:cNvGrpSpPr/>
          <p:nvPr/>
        </p:nvGrpSpPr>
        <p:grpSpPr>
          <a:xfrm>
            <a:off x="8228520" y="2109762"/>
            <a:ext cx="695127" cy="734258"/>
            <a:chOff x="3927075" y="3612900"/>
            <a:chExt cx="251175" cy="266325"/>
          </a:xfrm>
        </p:grpSpPr>
        <p:sp>
          <p:nvSpPr>
            <p:cNvPr id="375" name="Google Shape;375;p36"/>
            <p:cNvSpPr/>
            <p:nvPr/>
          </p:nvSpPr>
          <p:spPr>
            <a:xfrm>
              <a:off x="4031450" y="3726200"/>
              <a:ext cx="40175" cy="39725"/>
            </a:xfrm>
            <a:custGeom>
              <a:rect b="b" l="l" r="r" t="t"/>
              <a:pathLst>
                <a:path extrusionOk="0" h="1589" w="1607">
                  <a:moveTo>
                    <a:pt x="804" y="1"/>
                  </a:moveTo>
                  <a:cubicBezTo>
                    <a:pt x="358" y="1"/>
                    <a:pt x="1" y="357"/>
                    <a:pt x="1" y="786"/>
                  </a:cubicBezTo>
                  <a:cubicBezTo>
                    <a:pt x="1" y="1232"/>
                    <a:pt x="358" y="1589"/>
                    <a:pt x="804" y="1589"/>
                  </a:cubicBezTo>
                  <a:cubicBezTo>
                    <a:pt x="1250" y="1589"/>
                    <a:pt x="1607" y="1232"/>
                    <a:pt x="1607" y="786"/>
                  </a:cubicBezTo>
                  <a:cubicBezTo>
                    <a:pt x="1607" y="357"/>
                    <a:pt x="1250" y="1"/>
                    <a:pt x="804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3927075" y="3612900"/>
              <a:ext cx="251175" cy="266325"/>
            </a:xfrm>
            <a:custGeom>
              <a:rect b="b" l="l" r="r" t="t"/>
              <a:pathLst>
                <a:path extrusionOk="0" h="10653" w="10047">
                  <a:moveTo>
                    <a:pt x="4979" y="536"/>
                  </a:moveTo>
                  <a:cubicBezTo>
                    <a:pt x="5389" y="536"/>
                    <a:pt x="5889" y="1249"/>
                    <a:pt x="6228" y="2463"/>
                  </a:cubicBezTo>
                  <a:cubicBezTo>
                    <a:pt x="5853" y="2606"/>
                    <a:pt x="5425" y="2766"/>
                    <a:pt x="5014" y="2945"/>
                  </a:cubicBezTo>
                  <a:cubicBezTo>
                    <a:pt x="4586" y="2748"/>
                    <a:pt x="4158" y="2570"/>
                    <a:pt x="3748" y="2445"/>
                  </a:cubicBezTo>
                  <a:cubicBezTo>
                    <a:pt x="4069" y="1232"/>
                    <a:pt x="4586" y="536"/>
                    <a:pt x="4979" y="536"/>
                  </a:cubicBezTo>
                  <a:close/>
                  <a:moveTo>
                    <a:pt x="6353" y="2980"/>
                  </a:moveTo>
                  <a:cubicBezTo>
                    <a:pt x="6406" y="3230"/>
                    <a:pt x="6442" y="3480"/>
                    <a:pt x="6478" y="3747"/>
                  </a:cubicBezTo>
                  <a:cubicBezTo>
                    <a:pt x="6335" y="3658"/>
                    <a:pt x="6210" y="3569"/>
                    <a:pt x="6049" y="3480"/>
                  </a:cubicBezTo>
                  <a:cubicBezTo>
                    <a:pt x="5907" y="3408"/>
                    <a:pt x="5782" y="3337"/>
                    <a:pt x="5639" y="3248"/>
                  </a:cubicBezTo>
                  <a:cubicBezTo>
                    <a:pt x="5871" y="3141"/>
                    <a:pt x="6121" y="3069"/>
                    <a:pt x="6353" y="2980"/>
                  </a:cubicBezTo>
                  <a:close/>
                  <a:moveTo>
                    <a:pt x="3605" y="2962"/>
                  </a:moveTo>
                  <a:cubicBezTo>
                    <a:pt x="3855" y="3034"/>
                    <a:pt x="4122" y="3141"/>
                    <a:pt x="4390" y="3248"/>
                  </a:cubicBezTo>
                  <a:cubicBezTo>
                    <a:pt x="4265" y="3319"/>
                    <a:pt x="4122" y="3391"/>
                    <a:pt x="3980" y="3480"/>
                  </a:cubicBezTo>
                  <a:cubicBezTo>
                    <a:pt x="3819" y="3587"/>
                    <a:pt x="3658" y="3694"/>
                    <a:pt x="3480" y="3801"/>
                  </a:cubicBezTo>
                  <a:cubicBezTo>
                    <a:pt x="3516" y="3498"/>
                    <a:pt x="3551" y="3230"/>
                    <a:pt x="3605" y="2962"/>
                  </a:cubicBezTo>
                  <a:close/>
                  <a:moveTo>
                    <a:pt x="1785" y="2623"/>
                  </a:moveTo>
                  <a:cubicBezTo>
                    <a:pt x="2178" y="2623"/>
                    <a:pt x="2606" y="2695"/>
                    <a:pt x="3087" y="2820"/>
                  </a:cubicBezTo>
                  <a:cubicBezTo>
                    <a:pt x="2998" y="3230"/>
                    <a:pt x="2927" y="3712"/>
                    <a:pt x="2891" y="4194"/>
                  </a:cubicBezTo>
                  <a:cubicBezTo>
                    <a:pt x="2517" y="4461"/>
                    <a:pt x="2178" y="4711"/>
                    <a:pt x="1892" y="4996"/>
                  </a:cubicBezTo>
                  <a:cubicBezTo>
                    <a:pt x="1000" y="4086"/>
                    <a:pt x="625" y="3284"/>
                    <a:pt x="821" y="2927"/>
                  </a:cubicBezTo>
                  <a:cubicBezTo>
                    <a:pt x="946" y="2730"/>
                    <a:pt x="1285" y="2623"/>
                    <a:pt x="1785" y="2623"/>
                  </a:cubicBezTo>
                  <a:close/>
                  <a:moveTo>
                    <a:pt x="8244" y="2623"/>
                  </a:moveTo>
                  <a:cubicBezTo>
                    <a:pt x="8726" y="2623"/>
                    <a:pt x="9083" y="2748"/>
                    <a:pt x="9208" y="2927"/>
                  </a:cubicBezTo>
                  <a:cubicBezTo>
                    <a:pt x="9404" y="3284"/>
                    <a:pt x="9047" y="4086"/>
                    <a:pt x="8137" y="4996"/>
                  </a:cubicBezTo>
                  <a:cubicBezTo>
                    <a:pt x="7816" y="4693"/>
                    <a:pt x="7459" y="4408"/>
                    <a:pt x="7049" y="4122"/>
                  </a:cubicBezTo>
                  <a:cubicBezTo>
                    <a:pt x="7013" y="3676"/>
                    <a:pt x="6941" y="3230"/>
                    <a:pt x="6852" y="2837"/>
                  </a:cubicBezTo>
                  <a:cubicBezTo>
                    <a:pt x="7352" y="2695"/>
                    <a:pt x="7851" y="2623"/>
                    <a:pt x="8244" y="2623"/>
                  </a:cubicBezTo>
                  <a:close/>
                  <a:moveTo>
                    <a:pt x="2856" y="4872"/>
                  </a:moveTo>
                  <a:cubicBezTo>
                    <a:pt x="2856" y="5032"/>
                    <a:pt x="2856" y="5175"/>
                    <a:pt x="2856" y="5318"/>
                  </a:cubicBezTo>
                  <a:cubicBezTo>
                    <a:pt x="2856" y="5496"/>
                    <a:pt x="2856" y="5674"/>
                    <a:pt x="2856" y="5835"/>
                  </a:cubicBezTo>
                  <a:cubicBezTo>
                    <a:pt x="2659" y="5674"/>
                    <a:pt x="2463" y="5514"/>
                    <a:pt x="2285" y="5353"/>
                  </a:cubicBezTo>
                  <a:cubicBezTo>
                    <a:pt x="2463" y="5193"/>
                    <a:pt x="2659" y="5032"/>
                    <a:pt x="2856" y="4872"/>
                  </a:cubicBezTo>
                  <a:close/>
                  <a:moveTo>
                    <a:pt x="7102" y="4818"/>
                  </a:moveTo>
                  <a:cubicBezTo>
                    <a:pt x="7334" y="5014"/>
                    <a:pt x="7548" y="5193"/>
                    <a:pt x="7744" y="5371"/>
                  </a:cubicBezTo>
                  <a:cubicBezTo>
                    <a:pt x="7548" y="5550"/>
                    <a:pt x="7334" y="5728"/>
                    <a:pt x="7102" y="5906"/>
                  </a:cubicBezTo>
                  <a:cubicBezTo>
                    <a:pt x="7102" y="5710"/>
                    <a:pt x="7102" y="5532"/>
                    <a:pt x="7102" y="5335"/>
                  </a:cubicBezTo>
                  <a:cubicBezTo>
                    <a:pt x="7102" y="5157"/>
                    <a:pt x="7102" y="4979"/>
                    <a:pt x="7102" y="4818"/>
                  </a:cubicBezTo>
                  <a:close/>
                  <a:moveTo>
                    <a:pt x="5014" y="3551"/>
                  </a:moveTo>
                  <a:cubicBezTo>
                    <a:pt x="5264" y="3658"/>
                    <a:pt x="5514" y="3801"/>
                    <a:pt x="5782" y="3944"/>
                  </a:cubicBezTo>
                  <a:cubicBezTo>
                    <a:pt x="6049" y="4104"/>
                    <a:pt x="6317" y="4265"/>
                    <a:pt x="6549" y="4425"/>
                  </a:cubicBezTo>
                  <a:cubicBezTo>
                    <a:pt x="6585" y="4711"/>
                    <a:pt x="6585" y="5014"/>
                    <a:pt x="6585" y="5318"/>
                  </a:cubicBezTo>
                  <a:cubicBezTo>
                    <a:pt x="6585" y="5657"/>
                    <a:pt x="6567" y="5978"/>
                    <a:pt x="6531" y="6299"/>
                  </a:cubicBezTo>
                  <a:cubicBezTo>
                    <a:pt x="6317" y="6424"/>
                    <a:pt x="6103" y="6567"/>
                    <a:pt x="5853" y="6709"/>
                  </a:cubicBezTo>
                  <a:cubicBezTo>
                    <a:pt x="5585" y="6870"/>
                    <a:pt x="5300" y="7030"/>
                    <a:pt x="5014" y="7155"/>
                  </a:cubicBezTo>
                  <a:cubicBezTo>
                    <a:pt x="4747" y="7030"/>
                    <a:pt x="4461" y="6870"/>
                    <a:pt x="4176" y="6709"/>
                  </a:cubicBezTo>
                  <a:cubicBezTo>
                    <a:pt x="3908" y="6549"/>
                    <a:pt x="3658" y="6388"/>
                    <a:pt x="3409" y="6228"/>
                  </a:cubicBezTo>
                  <a:cubicBezTo>
                    <a:pt x="3391" y="5942"/>
                    <a:pt x="3391" y="5657"/>
                    <a:pt x="3391" y="5318"/>
                  </a:cubicBezTo>
                  <a:cubicBezTo>
                    <a:pt x="3391" y="5032"/>
                    <a:pt x="3391" y="4764"/>
                    <a:pt x="3409" y="4479"/>
                  </a:cubicBezTo>
                  <a:cubicBezTo>
                    <a:pt x="3676" y="4301"/>
                    <a:pt x="3944" y="4122"/>
                    <a:pt x="4265" y="3944"/>
                  </a:cubicBezTo>
                  <a:cubicBezTo>
                    <a:pt x="4515" y="3801"/>
                    <a:pt x="4765" y="3658"/>
                    <a:pt x="5014" y="3551"/>
                  </a:cubicBezTo>
                  <a:close/>
                  <a:moveTo>
                    <a:pt x="6478" y="6959"/>
                  </a:moveTo>
                  <a:cubicBezTo>
                    <a:pt x="6424" y="7227"/>
                    <a:pt x="6388" y="7477"/>
                    <a:pt x="6353" y="7691"/>
                  </a:cubicBezTo>
                  <a:cubicBezTo>
                    <a:pt x="6121" y="7619"/>
                    <a:pt x="5871" y="7530"/>
                    <a:pt x="5639" y="7423"/>
                  </a:cubicBezTo>
                  <a:cubicBezTo>
                    <a:pt x="5800" y="7352"/>
                    <a:pt x="5960" y="7262"/>
                    <a:pt x="6121" y="7155"/>
                  </a:cubicBezTo>
                  <a:cubicBezTo>
                    <a:pt x="6246" y="7102"/>
                    <a:pt x="6371" y="7030"/>
                    <a:pt x="6478" y="6959"/>
                  </a:cubicBezTo>
                  <a:close/>
                  <a:moveTo>
                    <a:pt x="3480" y="6906"/>
                  </a:moveTo>
                  <a:lnTo>
                    <a:pt x="3480" y="6906"/>
                  </a:lnTo>
                  <a:cubicBezTo>
                    <a:pt x="3641" y="7013"/>
                    <a:pt x="3766" y="7084"/>
                    <a:pt x="3926" y="7173"/>
                  </a:cubicBezTo>
                  <a:cubicBezTo>
                    <a:pt x="4069" y="7262"/>
                    <a:pt x="4229" y="7352"/>
                    <a:pt x="4390" y="7423"/>
                  </a:cubicBezTo>
                  <a:cubicBezTo>
                    <a:pt x="4122" y="7530"/>
                    <a:pt x="3873" y="7637"/>
                    <a:pt x="3623" y="7709"/>
                  </a:cubicBezTo>
                  <a:cubicBezTo>
                    <a:pt x="3569" y="7459"/>
                    <a:pt x="3534" y="7191"/>
                    <a:pt x="3480" y="6906"/>
                  </a:cubicBezTo>
                  <a:close/>
                  <a:moveTo>
                    <a:pt x="1910" y="5728"/>
                  </a:moveTo>
                  <a:cubicBezTo>
                    <a:pt x="2213" y="5996"/>
                    <a:pt x="2552" y="6263"/>
                    <a:pt x="2909" y="6531"/>
                  </a:cubicBezTo>
                  <a:cubicBezTo>
                    <a:pt x="2945" y="6995"/>
                    <a:pt x="3016" y="7441"/>
                    <a:pt x="3105" y="7851"/>
                  </a:cubicBezTo>
                  <a:cubicBezTo>
                    <a:pt x="2659" y="7976"/>
                    <a:pt x="2231" y="8030"/>
                    <a:pt x="1856" y="8030"/>
                  </a:cubicBezTo>
                  <a:cubicBezTo>
                    <a:pt x="1375" y="8030"/>
                    <a:pt x="1018" y="7905"/>
                    <a:pt x="911" y="7726"/>
                  </a:cubicBezTo>
                  <a:cubicBezTo>
                    <a:pt x="697" y="7387"/>
                    <a:pt x="1053" y="6602"/>
                    <a:pt x="1910" y="5728"/>
                  </a:cubicBezTo>
                  <a:close/>
                  <a:moveTo>
                    <a:pt x="8137" y="5728"/>
                  </a:moveTo>
                  <a:cubicBezTo>
                    <a:pt x="8976" y="6602"/>
                    <a:pt x="9332" y="7387"/>
                    <a:pt x="9136" y="7726"/>
                  </a:cubicBezTo>
                  <a:cubicBezTo>
                    <a:pt x="9011" y="7923"/>
                    <a:pt x="8672" y="8030"/>
                    <a:pt x="8173" y="8030"/>
                  </a:cubicBezTo>
                  <a:cubicBezTo>
                    <a:pt x="7780" y="8030"/>
                    <a:pt x="7334" y="7958"/>
                    <a:pt x="6870" y="7851"/>
                  </a:cubicBezTo>
                  <a:cubicBezTo>
                    <a:pt x="6941" y="7441"/>
                    <a:pt x="7013" y="7030"/>
                    <a:pt x="7049" y="6584"/>
                  </a:cubicBezTo>
                  <a:cubicBezTo>
                    <a:pt x="7459" y="6299"/>
                    <a:pt x="7816" y="6031"/>
                    <a:pt x="8137" y="5728"/>
                  </a:cubicBezTo>
                  <a:close/>
                  <a:moveTo>
                    <a:pt x="5014" y="7744"/>
                  </a:moveTo>
                  <a:cubicBezTo>
                    <a:pt x="5425" y="7923"/>
                    <a:pt x="5835" y="8083"/>
                    <a:pt x="6210" y="8208"/>
                  </a:cubicBezTo>
                  <a:cubicBezTo>
                    <a:pt x="5871" y="9421"/>
                    <a:pt x="5389" y="10117"/>
                    <a:pt x="4979" y="10117"/>
                  </a:cubicBezTo>
                  <a:cubicBezTo>
                    <a:pt x="4586" y="10117"/>
                    <a:pt x="4069" y="9421"/>
                    <a:pt x="3748" y="8226"/>
                  </a:cubicBezTo>
                  <a:cubicBezTo>
                    <a:pt x="4158" y="8101"/>
                    <a:pt x="4586" y="7940"/>
                    <a:pt x="5014" y="7744"/>
                  </a:cubicBezTo>
                  <a:close/>
                  <a:moveTo>
                    <a:pt x="4979" y="0"/>
                  </a:moveTo>
                  <a:cubicBezTo>
                    <a:pt x="4265" y="0"/>
                    <a:pt x="3605" y="910"/>
                    <a:pt x="3230" y="2302"/>
                  </a:cubicBezTo>
                  <a:cubicBezTo>
                    <a:pt x="2695" y="2159"/>
                    <a:pt x="2213" y="2088"/>
                    <a:pt x="1803" y="2088"/>
                  </a:cubicBezTo>
                  <a:cubicBezTo>
                    <a:pt x="1107" y="2088"/>
                    <a:pt x="590" y="2267"/>
                    <a:pt x="375" y="2659"/>
                  </a:cubicBezTo>
                  <a:cubicBezTo>
                    <a:pt x="1" y="3301"/>
                    <a:pt x="482" y="4318"/>
                    <a:pt x="1517" y="5353"/>
                  </a:cubicBezTo>
                  <a:cubicBezTo>
                    <a:pt x="536" y="6370"/>
                    <a:pt x="72" y="7352"/>
                    <a:pt x="447" y="7976"/>
                  </a:cubicBezTo>
                  <a:cubicBezTo>
                    <a:pt x="661" y="8369"/>
                    <a:pt x="1178" y="8547"/>
                    <a:pt x="1856" y="8547"/>
                  </a:cubicBezTo>
                  <a:cubicBezTo>
                    <a:pt x="2267" y="8547"/>
                    <a:pt x="2731" y="8494"/>
                    <a:pt x="3230" y="8369"/>
                  </a:cubicBezTo>
                  <a:cubicBezTo>
                    <a:pt x="3623" y="9743"/>
                    <a:pt x="4265" y="10653"/>
                    <a:pt x="4979" y="10653"/>
                  </a:cubicBezTo>
                  <a:cubicBezTo>
                    <a:pt x="5693" y="10653"/>
                    <a:pt x="6353" y="9743"/>
                    <a:pt x="6727" y="8369"/>
                  </a:cubicBezTo>
                  <a:cubicBezTo>
                    <a:pt x="7245" y="8494"/>
                    <a:pt x="7727" y="8583"/>
                    <a:pt x="8155" y="8583"/>
                  </a:cubicBezTo>
                  <a:cubicBezTo>
                    <a:pt x="8851" y="8583"/>
                    <a:pt x="9350" y="8387"/>
                    <a:pt x="9582" y="8012"/>
                  </a:cubicBezTo>
                  <a:cubicBezTo>
                    <a:pt x="9939" y="7387"/>
                    <a:pt x="9493" y="6388"/>
                    <a:pt x="8512" y="5389"/>
                  </a:cubicBezTo>
                  <a:cubicBezTo>
                    <a:pt x="9564" y="4336"/>
                    <a:pt x="10046" y="3301"/>
                    <a:pt x="9671" y="2659"/>
                  </a:cubicBezTo>
                  <a:cubicBezTo>
                    <a:pt x="9439" y="2284"/>
                    <a:pt x="8940" y="2106"/>
                    <a:pt x="8244" y="2106"/>
                  </a:cubicBezTo>
                  <a:cubicBezTo>
                    <a:pt x="7798" y="2106"/>
                    <a:pt x="7298" y="2177"/>
                    <a:pt x="6745" y="2320"/>
                  </a:cubicBezTo>
                  <a:cubicBezTo>
                    <a:pt x="6353" y="928"/>
                    <a:pt x="5710" y="0"/>
                    <a:pt x="497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7" name="Google Shape;377;p36"/>
          <p:cNvGrpSpPr/>
          <p:nvPr/>
        </p:nvGrpSpPr>
        <p:grpSpPr>
          <a:xfrm>
            <a:off x="8228690" y="4430070"/>
            <a:ext cx="694810" cy="811823"/>
            <a:chOff x="6907250" y="4018375"/>
            <a:chExt cx="226625" cy="265875"/>
          </a:xfrm>
        </p:grpSpPr>
        <p:sp>
          <p:nvSpPr>
            <p:cNvPr id="378" name="Google Shape;378;p36"/>
            <p:cNvSpPr/>
            <p:nvPr/>
          </p:nvSpPr>
          <p:spPr>
            <a:xfrm>
              <a:off x="6953650" y="4018375"/>
              <a:ext cx="133375" cy="119575"/>
            </a:xfrm>
            <a:custGeom>
              <a:rect b="b" l="l" r="r" t="t"/>
              <a:pathLst>
                <a:path extrusionOk="0" h="4783" w="5335">
                  <a:moveTo>
                    <a:pt x="2659" y="786"/>
                  </a:moveTo>
                  <a:cubicBezTo>
                    <a:pt x="3337" y="786"/>
                    <a:pt x="3854" y="1321"/>
                    <a:pt x="3854" y="1981"/>
                  </a:cubicBezTo>
                  <a:lnTo>
                    <a:pt x="1463" y="1981"/>
                  </a:lnTo>
                  <a:cubicBezTo>
                    <a:pt x="1463" y="1321"/>
                    <a:pt x="1998" y="786"/>
                    <a:pt x="2659" y="786"/>
                  </a:cubicBezTo>
                  <a:close/>
                  <a:moveTo>
                    <a:pt x="2659" y="0"/>
                  </a:moveTo>
                  <a:cubicBezTo>
                    <a:pt x="1570" y="0"/>
                    <a:pt x="660" y="893"/>
                    <a:pt x="660" y="1981"/>
                  </a:cubicBezTo>
                  <a:lnTo>
                    <a:pt x="0" y="1981"/>
                  </a:lnTo>
                  <a:lnTo>
                    <a:pt x="0" y="4515"/>
                  </a:lnTo>
                  <a:cubicBezTo>
                    <a:pt x="0" y="4657"/>
                    <a:pt x="125" y="4782"/>
                    <a:pt x="268" y="4782"/>
                  </a:cubicBezTo>
                  <a:lnTo>
                    <a:pt x="2123" y="4782"/>
                  </a:lnTo>
                  <a:lnTo>
                    <a:pt x="2123" y="4515"/>
                  </a:lnTo>
                  <a:cubicBezTo>
                    <a:pt x="2123" y="4372"/>
                    <a:pt x="2248" y="4247"/>
                    <a:pt x="2391" y="4247"/>
                  </a:cubicBezTo>
                  <a:lnTo>
                    <a:pt x="2926" y="4247"/>
                  </a:lnTo>
                  <a:cubicBezTo>
                    <a:pt x="3087" y="4247"/>
                    <a:pt x="3194" y="4372"/>
                    <a:pt x="3194" y="4515"/>
                  </a:cubicBezTo>
                  <a:lnTo>
                    <a:pt x="3194" y="4782"/>
                  </a:lnTo>
                  <a:lnTo>
                    <a:pt x="5067" y="4782"/>
                  </a:lnTo>
                  <a:cubicBezTo>
                    <a:pt x="5210" y="4782"/>
                    <a:pt x="5335" y="4657"/>
                    <a:pt x="5335" y="4515"/>
                  </a:cubicBezTo>
                  <a:lnTo>
                    <a:pt x="5335" y="1981"/>
                  </a:lnTo>
                  <a:lnTo>
                    <a:pt x="4657" y="1981"/>
                  </a:lnTo>
                  <a:cubicBezTo>
                    <a:pt x="4657" y="893"/>
                    <a:pt x="3765" y="0"/>
                    <a:pt x="265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6967025" y="4234275"/>
              <a:ext cx="106625" cy="49975"/>
            </a:xfrm>
            <a:custGeom>
              <a:rect b="b" l="l" r="r" t="t"/>
              <a:pathLst>
                <a:path extrusionOk="0" h="1999" w="4265">
                  <a:moveTo>
                    <a:pt x="179" y="0"/>
                  </a:moveTo>
                  <a:cubicBezTo>
                    <a:pt x="90" y="0"/>
                    <a:pt x="0" y="89"/>
                    <a:pt x="0" y="179"/>
                  </a:cubicBezTo>
                  <a:lnTo>
                    <a:pt x="0" y="1999"/>
                  </a:lnTo>
                  <a:lnTo>
                    <a:pt x="4265" y="1999"/>
                  </a:lnTo>
                  <a:lnTo>
                    <a:pt x="4265" y="179"/>
                  </a:lnTo>
                  <a:cubicBezTo>
                    <a:pt x="4265" y="89"/>
                    <a:pt x="4176" y="0"/>
                    <a:pt x="408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6907250" y="4071900"/>
              <a:ext cx="226625" cy="212350"/>
            </a:xfrm>
            <a:custGeom>
              <a:rect b="b" l="l" r="r" t="t"/>
              <a:pathLst>
                <a:path extrusionOk="0" h="8494" w="9065">
                  <a:moveTo>
                    <a:pt x="1321" y="1"/>
                  </a:moveTo>
                  <a:cubicBezTo>
                    <a:pt x="1000" y="179"/>
                    <a:pt x="786" y="554"/>
                    <a:pt x="786" y="911"/>
                  </a:cubicBezTo>
                  <a:lnTo>
                    <a:pt x="786" y="4104"/>
                  </a:lnTo>
                  <a:lnTo>
                    <a:pt x="536" y="4104"/>
                  </a:lnTo>
                  <a:cubicBezTo>
                    <a:pt x="232" y="4104"/>
                    <a:pt x="0" y="4354"/>
                    <a:pt x="0" y="4640"/>
                  </a:cubicBezTo>
                  <a:lnTo>
                    <a:pt x="0" y="6763"/>
                  </a:lnTo>
                  <a:cubicBezTo>
                    <a:pt x="0" y="7066"/>
                    <a:pt x="232" y="7298"/>
                    <a:pt x="536" y="7298"/>
                  </a:cubicBezTo>
                  <a:lnTo>
                    <a:pt x="786" y="7298"/>
                  </a:lnTo>
                  <a:lnTo>
                    <a:pt x="786" y="7958"/>
                  </a:lnTo>
                  <a:cubicBezTo>
                    <a:pt x="786" y="8262"/>
                    <a:pt x="1035" y="8494"/>
                    <a:pt x="1321" y="8494"/>
                  </a:cubicBezTo>
                  <a:lnTo>
                    <a:pt x="1856" y="8494"/>
                  </a:lnTo>
                  <a:lnTo>
                    <a:pt x="1856" y="6674"/>
                  </a:lnTo>
                  <a:cubicBezTo>
                    <a:pt x="1856" y="6299"/>
                    <a:pt x="2177" y="5960"/>
                    <a:pt x="2570" y="5960"/>
                  </a:cubicBezTo>
                  <a:lnTo>
                    <a:pt x="6495" y="5960"/>
                  </a:lnTo>
                  <a:cubicBezTo>
                    <a:pt x="6888" y="5960"/>
                    <a:pt x="7191" y="6299"/>
                    <a:pt x="7191" y="6674"/>
                  </a:cubicBezTo>
                  <a:lnTo>
                    <a:pt x="7191" y="8494"/>
                  </a:lnTo>
                  <a:lnTo>
                    <a:pt x="7726" y="8494"/>
                  </a:lnTo>
                  <a:cubicBezTo>
                    <a:pt x="8030" y="8494"/>
                    <a:pt x="8262" y="8262"/>
                    <a:pt x="8262" y="7958"/>
                  </a:cubicBezTo>
                  <a:lnTo>
                    <a:pt x="8262" y="7298"/>
                  </a:lnTo>
                  <a:lnTo>
                    <a:pt x="8529" y="7298"/>
                  </a:lnTo>
                  <a:cubicBezTo>
                    <a:pt x="8815" y="7298"/>
                    <a:pt x="9065" y="7066"/>
                    <a:pt x="9065" y="6763"/>
                  </a:cubicBezTo>
                  <a:lnTo>
                    <a:pt x="9065" y="4640"/>
                  </a:lnTo>
                  <a:cubicBezTo>
                    <a:pt x="9047" y="4354"/>
                    <a:pt x="8815" y="4104"/>
                    <a:pt x="8511" y="4104"/>
                  </a:cubicBezTo>
                  <a:lnTo>
                    <a:pt x="8244" y="4104"/>
                  </a:lnTo>
                  <a:lnTo>
                    <a:pt x="8244" y="911"/>
                  </a:lnTo>
                  <a:cubicBezTo>
                    <a:pt x="8244" y="536"/>
                    <a:pt x="8047" y="179"/>
                    <a:pt x="7708" y="1"/>
                  </a:cubicBezTo>
                  <a:lnTo>
                    <a:pt x="7708" y="2374"/>
                  </a:lnTo>
                  <a:cubicBezTo>
                    <a:pt x="7708" y="2820"/>
                    <a:pt x="7352" y="3177"/>
                    <a:pt x="6923" y="3177"/>
                  </a:cubicBezTo>
                  <a:lnTo>
                    <a:pt x="5050" y="3177"/>
                  </a:lnTo>
                  <a:lnTo>
                    <a:pt x="5050" y="3444"/>
                  </a:lnTo>
                  <a:cubicBezTo>
                    <a:pt x="5050" y="3587"/>
                    <a:pt x="4943" y="3712"/>
                    <a:pt x="4782" y="3712"/>
                  </a:cubicBezTo>
                  <a:lnTo>
                    <a:pt x="4247" y="3712"/>
                  </a:lnTo>
                  <a:cubicBezTo>
                    <a:pt x="4104" y="3712"/>
                    <a:pt x="3979" y="3587"/>
                    <a:pt x="3979" y="3444"/>
                  </a:cubicBezTo>
                  <a:lnTo>
                    <a:pt x="3979" y="3177"/>
                  </a:lnTo>
                  <a:lnTo>
                    <a:pt x="2124" y="3177"/>
                  </a:lnTo>
                  <a:cubicBezTo>
                    <a:pt x="1695" y="3177"/>
                    <a:pt x="1321" y="2820"/>
                    <a:pt x="1321" y="2374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pared, niño, interior, cepillo de dientes&#10;&#10;Descripción generada automáticamente" id="385" name="Google Shape;3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3280" y="1516618"/>
            <a:ext cx="2868574" cy="1912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persona, suelo, pose, sujetando&#10;&#10;Descripción generada automáticamente" id="386" name="Google Shape;38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921" y="1516618"/>
            <a:ext cx="2868573" cy="1912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persona, hierba, exterior, niño&#10;&#10;Descripción generada automáticamente" id="387" name="Google Shape;38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64691" y="1507286"/>
            <a:ext cx="2868575" cy="1912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niño, persona, pequeño, joven&#10;&#10;Descripción generada automáticamente" id="388" name="Google Shape;38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0339" y="1516618"/>
            <a:ext cx="2868573" cy="191238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7"/>
          <p:cNvSpPr txBox="1"/>
          <p:nvPr/>
        </p:nvSpPr>
        <p:spPr>
          <a:xfrm>
            <a:off x="326571" y="242600"/>
            <a:ext cx="115314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Building Leader </a:t>
            </a: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Implementation - Supporting the connection between district leadership and school based teams</a:t>
            </a: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/>
          </a:p>
        </p:txBody>
      </p:sp>
      <p:cxnSp>
        <p:nvCxnSpPr>
          <p:cNvPr id="390" name="Google Shape;390;p37"/>
          <p:cNvCxnSpPr/>
          <p:nvPr/>
        </p:nvCxnSpPr>
        <p:spPr>
          <a:xfrm>
            <a:off x="506279" y="1362270"/>
            <a:ext cx="1229217" cy="0"/>
          </a:xfrm>
          <a:prstGeom prst="straightConnector1">
            <a:avLst/>
          </a:prstGeom>
          <a:noFill/>
          <a:ln cap="flat" cmpd="sng" w="19050">
            <a:solidFill>
              <a:srgbClr val="7DC39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1" name="Google Shape;391;p37"/>
          <p:cNvSpPr txBox="1"/>
          <p:nvPr/>
        </p:nvSpPr>
        <p:spPr>
          <a:xfrm>
            <a:off x="144805" y="3545240"/>
            <a:ext cx="28285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ALIGNMENT</a:t>
            </a:r>
            <a:endParaRPr b="1"/>
          </a:p>
        </p:txBody>
      </p:sp>
      <p:sp>
        <p:nvSpPr>
          <p:cNvPr id="392" name="Google Shape;392;p37"/>
          <p:cNvSpPr txBox="1"/>
          <p:nvPr/>
        </p:nvSpPr>
        <p:spPr>
          <a:xfrm>
            <a:off x="3137166" y="3545240"/>
            <a:ext cx="28285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COMMUNICATION</a:t>
            </a:r>
            <a:endParaRPr b="1"/>
          </a:p>
        </p:txBody>
      </p:sp>
      <p:sp>
        <p:nvSpPr>
          <p:cNvPr id="393" name="Google Shape;393;p37"/>
          <p:cNvSpPr txBox="1"/>
          <p:nvPr/>
        </p:nvSpPr>
        <p:spPr>
          <a:xfrm>
            <a:off x="6155753" y="3545240"/>
            <a:ext cx="28285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IMPLEMENTATION</a:t>
            </a:r>
            <a:endParaRPr b="1"/>
          </a:p>
        </p:txBody>
      </p:sp>
      <p:sp>
        <p:nvSpPr>
          <p:cNvPr id="394" name="Google Shape;394;p37"/>
          <p:cNvSpPr txBox="1"/>
          <p:nvPr/>
        </p:nvSpPr>
        <p:spPr>
          <a:xfrm>
            <a:off x="9176000" y="3498574"/>
            <a:ext cx="28285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SUPPORT</a:t>
            </a:r>
            <a:endParaRPr b="1"/>
          </a:p>
        </p:txBody>
      </p:sp>
      <p:sp>
        <p:nvSpPr>
          <p:cNvPr id="395" name="Google Shape;395;p37"/>
          <p:cNvSpPr txBox="1"/>
          <p:nvPr/>
        </p:nvSpPr>
        <p:spPr>
          <a:xfrm>
            <a:off x="215075" y="4118324"/>
            <a:ext cx="273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District goals → Building Goals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CNA data analysis identifies strategies and activities to achieve goals.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Resource allocation planning aligns to CNA.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6" name="Google Shape;396;p37"/>
          <p:cNvSpPr txBox="1"/>
          <p:nvPr/>
        </p:nvSpPr>
        <p:spPr>
          <a:xfrm>
            <a:off x="3216425" y="4118374"/>
            <a:ext cx="273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Frequent communication with district SIT leader and </a:t>
            </a: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building</a:t>
            </a: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level SIT Chairperson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Facilitate continuous </a:t>
            </a: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opportunities</a:t>
            </a: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for SIT to gather staff input and share team updates.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7" name="Google Shape;397;p37"/>
          <p:cNvSpPr txBox="1"/>
          <p:nvPr/>
        </p:nvSpPr>
        <p:spPr>
          <a:xfrm>
            <a:off x="6245450" y="4118374"/>
            <a:ext cx="273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Attend building &amp; district SIT meetings.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Monitor SIT roles and building wide implementation of the plan.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Gather data and engage staff in frequent monitoring and data analysis.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8" name="Google Shape;398;p37"/>
          <p:cNvSpPr txBox="1"/>
          <p:nvPr/>
        </p:nvSpPr>
        <p:spPr>
          <a:xfrm>
            <a:off x="9246775" y="4118374"/>
            <a:ext cx="273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ES" sz="1600">
                <a:solidFill>
                  <a:schemeClr val="dk1"/>
                </a:solidFill>
              </a:rPr>
              <a:t>Provide time for SIT to meet on a regular basis.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ES" sz="1600">
                <a:solidFill>
                  <a:schemeClr val="dk1"/>
                </a:solidFill>
              </a:rPr>
              <a:t>Build capacity by sharing knowledge with SIT members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ES" sz="1600">
                <a:solidFill>
                  <a:schemeClr val="dk1"/>
                </a:solidFill>
              </a:rPr>
              <a:t>Be an active thought partner with SIT team to brainstorm ideas and solutions.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8"/>
          <p:cNvSpPr txBox="1"/>
          <p:nvPr/>
        </p:nvSpPr>
        <p:spPr>
          <a:xfrm>
            <a:off x="326581" y="242600"/>
            <a:ext cx="6657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Building Leader Resources</a:t>
            </a:r>
            <a:endParaRPr/>
          </a:p>
        </p:txBody>
      </p:sp>
      <p:cxnSp>
        <p:nvCxnSpPr>
          <p:cNvPr id="404" name="Google Shape;404;p38"/>
          <p:cNvCxnSpPr/>
          <p:nvPr/>
        </p:nvCxnSpPr>
        <p:spPr>
          <a:xfrm>
            <a:off x="450293" y="1362270"/>
            <a:ext cx="1229100" cy="0"/>
          </a:xfrm>
          <a:prstGeom prst="straightConnector1">
            <a:avLst/>
          </a:prstGeom>
          <a:noFill/>
          <a:ln cap="flat" cmpd="sng" w="19050">
            <a:solidFill>
              <a:srgbClr val="E78A6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5" name="Google Shape;405;p38"/>
          <p:cNvSpPr txBox="1"/>
          <p:nvPr/>
        </p:nvSpPr>
        <p:spPr>
          <a:xfrm>
            <a:off x="391885" y="1853241"/>
            <a:ext cx="52065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How we collect our data - PET data review, spreadsheets for data tracking.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 u="sng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  <a:hlinkClick r:id="rId3"/>
              </a:rPr>
              <a:t>Reading/Math assessments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Spelling/ Word Study  Assessments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Coaching Data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885B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9"/>
          <p:cNvSpPr txBox="1"/>
          <p:nvPr/>
        </p:nvSpPr>
        <p:spPr>
          <a:xfrm>
            <a:off x="-125" y="1046050"/>
            <a:ext cx="12192000" cy="26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latin typeface="Cabin"/>
                <a:ea typeface="Cabin"/>
                <a:cs typeface="Cabin"/>
                <a:sym typeface="Cabin"/>
              </a:rPr>
              <a:t>School Improvement Chair </a:t>
            </a:r>
            <a:r>
              <a:rPr b="1" lang="es-ES" sz="7200">
                <a:latin typeface="Cabin"/>
                <a:ea typeface="Cabin"/>
                <a:cs typeface="Cabin"/>
                <a:sym typeface="Cabin"/>
              </a:rPr>
              <a:t>Implementation</a:t>
            </a:r>
            <a:endParaRPr b="1" sz="720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0"/>
          <p:cNvSpPr txBox="1"/>
          <p:nvPr/>
        </p:nvSpPr>
        <p:spPr>
          <a:xfrm>
            <a:off x="326586" y="242600"/>
            <a:ext cx="11199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School Improvement Chair - Sarah</a:t>
            </a:r>
            <a:endParaRPr sz="32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16" name="Google Shape;416;p40"/>
          <p:cNvCxnSpPr/>
          <p:nvPr/>
        </p:nvCxnSpPr>
        <p:spPr>
          <a:xfrm>
            <a:off x="450293" y="1362270"/>
            <a:ext cx="1229100" cy="0"/>
          </a:xfrm>
          <a:prstGeom prst="straightConnector1">
            <a:avLst/>
          </a:prstGeom>
          <a:noFill/>
          <a:ln cap="flat" cmpd="sng" w="19050">
            <a:solidFill>
              <a:srgbClr val="E9C3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7" name="Google Shape;417;p40"/>
          <p:cNvSpPr txBox="1"/>
          <p:nvPr/>
        </p:nvSpPr>
        <p:spPr>
          <a:xfrm>
            <a:off x="5244954" y="2035277"/>
            <a:ext cx="28107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School Improvement Team Development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Seek volunteers to join the team.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Identify unrepresented groups and seek membership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Send calendar invites to members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8" name="Google Shape;418;p40"/>
          <p:cNvSpPr txBox="1"/>
          <p:nvPr/>
        </p:nvSpPr>
        <p:spPr>
          <a:xfrm>
            <a:off x="1534153" y="2035277"/>
            <a:ext cx="28326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Building and District Goal Alignment	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Align building wide goals to ensure alignment with district vision, mission, and strategic plan goals.</a:t>
            </a:r>
            <a:endParaRPr/>
          </a:p>
        </p:txBody>
      </p:sp>
      <p:sp>
        <p:nvSpPr>
          <p:cNvPr id="419" name="Google Shape;419;p40"/>
          <p:cNvSpPr txBox="1"/>
          <p:nvPr/>
        </p:nvSpPr>
        <p:spPr>
          <a:xfrm>
            <a:off x="9018875" y="2035275"/>
            <a:ext cx="2825100" cy="17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Building Shared Capacity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Assign roles on the team.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Have team report out to full staff at monthly staff meetings.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0" name="Google Shape;420;p40"/>
          <p:cNvSpPr txBox="1"/>
          <p:nvPr/>
        </p:nvSpPr>
        <p:spPr>
          <a:xfrm>
            <a:off x="5244954" y="4397848"/>
            <a:ext cx="28107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Continuous Team Collaboration &amp; Monitoring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Monthly SIT meetings.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Quarterly district SIT meetings.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Monitoring initiatives, collecting &amp; analysis data.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1" name="Google Shape;421;p40"/>
          <p:cNvSpPr txBox="1"/>
          <p:nvPr/>
        </p:nvSpPr>
        <p:spPr>
          <a:xfrm>
            <a:off x="1534153" y="4397848"/>
            <a:ext cx="28326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Empowering Staff to Lead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Identifying SIT members interests and strengths.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Delegating SIT tasks to encourage team members active participation.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Encouraging SIT members to share their knowledge with staff.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2" name="Google Shape;422;p40"/>
          <p:cNvSpPr txBox="1"/>
          <p:nvPr/>
        </p:nvSpPr>
        <p:spPr>
          <a:xfrm>
            <a:off x="9018867" y="4397848"/>
            <a:ext cx="28251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Celebrating Staff, Student, and Parent Contributions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Share team success at staff meetings.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Developing parent relationships to ensure two way communication of SIT plan.</a:t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23" name="Google Shape;423;p40"/>
          <p:cNvGrpSpPr/>
          <p:nvPr/>
        </p:nvGrpSpPr>
        <p:grpSpPr>
          <a:xfrm>
            <a:off x="4434861" y="4545670"/>
            <a:ext cx="741967" cy="733017"/>
            <a:chOff x="3171000" y="4021950"/>
            <a:chExt cx="268100" cy="265875"/>
          </a:xfrm>
        </p:grpSpPr>
        <p:sp>
          <p:nvSpPr>
            <p:cNvPr id="424" name="Google Shape;424;p40"/>
            <p:cNvSpPr/>
            <p:nvPr/>
          </p:nvSpPr>
          <p:spPr>
            <a:xfrm>
              <a:off x="3171000" y="4058525"/>
              <a:ext cx="230200" cy="229300"/>
            </a:xfrm>
            <a:custGeom>
              <a:rect b="b" l="l" r="r" t="t"/>
              <a:pathLst>
                <a:path extrusionOk="0" h="9172" w="9208">
                  <a:moveTo>
                    <a:pt x="1782" y="6720"/>
                  </a:moveTo>
                  <a:cubicBezTo>
                    <a:pt x="1957" y="6720"/>
                    <a:pt x="2130" y="6787"/>
                    <a:pt x="2266" y="6923"/>
                  </a:cubicBezTo>
                  <a:cubicBezTo>
                    <a:pt x="2534" y="7191"/>
                    <a:pt x="2534" y="7619"/>
                    <a:pt x="2266" y="7869"/>
                  </a:cubicBezTo>
                  <a:lnTo>
                    <a:pt x="1142" y="8244"/>
                  </a:lnTo>
                  <a:lnTo>
                    <a:pt x="928" y="8047"/>
                  </a:lnTo>
                  <a:lnTo>
                    <a:pt x="1303" y="6905"/>
                  </a:lnTo>
                  <a:cubicBezTo>
                    <a:pt x="1443" y="6783"/>
                    <a:pt x="1614" y="6720"/>
                    <a:pt x="1782" y="6720"/>
                  </a:cubicBezTo>
                  <a:close/>
                  <a:moveTo>
                    <a:pt x="7494" y="0"/>
                  </a:moveTo>
                  <a:lnTo>
                    <a:pt x="839" y="6656"/>
                  </a:lnTo>
                  <a:lnTo>
                    <a:pt x="0" y="9171"/>
                  </a:lnTo>
                  <a:lnTo>
                    <a:pt x="2552" y="8333"/>
                  </a:lnTo>
                  <a:lnTo>
                    <a:pt x="9207" y="1695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0"/>
            <p:cNvSpPr/>
            <p:nvPr/>
          </p:nvSpPr>
          <p:spPr>
            <a:xfrm>
              <a:off x="3367725" y="4021950"/>
              <a:ext cx="71375" cy="69150"/>
            </a:xfrm>
            <a:custGeom>
              <a:rect b="b" l="l" r="r" t="t"/>
              <a:pathLst>
                <a:path extrusionOk="0" h="2766" w="2855">
                  <a:moveTo>
                    <a:pt x="1320" y="0"/>
                  </a:moveTo>
                  <a:cubicBezTo>
                    <a:pt x="1187" y="0"/>
                    <a:pt x="1053" y="54"/>
                    <a:pt x="946" y="161"/>
                  </a:cubicBezTo>
                  <a:lnTo>
                    <a:pt x="0" y="1089"/>
                  </a:lnTo>
                  <a:lnTo>
                    <a:pt x="1695" y="2766"/>
                  </a:lnTo>
                  <a:lnTo>
                    <a:pt x="2623" y="1838"/>
                  </a:lnTo>
                  <a:cubicBezTo>
                    <a:pt x="2855" y="1642"/>
                    <a:pt x="2855" y="1303"/>
                    <a:pt x="2641" y="1106"/>
                  </a:cubicBezTo>
                  <a:lnTo>
                    <a:pt x="1695" y="161"/>
                  </a:lnTo>
                  <a:cubicBezTo>
                    <a:pt x="1588" y="54"/>
                    <a:pt x="1454" y="0"/>
                    <a:pt x="132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6" name="Google Shape;426;p40"/>
          <p:cNvSpPr/>
          <p:nvPr/>
        </p:nvSpPr>
        <p:spPr>
          <a:xfrm>
            <a:off x="4392895" y="2064848"/>
            <a:ext cx="825891" cy="824067"/>
          </a:xfrm>
          <a:custGeom>
            <a:rect b="b" l="l" r="r" t="t"/>
            <a:pathLst>
              <a:path extrusionOk="0" h="11956" w="11937">
                <a:moveTo>
                  <a:pt x="9225" y="1125"/>
                </a:moveTo>
                <a:lnTo>
                  <a:pt x="10831" y="2730"/>
                </a:lnTo>
                <a:lnTo>
                  <a:pt x="9814" y="3747"/>
                </a:lnTo>
                <a:lnTo>
                  <a:pt x="8975" y="2927"/>
                </a:lnTo>
                <a:lnTo>
                  <a:pt x="8583" y="3301"/>
                </a:lnTo>
                <a:lnTo>
                  <a:pt x="9421" y="4140"/>
                </a:lnTo>
                <a:lnTo>
                  <a:pt x="8368" y="5175"/>
                </a:lnTo>
                <a:lnTo>
                  <a:pt x="7548" y="4354"/>
                </a:lnTo>
                <a:lnTo>
                  <a:pt x="7173" y="4729"/>
                </a:lnTo>
                <a:lnTo>
                  <a:pt x="8012" y="5550"/>
                </a:lnTo>
                <a:lnTo>
                  <a:pt x="6977" y="6584"/>
                </a:lnTo>
                <a:lnTo>
                  <a:pt x="6138" y="5764"/>
                </a:lnTo>
                <a:lnTo>
                  <a:pt x="5763" y="6138"/>
                </a:lnTo>
                <a:lnTo>
                  <a:pt x="6602" y="6959"/>
                </a:lnTo>
                <a:lnTo>
                  <a:pt x="5549" y="7994"/>
                </a:lnTo>
                <a:lnTo>
                  <a:pt x="4728" y="7173"/>
                </a:lnTo>
                <a:lnTo>
                  <a:pt x="4354" y="7548"/>
                </a:lnTo>
                <a:lnTo>
                  <a:pt x="5175" y="8369"/>
                </a:lnTo>
                <a:lnTo>
                  <a:pt x="4140" y="9404"/>
                </a:lnTo>
                <a:lnTo>
                  <a:pt x="3319" y="8583"/>
                </a:lnTo>
                <a:lnTo>
                  <a:pt x="2944" y="8958"/>
                </a:lnTo>
                <a:lnTo>
                  <a:pt x="3765" y="9778"/>
                </a:lnTo>
                <a:lnTo>
                  <a:pt x="2748" y="10795"/>
                </a:lnTo>
                <a:lnTo>
                  <a:pt x="1160" y="9207"/>
                </a:lnTo>
                <a:lnTo>
                  <a:pt x="9225" y="1125"/>
                </a:lnTo>
                <a:close/>
                <a:moveTo>
                  <a:pt x="9225" y="1"/>
                </a:moveTo>
                <a:lnTo>
                  <a:pt x="0" y="9225"/>
                </a:lnTo>
                <a:lnTo>
                  <a:pt x="2730" y="11955"/>
                </a:lnTo>
                <a:lnTo>
                  <a:pt x="11937" y="2748"/>
                </a:lnTo>
                <a:lnTo>
                  <a:pt x="9225" y="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0"/>
          <p:cNvSpPr/>
          <p:nvPr/>
        </p:nvSpPr>
        <p:spPr>
          <a:xfrm>
            <a:off x="699265" y="2109611"/>
            <a:ext cx="737054" cy="734534"/>
          </a:xfrm>
          <a:custGeom>
            <a:rect b="b" l="l" r="r" t="t"/>
            <a:pathLst>
              <a:path extrusionOk="0" h="10657" w="10653">
                <a:moveTo>
                  <a:pt x="6254" y="823"/>
                </a:moveTo>
                <a:cubicBezTo>
                  <a:pt x="6352" y="823"/>
                  <a:pt x="6452" y="841"/>
                  <a:pt x="6549" y="879"/>
                </a:cubicBezTo>
                <a:cubicBezTo>
                  <a:pt x="6959" y="1040"/>
                  <a:pt x="7155" y="1504"/>
                  <a:pt x="6977" y="1914"/>
                </a:cubicBezTo>
                <a:cubicBezTo>
                  <a:pt x="6867" y="2217"/>
                  <a:pt x="6554" y="2414"/>
                  <a:pt x="6237" y="2414"/>
                </a:cubicBezTo>
                <a:cubicBezTo>
                  <a:pt x="6143" y="2414"/>
                  <a:pt x="6049" y="2397"/>
                  <a:pt x="5960" y="2360"/>
                </a:cubicBezTo>
                <a:cubicBezTo>
                  <a:pt x="5532" y="2200"/>
                  <a:pt x="5353" y="1736"/>
                  <a:pt x="5514" y="1325"/>
                </a:cubicBezTo>
                <a:cubicBezTo>
                  <a:pt x="5636" y="1012"/>
                  <a:pt x="5936" y="823"/>
                  <a:pt x="6254" y="823"/>
                </a:cubicBezTo>
                <a:close/>
                <a:moveTo>
                  <a:pt x="9047" y="3609"/>
                </a:moveTo>
                <a:cubicBezTo>
                  <a:pt x="9493" y="3609"/>
                  <a:pt x="9849" y="3966"/>
                  <a:pt x="9849" y="4394"/>
                </a:cubicBezTo>
                <a:cubicBezTo>
                  <a:pt x="9849" y="4840"/>
                  <a:pt x="9493" y="5197"/>
                  <a:pt x="9047" y="5197"/>
                </a:cubicBezTo>
                <a:cubicBezTo>
                  <a:pt x="8618" y="5197"/>
                  <a:pt x="8244" y="4840"/>
                  <a:pt x="8244" y="4394"/>
                </a:cubicBezTo>
                <a:cubicBezTo>
                  <a:pt x="8244" y="3966"/>
                  <a:pt x="8618" y="3609"/>
                  <a:pt x="9047" y="3609"/>
                </a:cubicBezTo>
                <a:close/>
                <a:moveTo>
                  <a:pt x="5585" y="4662"/>
                </a:moveTo>
                <a:cubicBezTo>
                  <a:pt x="5817" y="4662"/>
                  <a:pt x="5978" y="4840"/>
                  <a:pt x="5978" y="5072"/>
                </a:cubicBezTo>
                <a:cubicBezTo>
                  <a:pt x="5978" y="5304"/>
                  <a:pt x="5817" y="5465"/>
                  <a:pt x="5585" y="5465"/>
                </a:cubicBezTo>
                <a:cubicBezTo>
                  <a:pt x="5371" y="5465"/>
                  <a:pt x="5193" y="5304"/>
                  <a:pt x="5193" y="5072"/>
                </a:cubicBezTo>
                <a:cubicBezTo>
                  <a:pt x="5193" y="4840"/>
                  <a:pt x="5371" y="4662"/>
                  <a:pt x="5585" y="4662"/>
                </a:cubicBezTo>
                <a:close/>
                <a:moveTo>
                  <a:pt x="6272" y="0"/>
                </a:moveTo>
                <a:cubicBezTo>
                  <a:pt x="5644" y="0"/>
                  <a:pt x="5041" y="377"/>
                  <a:pt x="4782" y="1004"/>
                </a:cubicBezTo>
                <a:cubicBezTo>
                  <a:pt x="4443" y="1807"/>
                  <a:pt x="4853" y="2735"/>
                  <a:pt x="5656" y="3074"/>
                </a:cubicBezTo>
                <a:cubicBezTo>
                  <a:pt x="5817" y="3145"/>
                  <a:pt x="5978" y="3163"/>
                  <a:pt x="6138" y="3181"/>
                </a:cubicBezTo>
                <a:lnTo>
                  <a:pt x="4943" y="4376"/>
                </a:lnTo>
                <a:lnTo>
                  <a:pt x="4639" y="5036"/>
                </a:lnTo>
                <a:lnTo>
                  <a:pt x="803" y="7195"/>
                </a:lnTo>
                <a:lnTo>
                  <a:pt x="0" y="8534"/>
                </a:lnTo>
                <a:lnTo>
                  <a:pt x="3854" y="6803"/>
                </a:lnTo>
                <a:lnTo>
                  <a:pt x="2124" y="10657"/>
                </a:lnTo>
                <a:lnTo>
                  <a:pt x="2124" y="10657"/>
                </a:lnTo>
                <a:lnTo>
                  <a:pt x="3462" y="9854"/>
                </a:lnTo>
                <a:lnTo>
                  <a:pt x="5603" y="6036"/>
                </a:lnTo>
                <a:lnTo>
                  <a:pt x="6245" y="5732"/>
                </a:lnTo>
                <a:lnTo>
                  <a:pt x="7459" y="4537"/>
                </a:lnTo>
                <a:cubicBezTo>
                  <a:pt x="7512" y="5376"/>
                  <a:pt x="8208" y="6000"/>
                  <a:pt x="9047" y="6000"/>
                </a:cubicBezTo>
                <a:cubicBezTo>
                  <a:pt x="9939" y="6000"/>
                  <a:pt x="10652" y="5286"/>
                  <a:pt x="10652" y="4394"/>
                </a:cubicBezTo>
                <a:cubicBezTo>
                  <a:pt x="10652" y="3520"/>
                  <a:pt x="9939" y="2806"/>
                  <a:pt x="9047" y="2806"/>
                </a:cubicBezTo>
                <a:cubicBezTo>
                  <a:pt x="8708" y="2806"/>
                  <a:pt x="8386" y="2913"/>
                  <a:pt x="8119" y="3109"/>
                </a:cubicBezTo>
                <a:lnTo>
                  <a:pt x="6834" y="3823"/>
                </a:lnTo>
                <a:lnTo>
                  <a:pt x="7548" y="2539"/>
                </a:lnTo>
                <a:cubicBezTo>
                  <a:pt x="7619" y="2431"/>
                  <a:pt x="7690" y="2307"/>
                  <a:pt x="7726" y="2200"/>
                </a:cubicBezTo>
                <a:cubicBezTo>
                  <a:pt x="8065" y="1379"/>
                  <a:pt x="7673" y="451"/>
                  <a:pt x="6852" y="112"/>
                </a:cubicBezTo>
                <a:cubicBezTo>
                  <a:pt x="6662" y="36"/>
                  <a:pt x="6466" y="0"/>
                  <a:pt x="6272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8" name="Google Shape;428;p40"/>
          <p:cNvGrpSpPr/>
          <p:nvPr/>
        </p:nvGrpSpPr>
        <p:grpSpPr>
          <a:xfrm>
            <a:off x="714879" y="4536627"/>
            <a:ext cx="700039" cy="697383"/>
            <a:chOff x="5684575" y="4038000"/>
            <a:chExt cx="252950" cy="252950"/>
          </a:xfrm>
        </p:grpSpPr>
        <p:sp>
          <p:nvSpPr>
            <p:cNvPr id="429" name="Google Shape;429;p40"/>
            <p:cNvSpPr/>
            <p:nvPr/>
          </p:nvSpPr>
          <p:spPr>
            <a:xfrm>
              <a:off x="5684575" y="4038000"/>
              <a:ext cx="252950" cy="252950"/>
            </a:xfrm>
            <a:custGeom>
              <a:rect b="b" l="l" r="r" t="t"/>
              <a:pathLst>
                <a:path extrusionOk="0" h="10118" w="10118">
                  <a:moveTo>
                    <a:pt x="5068" y="803"/>
                  </a:moveTo>
                  <a:cubicBezTo>
                    <a:pt x="7405" y="803"/>
                    <a:pt x="9332" y="2730"/>
                    <a:pt x="9332" y="5068"/>
                  </a:cubicBezTo>
                  <a:cubicBezTo>
                    <a:pt x="9332" y="7405"/>
                    <a:pt x="7405" y="9314"/>
                    <a:pt x="5068" y="9314"/>
                  </a:cubicBezTo>
                  <a:cubicBezTo>
                    <a:pt x="2731" y="9314"/>
                    <a:pt x="804" y="7405"/>
                    <a:pt x="804" y="5068"/>
                  </a:cubicBezTo>
                  <a:cubicBezTo>
                    <a:pt x="804" y="2730"/>
                    <a:pt x="2731" y="803"/>
                    <a:pt x="5068" y="803"/>
                  </a:cubicBezTo>
                  <a:close/>
                  <a:moveTo>
                    <a:pt x="5068" y="1"/>
                  </a:moveTo>
                  <a:cubicBezTo>
                    <a:pt x="2267" y="1"/>
                    <a:pt x="1" y="2267"/>
                    <a:pt x="1" y="5068"/>
                  </a:cubicBezTo>
                  <a:cubicBezTo>
                    <a:pt x="1" y="7851"/>
                    <a:pt x="2267" y="10117"/>
                    <a:pt x="5068" y="10117"/>
                  </a:cubicBezTo>
                  <a:cubicBezTo>
                    <a:pt x="7851" y="10117"/>
                    <a:pt x="10118" y="7851"/>
                    <a:pt x="10118" y="5068"/>
                  </a:cubicBezTo>
                  <a:cubicBezTo>
                    <a:pt x="10118" y="2267"/>
                    <a:pt x="7851" y="1"/>
                    <a:pt x="5068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0"/>
            <p:cNvSpPr/>
            <p:nvPr/>
          </p:nvSpPr>
          <p:spPr>
            <a:xfrm>
              <a:off x="5804575" y="4097775"/>
              <a:ext cx="58000" cy="118225"/>
            </a:xfrm>
            <a:custGeom>
              <a:rect b="b" l="l" r="r" t="t"/>
              <a:pathLst>
                <a:path extrusionOk="0" h="4729" w="2320">
                  <a:moveTo>
                    <a:pt x="0" y="0"/>
                  </a:moveTo>
                  <a:lnTo>
                    <a:pt x="0" y="2677"/>
                  </a:lnTo>
                  <a:cubicBezTo>
                    <a:pt x="0" y="2748"/>
                    <a:pt x="36" y="2820"/>
                    <a:pt x="90" y="2855"/>
                  </a:cubicBezTo>
                  <a:lnTo>
                    <a:pt x="1963" y="4729"/>
                  </a:lnTo>
                  <a:lnTo>
                    <a:pt x="2320" y="4372"/>
                  </a:lnTo>
                  <a:lnTo>
                    <a:pt x="536" y="257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0"/>
            <p:cNvSpPr/>
            <p:nvPr/>
          </p:nvSpPr>
          <p:spPr>
            <a:xfrm>
              <a:off x="5804575" y="4071450"/>
              <a:ext cx="13400" cy="13400"/>
            </a:xfrm>
            <a:custGeom>
              <a:rect b="b" l="l" r="r" t="t"/>
              <a:pathLst>
                <a:path extrusionOk="0" h="536" w="536">
                  <a:moveTo>
                    <a:pt x="268" y="1"/>
                  </a:moveTo>
                  <a:cubicBezTo>
                    <a:pt x="125" y="1"/>
                    <a:pt x="0" y="126"/>
                    <a:pt x="0" y="268"/>
                  </a:cubicBezTo>
                  <a:cubicBezTo>
                    <a:pt x="0" y="411"/>
                    <a:pt x="125" y="536"/>
                    <a:pt x="268" y="536"/>
                  </a:cubicBezTo>
                  <a:cubicBezTo>
                    <a:pt x="411" y="536"/>
                    <a:pt x="536" y="411"/>
                    <a:pt x="536" y="268"/>
                  </a:cubicBezTo>
                  <a:cubicBezTo>
                    <a:pt x="536" y="126"/>
                    <a:pt x="411" y="1"/>
                    <a:pt x="268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0"/>
            <p:cNvSpPr/>
            <p:nvPr/>
          </p:nvSpPr>
          <p:spPr>
            <a:xfrm>
              <a:off x="5804575" y="4244525"/>
              <a:ext cx="13400" cy="12975"/>
            </a:xfrm>
            <a:custGeom>
              <a:rect b="b" l="l" r="r" t="t"/>
              <a:pathLst>
                <a:path extrusionOk="0" h="519" w="536">
                  <a:moveTo>
                    <a:pt x="268" y="1"/>
                  </a:moveTo>
                  <a:cubicBezTo>
                    <a:pt x="125" y="1"/>
                    <a:pt x="0" y="126"/>
                    <a:pt x="0" y="268"/>
                  </a:cubicBezTo>
                  <a:cubicBezTo>
                    <a:pt x="0" y="411"/>
                    <a:pt x="125" y="518"/>
                    <a:pt x="268" y="518"/>
                  </a:cubicBezTo>
                  <a:cubicBezTo>
                    <a:pt x="411" y="518"/>
                    <a:pt x="536" y="411"/>
                    <a:pt x="536" y="268"/>
                  </a:cubicBezTo>
                  <a:cubicBezTo>
                    <a:pt x="536" y="126"/>
                    <a:pt x="411" y="1"/>
                    <a:pt x="268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0"/>
            <p:cNvSpPr/>
            <p:nvPr/>
          </p:nvSpPr>
          <p:spPr>
            <a:xfrm>
              <a:off x="5718025" y="4158000"/>
              <a:ext cx="13425" cy="13400"/>
            </a:xfrm>
            <a:custGeom>
              <a:rect b="b" l="l" r="r" t="t"/>
              <a:pathLst>
                <a:path extrusionOk="0" h="536" w="537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35"/>
                    <a:pt x="269" y="535"/>
                  </a:cubicBezTo>
                  <a:cubicBezTo>
                    <a:pt x="411" y="535"/>
                    <a:pt x="536" y="411"/>
                    <a:pt x="536" y="268"/>
                  </a:cubicBezTo>
                  <a:cubicBezTo>
                    <a:pt x="536" y="125"/>
                    <a:pt x="411" y="0"/>
                    <a:pt x="26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5891100" y="4158000"/>
              <a:ext cx="13425" cy="13400"/>
            </a:xfrm>
            <a:custGeom>
              <a:rect b="b" l="l" r="r" t="t"/>
              <a:pathLst>
                <a:path extrusionOk="0" h="536" w="537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35"/>
                    <a:pt x="269" y="535"/>
                  </a:cubicBezTo>
                  <a:cubicBezTo>
                    <a:pt x="411" y="535"/>
                    <a:pt x="536" y="411"/>
                    <a:pt x="536" y="268"/>
                  </a:cubicBezTo>
                  <a:cubicBezTo>
                    <a:pt x="536" y="125"/>
                    <a:pt x="411" y="0"/>
                    <a:pt x="26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" name="Google Shape;435;p40"/>
          <p:cNvGrpSpPr/>
          <p:nvPr/>
        </p:nvGrpSpPr>
        <p:grpSpPr>
          <a:xfrm>
            <a:off x="8228520" y="2109762"/>
            <a:ext cx="695127" cy="734258"/>
            <a:chOff x="3927075" y="3612900"/>
            <a:chExt cx="251175" cy="266325"/>
          </a:xfrm>
        </p:grpSpPr>
        <p:sp>
          <p:nvSpPr>
            <p:cNvPr id="436" name="Google Shape;436;p40"/>
            <p:cNvSpPr/>
            <p:nvPr/>
          </p:nvSpPr>
          <p:spPr>
            <a:xfrm>
              <a:off x="4031450" y="3726200"/>
              <a:ext cx="40175" cy="39725"/>
            </a:xfrm>
            <a:custGeom>
              <a:rect b="b" l="l" r="r" t="t"/>
              <a:pathLst>
                <a:path extrusionOk="0" h="1589" w="1607">
                  <a:moveTo>
                    <a:pt x="804" y="1"/>
                  </a:moveTo>
                  <a:cubicBezTo>
                    <a:pt x="358" y="1"/>
                    <a:pt x="1" y="357"/>
                    <a:pt x="1" y="786"/>
                  </a:cubicBezTo>
                  <a:cubicBezTo>
                    <a:pt x="1" y="1232"/>
                    <a:pt x="358" y="1589"/>
                    <a:pt x="804" y="1589"/>
                  </a:cubicBezTo>
                  <a:cubicBezTo>
                    <a:pt x="1250" y="1589"/>
                    <a:pt x="1607" y="1232"/>
                    <a:pt x="1607" y="786"/>
                  </a:cubicBezTo>
                  <a:cubicBezTo>
                    <a:pt x="1607" y="357"/>
                    <a:pt x="1250" y="1"/>
                    <a:pt x="804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3927075" y="3612900"/>
              <a:ext cx="251175" cy="266325"/>
            </a:xfrm>
            <a:custGeom>
              <a:rect b="b" l="l" r="r" t="t"/>
              <a:pathLst>
                <a:path extrusionOk="0" h="10653" w="10047">
                  <a:moveTo>
                    <a:pt x="4979" y="536"/>
                  </a:moveTo>
                  <a:cubicBezTo>
                    <a:pt x="5389" y="536"/>
                    <a:pt x="5889" y="1249"/>
                    <a:pt x="6228" y="2463"/>
                  </a:cubicBezTo>
                  <a:cubicBezTo>
                    <a:pt x="5853" y="2606"/>
                    <a:pt x="5425" y="2766"/>
                    <a:pt x="5014" y="2945"/>
                  </a:cubicBezTo>
                  <a:cubicBezTo>
                    <a:pt x="4586" y="2748"/>
                    <a:pt x="4158" y="2570"/>
                    <a:pt x="3748" y="2445"/>
                  </a:cubicBezTo>
                  <a:cubicBezTo>
                    <a:pt x="4069" y="1232"/>
                    <a:pt x="4586" y="536"/>
                    <a:pt x="4979" y="536"/>
                  </a:cubicBezTo>
                  <a:close/>
                  <a:moveTo>
                    <a:pt x="6353" y="2980"/>
                  </a:moveTo>
                  <a:cubicBezTo>
                    <a:pt x="6406" y="3230"/>
                    <a:pt x="6442" y="3480"/>
                    <a:pt x="6478" y="3747"/>
                  </a:cubicBezTo>
                  <a:cubicBezTo>
                    <a:pt x="6335" y="3658"/>
                    <a:pt x="6210" y="3569"/>
                    <a:pt x="6049" y="3480"/>
                  </a:cubicBezTo>
                  <a:cubicBezTo>
                    <a:pt x="5907" y="3408"/>
                    <a:pt x="5782" y="3337"/>
                    <a:pt x="5639" y="3248"/>
                  </a:cubicBezTo>
                  <a:cubicBezTo>
                    <a:pt x="5871" y="3141"/>
                    <a:pt x="6121" y="3069"/>
                    <a:pt x="6353" y="2980"/>
                  </a:cubicBezTo>
                  <a:close/>
                  <a:moveTo>
                    <a:pt x="3605" y="2962"/>
                  </a:moveTo>
                  <a:cubicBezTo>
                    <a:pt x="3855" y="3034"/>
                    <a:pt x="4122" y="3141"/>
                    <a:pt x="4390" y="3248"/>
                  </a:cubicBezTo>
                  <a:cubicBezTo>
                    <a:pt x="4265" y="3319"/>
                    <a:pt x="4122" y="3391"/>
                    <a:pt x="3980" y="3480"/>
                  </a:cubicBezTo>
                  <a:cubicBezTo>
                    <a:pt x="3819" y="3587"/>
                    <a:pt x="3658" y="3694"/>
                    <a:pt x="3480" y="3801"/>
                  </a:cubicBezTo>
                  <a:cubicBezTo>
                    <a:pt x="3516" y="3498"/>
                    <a:pt x="3551" y="3230"/>
                    <a:pt x="3605" y="2962"/>
                  </a:cubicBezTo>
                  <a:close/>
                  <a:moveTo>
                    <a:pt x="1785" y="2623"/>
                  </a:moveTo>
                  <a:cubicBezTo>
                    <a:pt x="2178" y="2623"/>
                    <a:pt x="2606" y="2695"/>
                    <a:pt x="3087" y="2820"/>
                  </a:cubicBezTo>
                  <a:cubicBezTo>
                    <a:pt x="2998" y="3230"/>
                    <a:pt x="2927" y="3712"/>
                    <a:pt x="2891" y="4194"/>
                  </a:cubicBezTo>
                  <a:cubicBezTo>
                    <a:pt x="2517" y="4461"/>
                    <a:pt x="2178" y="4711"/>
                    <a:pt x="1892" y="4996"/>
                  </a:cubicBezTo>
                  <a:cubicBezTo>
                    <a:pt x="1000" y="4086"/>
                    <a:pt x="625" y="3284"/>
                    <a:pt x="821" y="2927"/>
                  </a:cubicBezTo>
                  <a:cubicBezTo>
                    <a:pt x="946" y="2730"/>
                    <a:pt x="1285" y="2623"/>
                    <a:pt x="1785" y="2623"/>
                  </a:cubicBezTo>
                  <a:close/>
                  <a:moveTo>
                    <a:pt x="8244" y="2623"/>
                  </a:moveTo>
                  <a:cubicBezTo>
                    <a:pt x="8726" y="2623"/>
                    <a:pt x="9083" y="2748"/>
                    <a:pt x="9208" y="2927"/>
                  </a:cubicBezTo>
                  <a:cubicBezTo>
                    <a:pt x="9404" y="3284"/>
                    <a:pt x="9047" y="4086"/>
                    <a:pt x="8137" y="4996"/>
                  </a:cubicBezTo>
                  <a:cubicBezTo>
                    <a:pt x="7816" y="4693"/>
                    <a:pt x="7459" y="4408"/>
                    <a:pt x="7049" y="4122"/>
                  </a:cubicBezTo>
                  <a:cubicBezTo>
                    <a:pt x="7013" y="3676"/>
                    <a:pt x="6941" y="3230"/>
                    <a:pt x="6852" y="2837"/>
                  </a:cubicBezTo>
                  <a:cubicBezTo>
                    <a:pt x="7352" y="2695"/>
                    <a:pt x="7851" y="2623"/>
                    <a:pt x="8244" y="2623"/>
                  </a:cubicBezTo>
                  <a:close/>
                  <a:moveTo>
                    <a:pt x="2856" y="4872"/>
                  </a:moveTo>
                  <a:cubicBezTo>
                    <a:pt x="2856" y="5032"/>
                    <a:pt x="2856" y="5175"/>
                    <a:pt x="2856" y="5318"/>
                  </a:cubicBezTo>
                  <a:cubicBezTo>
                    <a:pt x="2856" y="5496"/>
                    <a:pt x="2856" y="5674"/>
                    <a:pt x="2856" y="5835"/>
                  </a:cubicBezTo>
                  <a:cubicBezTo>
                    <a:pt x="2659" y="5674"/>
                    <a:pt x="2463" y="5514"/>
                    <a:pt x="2285" y="5353"/>
                  </a:cubicBezTo>
                  <a:cubicBezTo>
                    <a:pt x="2463" y="5193"/>
                    <a:pt x="2659" y="5032"/>
                    <a:pt x="2856" y="4872"/>
                  </a:cubicBezTo>
                  <a:close/>
                  <a:moveTo>
                    <a:pt x="7102" y="4818"/>
                  </a:moveTo>
                  <a:cubicBezTo>
                    <a:pt x="7334" y="5014"/>
                    <a:pt x="7548" y="5193"/>
                    <a:pt x="7744" y="5371"/>
                  </a:cubicBezTo>
                  <a:cubicBezTo>
                    <a:pt x="7548" y="5550"/>
                    <a:pt x="7334" y="5728"/>
                    <a:pt x="7102" y="5906"/>
                  </a:cubicBezTo>
                  <a:cubicBezTo>
                    <a:pt x="7102" y="5710"/>
                    <a:pt x="7102" y="5532"/>
                    <a:pt x="7102" y="5335"/>
                  </a:cubicBezTo>
                  <a:cubicBezTo>
                    <a:pt x="7102" y="5157"/>
                    <a:pt x="7102" y="4979"/>
                    <a:pt x="7102" y="4818"/>
                  </a:cubicBezTo>
                  <a:close/>
                  <a:moveTo>
                    <a:pt x="5014" y="3551"/>
                  </a:moveTo>
                  <a:cubicBezTo>
                    <a:pt x="5264" y="3658"/>
                    <a:pt x="5514" y="3801"/>
                    <a:pt x="5782" y="3944"/>
                  </a:cubicBezTo>
                  <a:cubicBezTo>
                    <a:pt x="6049" y="4104"/>
                    <a:pt x="6317" y="4265"/>
                    <a:pt x="6549" y="4425"/>
                  </a:cubicBezTo>
                  <a:cubicBezTo>
                    <a:pt x="6585" y="4711"/>
                    <a:pt x="6585" y="5014"/>
                    <a:pt x="6585" y="5318"/>
                  </a:cubicBezTo>
                  <a:cubicBezTo>
                    <a:pt x="6585" y="5657"/>
                    <a:pt x="6567" y="5978"/>
                    <a:pt x="6531" y="6299"/>
                  </a:cubicBezTo>
                  <a:cubicBezTo>
                    <a:pt x="6317" y="6424"/>
                    <a:pt x="6103" y="6567"/>
                    <a:pt x="5853" y="6709"/>
                  </a:cubicBezTo>
                  <a:cubicBezTo>
                    <a:pt x="5585" y="6870"/>
                    <a:pt x="5300" y="7030"/>
                    <a:pt x="5014" y="7155"/>
                  </a:cubicBezTo>
                  <a:cubicBezTo>
                    <a:pt x="4747" y="7030"/>
                    <a:pt x="4461" y="6870"/>
                    <a:pt x="4176" y="6709"/>
                  </a:cubicBezTo>
                  <a:cubicBezTo>
                    <a:pt x="3908" y="6549"/>
                    <a:pt x="3658" y="6388"/>
                    <a:pt x="3409" y="6228"/>
                  </a:cubicBezTo>
                  <a:cubicBezTo>
                    <a:pt x="3391" y="5942"/>
                    <a:pt x="3391" y="5657"/>
                    <a:pt x="3391" y="5318"/>
                  </a:cubicBezTo>
                  <a:cubicBezTo>
                    <a:pt x="3391" y="5032"/>
                    <a:pt x="3391" y="4764"/>
                    <a:pt x="3409" y="4479"/>
                  </a:cubicBezTo>
                  <a:cubicBezTo>
                    <a:pt x="3676" y="4301"/>
                    <a:pt x="3944" y="4122"/>
                    <a:pt x="4265" y="3944"/>
                  </a:cubicBezTo>
                  <a:cubicBezTo>
                    <a:pt x="4515" y="3801"/>
                    <a:pt x="4765" y="3658"/>
                    <a:pt x="5014" y="3551"/>
                  </a:cubicBezTo>
                  <a:close/>
                  <a:moveTo>
                    <a:pt x="6478" y="6959"/>
                  </a:moveTo>
                  <a:cubicBezTo>
                    <a:pt x="6424" y="7227"/>
                    <a:pt x="6388" y="7477"/>
                    <a:pt x="6353" y="7691"/>
                  </a:cubicBezTo>
                  <a:cubicBezTo>
                    <a:pt x="6121" y="7619"/>
                    <a:pt x="5871" y="7530"/>
                    <a:pt x="5639" y="7423"/>
                  </a:cubicBezTo>
                  <a:cubicBezTo>
                    <a:pt x="5800" y="7352"/>
                    <a:pt x="5960" y="7262"/>
                    <a:pt x="6121" y="7155"/>
                  </a:cubicBezTo>
                  <a:cubicBezTo>
                    <a:pt x="6246" y="7102"/>
                    <a:pt x="6371" y="7030"/>
                    <a:pt x="6478" y="6959"/>
                  </a:cubicBezTo>
                  <a:close/>
                  <a:moveTo>
                    <a:pt x="3480" y="6906"/>
                  </a:moveTo>
                  <a:lnTo>
                    <a:pt x="3480" y="6906"/>
                  </a:lnTo>
                  <a:cubicBezTo>
                    <a:pt x="3641" y="7013"/>
                    <a:pt x="3766" y="7084"/>
                    <a:pt x="3926" y="7173"/>
                  </a:cubicBezTo>
                  <a:cubicBezTo>
                    <a:pt x="4069" y="7262"/>
                    <a:pt x="4229" y="7352"/>
                    <a:pt x="4390" y="7423"/>
                  </a:cubicBezTo>
                  <a:cubicBezTo>
                    <a:pt x="4122" y="7530"/>
                    <a:pt x="3873" y="7637"/>
                    <a:pt x="3623" y="7709"/>
                  </a:cubicBezTo>
                  <a:cubicBezTo>
                    <a:pt x="3569" y="7459"/>
                    <a:pt x="3534" y="7191"/>
                    <a:pt x="3480" y="6906"/>
                  </a:cubicBezTo>
                  <a:close/>
                  <a:moveTo>
                    <a:pt x="1910" y="5728"/>
                  </a:moveTo>
                  <a:cubicBezTo>
                    <a:pt x="2213" y="5996"/>
                    <a:pt x="2552" y="6263"/>
                    <a:pt x="2909" y="6531"/>
                  </a:cubicBezTo>
                  <a:cubicBezTo>
                    <a:pt x="2945" y="6995"/>
                    <a:pt x="3016" y="7441"/>
                    <a:pt x="3105" y="7851"/>
                  </a:cubicBezTo>
                  <a:cubicBezTo>
                    <a:pt x="2659" y="7976"/>
                    <a:pt x="2231" y="8030"/>
                    <a:pt x="1856" y="8030"/>
                  </a:cubicBezTo>
                  <a:cubicBezTo>
                    <a:pt x="1375" y="8030"/>
                    <a:pt x="1018" y="7905"/>
                    <a:pt x="911" y="7726"/>
                  </a:cubicBezTo>
                  <a:cubicBezTo>
                    <a:pt x="697" y="7387"/>
                    <a:pt x="1053" y="6602"/>
                    <a:pt x="1910" y="5728"/>
                  </a:cubicBezTo>
                  <a:close/>
                  <a:moveTo>
                    <a:pt x="8137" y="5728"/>
                  </a:moveTo>
                  <a:cubicBezTo>
                    <a:pt x="8976" y="6602"/>
                    <a:pt x="9332" y="7387"/>
                    <a:pt x="9136" y="7726"/>
                  </a:cubicBezTo>
                  <a:cubicBezTo>
                    <a:pt x="9011" y="7923"/>
                    <a:pt x="8672" y="8030"/>
                    <a:pt x="8173" y="8030"/>
                  </a:cubicBezTo>
                  <a:cubicBezTo>
                    <a:pt x="7780" y="8030"/>
                    <a:pt x="7334" y="7958"/>
                    <a:pt x="6870" y="7851"/>
                  </a:cubicBezTo>
                  <a:cubicBezTo>
                    <a:pt x="6941" y="7441"/>
                    <a:pt x="7013" y="7030"/>
                    <a:pt x="7049" y="6584"/>
                  </a:cubicBezTo>
                  <a:cubicBezTo>
                    <a:pt x="7459" y="6299"/>
                    <a:pt x="7816" y="6031"/>
                    <a:pt x="8137" y="5728"/>
                  </a:cubicBezTo>
                  <a:close/>
                  <a:moveTo>
                    <a:pt x="5014" y="7744"/>
                  </a:moveTo>
                  <a:cubicBezTo>
                    <a:pt x="5425" y="7923"/>
                    <a:pt x="5835" y="8083"/>
                    <a:pt x="6210" y="8208"/>
                  </a:cubicBezTo>
                  <a:cubicBezTo>
                    <a:pt x="5871" y="9421"/>
                    <a:pt x="5389" y="10117"/>
                    <a:pt x="4979" y="10117"/>
                  </a:cubicBezTo>
                  <a:cubicBezTo>
                    <a:pt x="4586" y="10117"/>
                    <a:pt x="4069" y="9421"/>
                    <a:pt x="3748" y="8226"/>
                  </a:cubicBezTo>
                  <a:cubicBezTo>
                    <a:pt x="4158" y="8101"/>
                    <a:pt x="4586" y="7940"/>
                    <a:pt x="5014" y="7744"/>
                  </a:cubicBezTo>
                  <a:close/>
                  <a:moveTo>
                    <a:pt x="4979" y="0"/>
                  </a:moveTo>
                  <a:cubicBezTo>
                    <a:pt x="4265" y="0"/>
                    <a:pt x="3605" y="910"/>
                    <a:pt x="3230" y="2302"/>
                  </a:cubicBezTo>
                  <a:cubicBezTo>
                    <a:pt x="2695" y="2159"/>
                    <a:pt x="2213" y="2088"/>
                    <a:pt x="1803" y="2088"/>
                  </a:cubicBezTo>
                  <a:cubicBezTo>
                    <a:pt x="1107" y="2088"/>
                    <a:pt x="590" y="2267"/>
                    <a:pt x="375" y="2659"/>
                  </a:cubicBezTo>
                  <a:cubicBezTo>
                    <a:pt x="1" y="3301"/>
                    <a:pt x="482" y="4318"/>
                    <a:pt x="1517" y="5353"/>
                  </a:cubicBezTo>
                  <a:cubicBezTo>
                    <a:pt x="536" y="6370"/>
                    <a:pt x="72" y="7352"/>
                    <a:pt x="447" y="7976"/>
                  </a:cubicBezTo>
                  <a:cubicBezTo>
                    <a:pt x="661" y="8369"/>
                    <a:pt x="1178" y="8547"/>
                    <a:pt x="1856" y="8547"/>
                  </a:cubicBezTo>
                  <a:cubicBezTo>
                    <a:pt x="2267" y="8547"/>
                    <a:pt x="2731" y="8494"/>
                    <a:pt x="3230" y="8369"/>
                  </a:cubicBezTo>
                  <a:cubicBezTo>
                    <a:pt x="3623" y="9743"/>
                    <a:pt x="4265" y="10653"/>
                    <a:pt x="4979" y="10653"/>
                  </a:cubicBezTo>
                  <a:cubicBezTo>
                    <a:pt x="5693" y="10653"/>
                    <a:pt x="6353" y="9743"/>
                    <a:pt x="6727" y="8369"/>
                  </a:cubicBezTo>
                  <a:cubicBezTo>
                    <a:pt x="7245" y="8494"/>
                    <a:pt x="7727" y="8583"/>
                    <a:pt x="8155" y="8583"/>
                  </a:cubicBezTo>
                  <a:cubicBezTo>
                    <a:pt x="8851" y="8583"/>
                    <a:pt x="9350" y="8387"/>
                    <a:pt x="9582" y="8012"/>
                  </a:cubicBezTo>
                  <a:cubicBezTo>
                    <a:pt x="9939" y="7387"/>
                    <a:pt x="9493" y="6388"/>
                    <a:pt x="8512" y="5389"/>
                  </a:cubicBezTo>
                  <a:cubicBezTo>
                    <a:pt x="9564" y="4336"/>
                    <a:pt x="10046" y="3301"/>
                    <a:pt x="9671" y="2659"/>
                  </a:cubicBezTo>
                  <a:cubicBezTo>
                    <a:pt x="9439" y="2284"/>
                    <a:pt x="8940" y="2106"/>
                    <a:pt x="8244" y="2106"/>
                  </a:cubicBezTo>
                  <a:cubicBezTo>
                    <a:pt x="7798" y="2106"/>
                    <a:pt x="7298" y="2177"/>
                    <a:pt x="6745" y="2320"/>
                  </a:cubicBezTo>
                  <a:cubicBezTo>
                    <a:pt x="6353" y="928"/>
                    <a:pt x="5710" y="0"/>
                    <a:pt x="497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" name="Google Shape;438;p40"/>
          <p:cNvGrpSpPr/>
          <p:nvPr/>
        </p:nvGrpSpPr>
        <p:grpSpPr>
          <a:xfrm>
            <a:off x="8228690" y="4430070"/>
            <a:ext cx="694810" cy="811823"/>
            <a:chOff x="6907250" y="4018375"/>
            <a:chExt cx="226625" cy="265875"/>
          </a:xfrm>
        </p:grpSpPr>
        <p:sp>
          <p:nvSpPr>
            <p:cNvPr id="439" name="Google Shape;439;p40"/>
            <p:cNvSpPr/>
            <p:nvPr/>
          </p:nvSpPr>
          <p:spPr>
            <a:xfrm>
              <a:off x="6953650" y="4018375"/>
              <a:ext cx="133375" cy="119575"/>
            </a:xfrm>
            <a:custGeom>
              <a:rect b="b" l="l" r="r" t="t"/>
              <a:pathLst>
                <a:path extrusionOk="0" h="4783" w="5335">
                  <a:moveTo>
                    <a:pt x="2659" y="786"/>
                  </a:moveTo>
                  <a:cubicBezTo>
                    <a:pt x="3337" y="786"/>
                    <a:pt x="3854" y="1321"/>
                    <a:pt x="3854" y="1981"/>
                  </a:cubicBezTo>
                  <a:lnTo>
                    <a:pt x="1463" y="1981"/>
                  </a:lnTo>
                  <a:cubicBezTo>
                    <a:pt x="1463" y="1321"/>
                    <a:pt x="1998" y="786"/>
                    <a:pt x="2659" y="786"/>
                  </a:cubicBezTo>
                  <a:close/>
                  <a:moveTo>
                    <a:pt x="2659" y="0"/>
                  </a:moveTo>
                  <a:cubicBezTo>
                    <a:pt x="1570" y="0"/>
                    <a:pt x="660" y="893"/>
                    <a:pt x="660" y="1981"/>
                  </a:cubicBezTo>
                  <a:lnTo>
                    <a:pt x="0" y="1981"/>
                  </a:lnTo>
                  <a:lnTo>
                    <a:pt x="0" y="4515"/>
                  </a:lnTo>
                  <a:cubicBezTo>
                    <a:pt x="0" y="4657"/>
                    <a:pt x="125" y="4782"/>
                    <a:pt x="268" y="4782"/>
                  </a:cubicBezTo>
                  <a:lnTo>
                    <a:pt x="2123" y="4782"/>
                  </a:lnTo>
                  <a:lnTo>
                    <a:pt x="2123" y="4515"/>
                  </a:lnTo>
                  <a:cubicBezTo>
                    <a:pt x="2123" y="4372"/>
                    <a:pt x="2248" y="4247"/>
                    <a:pt x="2391" y="4247"/>
                  </a:cubicBezTo>
                  <a:lnTo>
                    <a:pt x="2926" y="4247"/>
                  </a:lnTo>
                  <a:cubicBezTo>
                    <a:pt x="3087" y="4247"/>
                    <a:pt x="3194" y="4372"/>
                    <a:pt x="3194" y="4515"/>
                  </a:cubicBezTo>
                  <a:lnTo>
                    <a:pt x="3194" y="4782"/>
                  </a:lnTo>
                  <a:lnTo>
                    <a:pt x="5067" y="4782"/>
                  </a:lnTo>
                  <a:cubicBezTo>
                    <a:pt x="5210" y="4782"/>
                    <a:pt x="5335" y="4657"/>
                    <a:pt x="5335" y="4515"/>
                  </a:cubicBezTo>
                  <a:lnTo>
                    <a:pt x="5335" y="1981"/>
                  </a:lnTo>
                  <a:lnTo>
                    <a:pt x="4657" y="1981"/>
                  </a:lnTo>
                  <a:cubicBezTo>
                    <a:pt x="4657" y="893"/>
                    <a:pt x="3765" y="0"/>
                    <a:pt x="265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6967025" y="4234275"/>
              <a:ext cx="106625" cy="49975"/>
            </a:xfrm>
            <a:custGeom>
              <a:rect b="b" l="l" r="r" t="t"/>
              <a:pathLst>
                <a:path extrusionOk="0" h="1999" w="4265">
                  <a:moveTo>
                    <a:pt x="179" y="0"/>
                  </a:moveTo>
                  <a:cubicBezTo>
                    <a:pt x="90" y="0"/>
                    <a:pt x="0" y="89"/>
                    <a:pt x="0" y="179"/>
                  </a:cubicBezTo>
                  <a:lnTo>
                    <a:pt x="0" y="1999"/>
                  </a:lnTo>
                  <a:lnTo>
                    <a:pt x="4265" y="1999"/>
                  </a:lnTo>
                  <a:lnTo>
                    <a:pt x="4265" y="179"/>
                  </a:lnTo>
                  <a:cubicBezTo>
                    <a:pt x="4265" y="89"/>
                    <a:pt x="4176" y="0"/>
                    <a:pt x="408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>
              <a:off x="6907250" y="4071900"/>
              <a:ext cx="226625" cy="212350"/>
            </a:xfrm>
            <a:custGeom>
              <a:rect b="b" l="l" r="r" t="t"/>
              <a:pathLst>
                <a:path extrusionOk="0" h="8494" w="9065">
                  <a:moveTo>
                    <a:pt x="1321" y="1"/>
                  </a:moveTo>
                  <a:cubicBezTo>
                    <a:pt x="1000" y="179"/>
                    <a:pt x="786" y="554"/>
                    <a:pt x="786" y="911"/>
                  </a:cubicBezTo>
                  <a:lnTo>
                    <a:pt x="786" y="4104"/>
                  </a:lnTo>
                  <a:lnTo>
                    <a:pt x="536" y="4104"/>
                  </a:lnTo>
                  <a:cubicBezTo>
                    <a:pt x="232" y="4104"/>
                    <a:pt x="0" y="4354"/>
                    <a:pt x="0" y="4640"/>
                  </a:cubicBezTo>
                  <a:lnTo>
                    <a:pt x="0" y="6763"/>
                  </a:lnTo>
                  <a:cubicBezTo>
                    <a:pt x="0" y="7066"/>
                    <a:pt x="232" y="7298"/>
                    <a:pt x="536" y="7298"/>
                  </a:cubicBezTo>
                  <a:lnTo>
                    <a:pt x="786" y="7298"/>
                  </a:lnTo>
                  <a:lnTo>
                    <a:pt x="786" y="7958"/>
                  </a:lnTo>
                  <a:cubicBezTo>
                    <a:pt x="786" y="8262"/>
                    <a:pt x="1035" y="8494"/>
                    <a:pt x="1321" y="8494"/>
                  </a:cubicBezTo>
                  <a:lnTo>
                    <a:pt x="1856" y="8494"/>
                  </a:lnTo>
                  <a:lnTo>
                    <a:pt x="1856" y="6674"/>
                  </a:lnTo>
                  <a:cubicBezTo>
                    <a:pt x="1856" y="6299"/>
                    <a:pt x="2177" y="5960"/>
                    <a:pt x="2570" y="5960"/>
                  </a:cubicBezTo>
                  <a:lnTo>
                    <a:pt x="6495" y="5960"/>
                  </a:lnTo>
                  <a:cubicBezTo>
                    <a:pt x="6888" y="5960"/>
                    <a:pt x="7191" y="6299"/>
                    <a:pt x="7191" y="6674"/>
                  </a:cubicBezTo>
                  <a:lnTo>
                    <a:pt x="7191" y="8494"/>
                  </a:lnTo>
                  <a:lnTo>
                    <a:pt x="7726" y="8494"/>
                  </a:lnTo>
                  <a:cubicBezTo>
                    <a:pt x="8030" y="8494"/>
                    <a:pt x="8262" y="8262"/>
                    <a:pt x="8262" y="7958"/>
                  </a:cubicBezTo>
                  <a:lnTo>
                    <a:pt x="8262" y="7298"/>
                  </a:lnTo>
                  <a:lnTo>
                    <a:pt x="8529" y="7298"/>
                  </a:lnTo>
                  <a:cubicBezTo>
                    <a:pt x="8815" y="7298"/>
                    <a:pt x="9065" y="7066"/>
                    <a:pt x="9065" y="6763"/>
                  </a:cubicBezTo>
                  <a:lnTo>
                    <a:pt x="9065" y="4640"/>
                  </a:lnTo>
                  <a:cubicBezTo>
                    <a:pt x="9047" y="4354"/>
                    <a:pt x="8815" y="4104"/>
                    <a:pt x="8511" y="4104"/>
                  </a:cubicBezTo>
                  <a:lnTo>
                    <a:pt x="8244" y="4104"/>
                  </a:lnTo>
                  <a:lnTo>
                    <a:pt x="8244" y="911"/>
                  </a:lnTo>
                  <a:cubicBezTo>
                    <a:pt x="8244" y="536"/>
                    <a:pt x="8047" y="179"/>
                    <a:pt x="7708" y="1"/>
                  </a:cubicBezTo>
                  <a:lnTo>
                    <a:pt x="7708" y="2374"/>
                  </a:lnTo>
                  <a:cubicBezTo>
                    <a:pt x="7708" y="2820"/>
                    <a:pt x="7352" y="3177"/>
                    <a:pt x="6923" y="3177"/>
                  </a:cubicBezTo>
                  <a:lnTo>
                    <a:pt x="5050" y="3177"/>
                  </a:lnTo>
                  <a:lnTo>
                    <a:pt x="5050" y="3444"/>
                  </a:lnTo>
                  <a:cubicBezTo>
                    <a:pt x="5050" y="3587"/>
                    <a:pt x="4943" y="3712"/>
                    <a:pt x="4782" y="3712"/>
                  </a:cubicBezTo>
                  <a:lnTo>
                    <a:pt x="4247" y="3712"/>
                  </a:lnTo>
                  <a:cubicBezTo>
                    <a:pt x="4104" y="3712"/>
                    <a:pt x="3979" y="3587"/>
                    <a:pt x="3979" y="3444"/>
                  </a:cubicBezTo>
                  <a:lnTo>
                    <a:pt x="3979" y="3177"/>
                  </a:lnTo>
                  <a:lnTo>
                    <a:pt x="2124" y="3177"/>
                  </a:lnTo>
                  <a:cubicBezTo>
                    <a:pt x="1695" y="3177"/>
                    <a:pt x="1321" y="2820"/>
                    <a:pt x="1321" y="2374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pared, niño, interior, cepillo de dientes&#10;&#10;Descripción generada automáticamente" id="446" name="Google Shape;44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3280" y="1516618"/>
            <a:ext cx="2868574" cy="1912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persona, suelo, pose, sujetando&#10;&#10;Descripción generada automáticamente" id="447" name="Google Shape;44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921" y="1516618"/>
            <a:ext cx="2868574" cy="1912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persona, hierba, exterior, niño&#10;&#10;Descripción generada automáticamente" id="448" name="Google Shape;44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64691" y="1507286"/>
            <a:ext cx="2868575" cy="1912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niño, persona, pequeño, joven&#10;&#10;Descripción generada automáticamente" id="449" name="Google Shape;449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0339" y="1516618"/>
            <a:ext cx="2868573" cy="1912382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1"/>
          <p:cNvSpPr txBox="1"/>
          <p:nvPr/>
        </p:nvSpPr>
        <p:spPr>
          <a:xfrm>
            <a:off x="326571" y="242600"/>
            <a:ext cx="115314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School Improvement Chair</a:t>
            </a: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 - Supporting the connection between district school improvement team and school based team </a:t>
            </a:r>
            <a:endParaRPr/>
          </a:p>
        </p:txBody>
      </p:sp>
      <p:cxnSp>
        <p:nvCxnSpPr>
          <p:cNvPr id="451" name="Google Shape;451;p41"/>
          <p:cNvCxnSpPr/>
          <p:nvPr/>
        </p:nvCxnSpPr>
        <p:spPr>
          <a:xfrm>
            <a:off x="506279" y="1362270"/>
            <a:ext cx="1229100" cy="0"/>
          </a:xfrm>
          <a:prstGeom prst="straightConnector1">
            <a:avLst/>
          </a:prstGeom>
          <a:noFill/>
          <a:ln cap="flat" cmpd="sng" w="19050">
            <a:solidFill>
              <a:srgbClr val="7DC39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2" name="Google Shape;452;p41"/>
          <p:cNvSpPr txBox="1"/>
          <p:nvPr/>
        </p:nvSpPr>
        <p:spPr>
          <a:xfrm>
            <a:off x="144805" y="3545240"/>
            <a:ext cx="282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ALIGNMENT</a:t>
            </a:r>
            <a:endParaRPr b="1"/>
          </a:p>
        </p:txBody>
      </p:sp>
      <p:sp>
        <p:nvSpPr>
          <p:cNvPr id="453" name="Google Shape;453;p41"/>
          <p:cNvSpPr txBox="1"/>
          <p:nvPr/>
        </p:nvSpPr>
        <p:spPr>
          <a:xfrm>
            <a:off x="3137166" y="3545240"/>
            <a:ext cx="282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COMMUNICATION</a:t>
            </a:r>
            <a:endParaRPr b="1"/>
          </a:p>
        </p:txBody>
      </p:sp>
      <p:sp>
        <p:nvSpPr>
          <p:cNvPr id="454" name="Google Shape;454;p41"/>
          <p:cNvSpPr txBox="1"/>
          <p:nvPr/>
        </p:nvSpPr>
        <p:spPr>
          <a:xfrm>
            <a:off x="6155753" y="3545240"/>
            <a:ext cx="282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IMPLEMENTATION</a:t>
            </a:r>
            <a:endParaRPr b="1"/>
          </a:p>
        </p:txBody>
      </p:sp>
      <p:sp>
        <p:nvSpPr>
          <p:cNvPr id="455" name="Google Shape;455;p41"/>
          <p:cNvSpPr txBox="1"/>
          <p:nvPr/>
        </p:nvSpPr>
        <p:spPr>
          <a:xfrm>
            <a:off x="9176000" y="3498574"/>
            <a:ext cx="282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SUPPORT</a:t>
            </a:r>
            <a:endParaRPr b="1"/>
          </a:p>
        </p:txBody>
      </p:sp>
      <p:sp>
        <p:nvSpPr>
          <p:cNvPr id="456" name="Google Shape;456;p41"/>
          <p:cNvSpPr txBox="1"/>
          <p:nvPr/>
        </p:nvSpPr>
        <p:spPr>
          <a:xfrm>
            <a:off x="215075" y="4118324"/>
            <a:ext cx="273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District goals → Building Goals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Team members representative of building make up.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(each grade </a:t>
            </a: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level, esl, mental health/behavior)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57" name="Google Shape;457;p41"/>
          <p:cNvSpPr txBox="1"/>
          <p:nvPr/>
        </p:nvSpPr>
        <p:spPr>
          <a:xfrm>
            <a:off x="3216425" y="4118375"/>
            <a:ext cx="2730000" cy="24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Frequent communication with principal, SIT members and building staff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Provide updates of the school improvement process at monthly staff meetings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Seek staff input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58" name="Google Shape;458;p41"/>
          <p:cNvSpPr txBox="1"/>
          <p:nvPr/>
        </p:nvSpPr>
        <p:spPr>
          <a:xfrm>
            <a:off x="6245450" y="4118374"/>
            <a:ext cx="273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Attend building &amp; district SIT meetings.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Monitor progress of </a:t>
            </a: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initiatives using program evaluation tools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</a:pPr>
            <a:r>
              <a:rPr lang="es-E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Gather data and evidence to analyze program effectiveness and fidelity.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59" name="Google Shape;459;p41"/>
          <p:cNvSpPr txBox="1"/>
          <p:nvPr/>
        </p:nvSpPr>
        <p:spPr>
          <a:xfrm>
            <a:off x="9246775" y="4118374"/>
            <a:ext cx="273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ES" sz="1600">
                <a:solidFill>
                  <a:schemeClr val="dk1"/>
                </a:solidFill>
              </a:rPr>
              <a:t>SIT members in completing the CNA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ES" sz="1600">
                <a:solidFill>
                  <a:schemeClr val="dk1"/>
                </a:solidFill>
              </a:rPr>
              <a:t>Build capacity by sharing knowledge with SIT members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ES" sz="1600">
                <a:solidFill>
                  <a:schemeClr val="dk1"/>
                </a:solidFill>
              </a:rPr>
              <a:t>Be an active thought partner with SIT team to brainstorm ideas and solutions.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2"/>
          <p:cNvSpPr txBox="1"/>
          <p:nvPr/>
        </p:nvSpPr>
        <p:spPr>
          <a:xfrm>
            <a:off x="326575" y="242600"/>
            <a:ext cx="116163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It all begins with a trusting relationship between the building principal and the school improvement chair. </a:t>
            </a:r>
            <a:endParaRPr b="1"/>
          </a:p>
        </p:txBody>
      </p:sp>
      <p:sp>
        <p:nvSpPr>
          <p:cNvPr id="465" name="Google Shape;465;p42"/>
          <p:cNvSpPr txBox="1"/>
          <p:nvPr/>
        </p:nvSpPr>
        <p:spPr>
          <a:xfrm>
            <a:off x="391886" y="827372"/>
            <a:ext cx="18229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466" name="Google Shape;466;p42"/>
          <p:cNvCxnSpPr/>
          <p:nvPr/>
        </p:nvCxnSpPr>
        <p:spPr>
          <a:xfrm>
            <a:off x="506279" y="1362270"/>
            <a:ext cx="1229217" cy="0"/>
          </a:xfrm>
          <a:prstGeom prst="straightConnector1">
            <a:avLst/>
          </a:prstGeom>
          <a:noFill/>
          <a:ln cap="flat" cmpd="sng" w="19050">
            <a:solidFill>
              <a:srgbClr val="E17D7D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7" name="Google Shape;467;p42"/>
          <p:cNvSpPr txBox="1"/>
          <p:nvPr/>
        </p:nvSpPr>
        <p:spPr>
          <a:xfrm>
            <a:off x="334500" y="1955125"/>
            <a:ext cx="27345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Before the beginning of the </a:t>
            </a:r>
            <a:r>
              <a:rPr b="1" lang="es-ES"/>
              <a:t>school</a:t>
            </a:r>
            <a:r>
              <a:rPr b="1" lang="es-ES"/>
              <a:t> year set monthly meeting dates with Principal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ES" sz="1600" u="sng">
                <a:solidFill>
                  <a:schemeClr val="hlink"/>
                </a:solidFill>
                <a:hlinkClick r:id="rId3"/>
              </a:rPr>
              <a:t>Monthly Agendas/</a:t>
            </a:r>
            <a:r>
              <a:rPr b="1" lang="es-ES" sz="1600">
                <a:solidFill>
                  <a:srgbClr val="3F3F3F"/>
                </a:solidFill>
              </a:rPr>
              <a:t>Sign Ins</a:t>
            </a:r>
            <a:endParaRPr b="1" sz="16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ES" sz="1600">
                <a:solidFill>
                  <a:srgbClr val="3F3F3F"/>
                </a:solidFill>
              </a:rPr>
              <a:t>review previous &amp; future district agenda to plan tasks</a:t>
            </a:r>
            <a:endParaRPr/>
          </a:p>
        </p:txBody>
      </p:sp>
      <p:sp>
        <p:nvSpPr>
          <p:cNvPr id="468" name="Google Shape;468;p42"/>
          <p:cNvSpPr txBox="1"/>
          <p:nvPr/>
        </p:nvSpPr>
        <p:spPr>
          <a:xfrm>
            <a:off x="3363425" y="1955127"/>
            <a:ext cx="2569500" cy="17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ES" sz="1600">
                <a:solidFill>
                  <a:srgbClr val="3F3F3F"/>
                </a:solidFill>
              </a:rPr>
              <a:t>D</a:t>
            </a:r>
            <a:r>
              <a:rPr b="1" lang="es-ES" sz="1600">
                <a:solidFill>
                  <a:srgbClr val="3F3F3F"/>
                </a:solidFill>
              </a:rPr>
              <a:t>ata/Evidence Collection</a:t>
            </a:r>
            <a:endParaRPr b="1"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ES" sz="1600">
                <a:solidFill>
                  <a:srgbClr val="3F3F3F"/>
                </a:solidFill>
              </a:rPr>
              <a:t>OnSite Review Items</a:t>
            </a:r>
            <a:endParaRPr b="1"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b="1" lang="es-ES" sz="1600" u="sng">
                <a:solidFill>
                  <a:schemeClr val="hlink"/>
                </a:solidFill>
                <a:hlinkClick r:id="rId4"/>
              </a:rPr>
              <a:t>digital</a:t>
            </a:r>
            <a:endParaRPr b="1"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b="1" lang="es-ES" sz="1600">
                <a:solidFill>
                  <a:srgbClr val="3F3F3F"/>
                </a:solidFill>
              </a:rPr>
              <a:t>plastic bin divided by strands</a:t>
            </a:r>
            <a:endParaRPr b="1" sz="1600">
              <a:solidFill>
                <a:srgbClr val="3F3F3F"/>
              </a:solidFill>
            </a:endParaRPr>
          </a:p>
        </p:txBody>
      </p:sp>
      <p:sp>
        <p:nvSpPr>
          <p:cNvPr id="469" name="Google Shape;469;p42"/>
          <p:cNvSpPr txBox="1"/>
          <p:nvPr/>
        </p:nvSpPr>
        <p:spPr>
          <a:xfrm>
            <a:off x="6203350" y="1955125"/>
            <a:ext cx="2734500" cy="21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ES" sz="1600">
                <a:solidFill>
                  <a:srgbClr val="3F3F3F"/>
                </a:solidFill>
              </a:rPr>
              <a:t>CNA</a:t>
            </a:r>
            <a:endParaRPr b="1" sz="1600">
              <a:solidFill>
                <a:srgbClr val="3F3F3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b="1" lang="es-ES" sz="1600">
                <a:solidFill>
                  <a:srgbClr val="3F3F3F"/>
                </a:solidFill>
              </a:rPr>
              <a:t>Data (achievement, perception, process)</a:t>
            </a:r>
            <a:endParaRPr b="1"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b="1" lang="es-ES" sz="1600">
                <a:solidFill>
                  <a:srgbClr val="3F3F3F"/>
                </a:solidFill>
              </a:rPr>
              <a:t>Team updates narrative </a:t>
            </a:r>
            <a:endParaRPr b="1"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2"/>
          <p:cNvSpPr txBox="1"/>
          <p:nvPr/>
        </p:nvSpPr>
        <p:spPr>
          <a:xfrm>
            <a:off x="9375625" y="1955125"/>
            <a:ext cx="27345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ES" sz="1600" u="sng">
                <a:solidFill>
                  <a:schemeClr val="hlink"/>
                </a:solidFill>
                <a:hlinkClick r:id="rId5"/>
              </a:rPr>
              <a:t>Program Evaluations</a:t>
            </a:r>
            <a:endParaRPr b="1"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ES" sz="1600">
                <a:solidFill>
                  <a:srgbClr val="3F3F3F"/>
                </a:solidFill>
              </a:rPr>
              <a:t>content areas and high cost initiatives</a:t>
            </a:r>
            <a:endParaRPr b="1"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b="1" lang="es-ES" sz="1600">
                <a:solidFill>
                  <a:srgbClr val="3F3F3F"/>
                </a:solidFill>
              </a:rPr>
              <a:t>added mid year review</a:t>
            </a:r>
            <a:endParaRPr/>
          </a:p>
        </p:txBody>
      </p:sp>
      <p:sp>
        <p:nvSpPr>
          <p:cNvPr id="471" name="Google Shape;471;p42"/>
          <p:cNvSpPr txBox="1"/>
          <p:nvPr/>
        </p:nvSpPr>
        <p:spPr>
          <a:xfrm>
            <a:off x="683925" y="5090750"/>
            <a:ext cx="10690500" cy="10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lt1"/>
                </a:solidFill>
              </a:rPr>
              <a:t>School Improvement Chairs are paid a yearly stipend and team members are paid an hourly rate.  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DC39E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3"/>
          <p:cNvSpPr txBox="1"/>
          <p:nvPr/>
        </p:nvSpPr>
        <p:spPr>
          <a:xfrm>
            <a:off x="-125" y="1046050"/>
            <a:ext cx="12192000" cy="26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latin typeface="Cabin"/>
                <a:ea typeface="Cabin"/>
                <a:cs typeface="Cabin"/>
                <a:sym typeface="Cabin"/>
              </a:rPr>
              <a:t>Time for Questions</a:t>
            </a:r>
            <a:endParaRPr b="1" sz="72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latin typeface="Cabin"/>
                <a:ea typeface="Cabin"/>
                <a:cs typeface="Cabin"/>
                <a:sym typeface="Cabin"/>
              </a:rPr>
              <a:t>and </a:t>
            </a:r>
            <a:endParaRPr b="1" sz="72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latin typeface="Cabin"/>
                <a:ea typeface="Cabin"/>
                <a:cs typeface="Cabin"/>
                <a:sym typeface="Cabin"/>
              </a:rPr>
              <a:t>Shared Resources</a:t>
            </a:r>
            <a:endParaRPr b="1" sz="720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"/>
          <p:cNvSpPr txBox="1"/>
          <p:nvPr/>
        </p:nvSpPr>
        <p:spPr>
          <a:xfrm>
            <a:off x="13" y="298650"/>
            <a:ext cx="12192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1"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HELP! </a:t>
            </a:r>
            <a:endParaRPr b="1" i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3F3F3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2" name="Google Shape;482;p44"/>
          <p:cNvSpPr txBox="1"/>
          <p:nvPr/>
        </p:nvSpPr>
        <p:spPr>
          <a:xfrm>
            <a:off x="265050" y="1122525"/>
            <a:ext cx="3695100" cy="52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4"/>
          <p:cNvSpPr txBox="1"/>
          <p:nvPr/>
        </p:nvSpPr>
        <p:spPr>
          <a:xfrm>
            <a:off x="4260575" y="1122525"/>
            <a:ext cx="3695100" cy="52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4"/>
          <p:cNvSpPr txBox="1"/>
          <p:nvPr/>
        </p:nvSpPr>
        <p:spPr>
          <a:xfrm>
            <a:off x="8256100" y="1122525"/>
            <a:ext cx="3695100" cy="52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4"/>
          <p:cNvSpPr txBox="1"/>
          <p:nvPr/>
        </p:nvSpPr>
        <p:spPr>
          <a:xfrm>
            <a:off x="452125" y="1294025"/>
            <a:ext cx="3414300" cy="95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/>
              <a:t>Admin Dashboard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Link</a:t>
            </a:r>
            <a:endParaRPr/>
          </a:p>
        </p:txBody>
      </p:sp>
      <p:sp>
        <p:nvSpPr>
          <p:cNvPr id="486" name="Google Shape;486;p44"/>
          <p:cNvSpPr txBox="1"/>
          <p:nvPr/>
        </p:nvSpPr>
        <p:spPr>
          <a:xfrm>
            <a:off x="4400975" y="1294025"/>
            <a:ext cx="3414300" cy="95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/>
              <a:t>District</a:t>
            </a:r>
            <a:r>
              <a:rPr b="1" lang="es-ES" sz="2200"/>
              <a:t> Website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Link</a:t>
            </a:r>
            <a:endParaRPr/>
          </a:p>
        </p:txBody>
      </p:sp>
      <p:sp>
        <p:nvSpPr>
          <p:cNvPr id="487" name="Google Shape;487;p44"/>
          <p:cNvSpPr txBox="1"/>
          <p:nvPr/>
        </p:nvSpPr>
        <p:spPr>
          <a:xfrm>
            <a:off x="8396500" y="1294025"/>
            <a:ext cx="3414300" cy="95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/>
              <a:t>Q/A Document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Link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5"/>
          <p:cNvSpPr txBox="1"/>
          <p:nvPr/>
        </p:nvSpPr>
        <p:spPr>
          <a:xfrm>
            <a:off x="326572" y="242597"/>
            <a:ext cx="23374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TITLE HERE</a:t>
            </a:r>
            <a:endParaRPr/>
          </a:p>
        </p:txBody>
      </p:sp>
      <p:sp>
        <p:nvSpPr>
          <p:cNvPr id="493" name="Google Shape;493;p45"/>
          <p:cNvSpPr txBox="1"/>
          <p:nvPr/>
        </p:nvSpPr>
        <p:spPr>
          <a:xfrm>
            <a:off x="391886" y="827372"/>
            <a:ext cx="18229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3F3F3F"/>
                </a:solidFill>
                <a:latin typeface="Barlow"/>
                <a:ea typeface="Barlow"/>
                <a:cs typeface="Barlow"/>
                <a:sym typeface="Barlow"/>
              </a:rPr>
              <a:t>SUBTITLE HERE</a:t>
            </a:r>
            <a:endParaRPr b="1"/>
          </a:p>
        </p:txBody>
      </p:sp>
      <p:cxnSp>
        <p:nvCxnSpPr>
          <p:cNvPr id="494" name="Google Shape;494;p45"/>
          <p:cNvCxnSpPr/>
          <p:nvPr/>
        </p:nvCxnSpPr>
        <p:spPr>
          <a:xfrm>
            <a:off x="506279" y="1362270"/>
            <a:ext cx="1229217" cy="0"/>
          </a:xfrm>
          <a:prstGeom prst="straightConnector1">
            <a:avLst/>
          </a:prstGeom>
          <a:noFill/>
          <a:ln cap="flat" cmpd="sng" w="19050">
            <a:solidFill>
              <a:srgbClr val="E9C3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5" name="Google Shape;495;p45"/>
          <p:cNvSpPr txBox="1"/>
          <p:nvPr/>
        </p:nvSpPr>
        <p:spPr>
          <a:xfrm>
            <a:off x="497632" y="1857949"/>
            <a:ext cx="11196736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consectetuer adipiscing elit. Aenean commodo ligula eget dolor. Aenean massa.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Cum sociis natoque penatibus et magnis dis parturient montes, nascetur ridiculus mus. Donec quam felis, ultricies nec, pellentesque eu, pretium quis, sem.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Nulla consequat massa quis enim. Donec pede justo, fringilla vel, aliquet nec, vulputate eget, arcu. In enim justo, rhoncus ut, imperdiet a, venenatis vitae, justo.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96" name="Google Shape;496;p45"/>
          <p:cNvGrpSpPr/>
          <p:nvPr/>
        </p:nvGrpSpPr>
        <p:grpSpPr>
          <a:xfrm>
            <a:off x="9574662" y="4630398"/>
            <a:ext cx="1774768" cy="1728347"/>
            <a:chOff x="3171000" y="4021950"/>
            <a:chExt cx="268100" cy="265875"/>
          </a:xfrm>
        </p:grpSpPr>
        <p:sp>
          <p:nvSpPr>
            <p:cNvPr id="497" name="Google Shape;497;p45"/>
            <p:cNvSpPr/>
            <p:nvPr/>
          </p:nvSpPr>
          <p:spPr>
            <a:xfrm>
              <a:off x="3171000" y="4058525"/>
              <a:ext cx="230200" cy="229300"/>
            </a:xfrm>
            <a:custGeom>
              <a:rect b="b" l="l" r="r" t="t"/>
              <a:pathLst>
                <a:path extrusionOk="0" h="9172" w="9208">
                  <a:moveTo>
                    <a:pt x="1782" y="6720"/>
                  </a:moveTo>
                  <a:cubicBezTo>
                    <a:pt x="1957" y="6720"/>
                    <a:pt x="2130" y="6787"/>
                    <a:pt x="2266" y="6923"/>
                  </a:cubicBezTo>
                  <a:cubicBezTo>
                    <a:pt x="2534" y="7191"/>
                    <a:pt x="2534" y="7619"/>
                    <a:pt x="2266" y="7869"/>
                  </a:cubicBezTo>
                  <a:lnTo>
                    <a:pt x="1142" y="8244"/>
                  </a:lnTo>
                  <a:lnTo>
                    <a:pt x="928" y="8047"/>
                  </a:lnTo>
                  <a:lnTo>
                    <a:pt x="1303" y="6905"/>
                  </a:lnTo>
                  <a:cubicBezTo>
                    <a:pt x="1443" y="6783"/>
                    <a:pt x="1614" y="6720"/>
                    <a:pt x="1782" y="6720"/>
                  </a:cubicBezTo>
                  <a:close/>
                  <a:moveTo>
                    <a:pt x="7494" y="0"/>
                  </a:moveTo>
                  <a:lnTo>
                    <a:pt x="839" y="6656"/>
                  </a:lnTo>
                  <a:lnTo>
                    <a:pt x="0" y="9171"/>
                  </a:lnTo>
                  <a:lnTo>
                    <a:pt x="2552" y="8333"/>
                  </a:lnTo>
                  <a:lnTo>
                    <a:pt x="9207" y="1695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91E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5"/>
            <p:cNvSpPr/>
            <p:nvPr/>
          </p:nvSpPr>
          <p:spPr>
            <a:xfrm>
              <a:off x="3367725" y="4021950"/>
              <a:ext cx="71375" cy="69150"/>
            </a:xfrm>
            <a:custGeom>
              <a:rect b="b" l="l" r="r" t="t"/>
              <a:pathLst>
                <a:path extrusionOk="0" h="2766" w="2855">
                  <a:moveTo>
                    <a:pt x="1320" y="0"/>
                  </a:moveTo>
                  <a:cubicBezTo>
                    <a:pt x="1187" y="0"/>
                    <a:pt x="1053" y="54"/>
                    <a:pt x="946" y="161"/>
                  </a:cubicBezTo>
                  <a:lnTo>
                    <a:pt x="0" y="1089"/>
                  </a:lnTo>
                  <a:lnTo>
                    <a:pt x="1695" y="2766"/>
                  </a:lnTo>
                  <a:lnTo>
                    <a:pt x="2623" y="1838"/>
                  </a:lnTo>
                  <a:cubicBezTo>
                    <a:pt x="2855" y="1642"/>
                    <a:pt x="2855" y="1303"/>
                    <a:pt x="2641" y="1106"/>
                  </a:cubicBezTo>
                  <a:lnTo>
                    <a:pt x="1695" y="161"/>
                  </a:lnTo>
                  <a:cubicBezTo>
                    <a:pt x="1588" y="54"/>
                    <a:pt x="1454" y="0"/>
                    <a:pt x="1320" y="0"/>
                  </a:cubicBezTo>
                  <a:close/>
                </a:path>
              </a:pathLst>
            </a:custGeom>
            <a:solidFill>
              <a:srgbClr val="91E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9" name="Google Shape;499;p45"/>
          <p:cNvSpPr/>
          <p:nvPr/>
        </p:nvSpPr>
        <p:spPr>
          <a:xfrm>
            <a:off x="6625765" y="4415723"/>
            <a:ext cx="1975514" cy="1943029"/>
          </a:xfrm>
          <a:custGeom>
            <a:rect b="b" l="l" r="r" t="t"/>
            <a:pathLst>
              <a:path extrusionOk="0" h="11956" w="11937">
                <a:moveTo>
                  <a:pt x="9225" y="1125"/>
                </a:moveTo>
                <a:lnTo>
                  <a:pt x="10831" y="2730"/>
                </a:lnTo>
                <a:lnTo>
                  <a:pt x="9814" y="3747"/>
                </a:lnTo>
                <a:lnTo>
                  <a:pt x="8975" y="2927"/>
                </a:lnTo>
                <a:lnTo>
                  <a:pt x="8583" y="3301"/>
                </a:lnTo>
                <a:lnTo>
                  <a:pt x="9421" y="4140"/>
                </a:lnTo>
                <a:lnTo>
                  <a:pt x="8368" y="5175"/>
                </a:lnTo>
                <a:lnTo>
                  <a:pt x="7548" y="4354"/>
                </a:lnTo>
                <a:lnTo>
                  <a:pt x="7173" y="4729"/>
                </a:lnTo>
                <a:lnTo>
                  <a:pt x="8012" y="5550"/>
                </a:lnTo>
                <a:lnTo>
                  <a:pt x="6977" y="6584"/>
                </a:lnTo>
                <a:lnTo>
                  <a:pt x="6138" y="5764"/>
                </a:lnTo>
                <a:lnTo>
                  <a:pt x="5763" y="6138"/>
                </a:lnTo>
                <a:lnTo>
                  <a:pt x="6602" y="6959"/>
                </a:lnTo>
                <a:lnTo>
                  <a:pt x="5549" y="7994"/>
                </a:lnTo>
                <a:lnTo>
                  <a:pt x="4728" y="7173"/>
                </a:lnTo>
                <a:lnTo>
                  <a:pt x="4354" y="7548"/>
                </a:lnTo>
                <a:lnTo>
                  <a:pt x="5175" y="8369"/>
                </a:lnTo>
                <a:lnTo>
                  <a:pt x="4140" y="9404"/>
                </a:lnTo>
                <a:lnTo>
                  <a:pt x="3319" y="8583"/>
                </a:lnTo>
                <a:lnTo>
                  <a:pt x="2944" y="8958"/>
                </a:lnTo>
                <a:lnTo>
                  <a:pt x="3765" y="9778"/>
                </a:lnTo>
                <a:lnTo>
                  <a:pt x="2748" y="10795"/>
                </a:lnTo>
                <a:lnTo>
                  <a:pt x="1160" y="9207"/>
                </a:lnTo>
                <a:lnTo>
                  <a:pt x="9225" y="1125"/>
                </a:lnTo>
                <a:close/>
                <a:moveTo>
                  <a:pt x="9225" y="1"/>
                </a:moveTo>
                <a:lnTo>
                  <a:pt x="0" y="9225"/>
                </a:lnTo>
                <a:lnTo>
                  <a:pt x="2730" y="11955"/>
                </a:lnTo>
                <a:lnTo>
                  <a:pt x="11937" y="2748"/>
                </a:lnTo>
                <a:lnTo>
                  <a:pt x="9225" y="1"/>
                </a:lnTo>
                <a:close/>
              </a:path>
            </a:pathLst>
          </a:cu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5"/>
          <p:cNvSpPr/>
          <p:nvPr/>
        </p:nvSpPr>
        <p:spPr>
          <a:xfrm>
            <a:off x="3612536" y="4521270"/>
            <a:ext cx="1763018" cy="1731922"/>
          </a:xfrm>
          <a:custGeom>
            <a:rect b="b" l="l" r="r" t="t"/>
            <a:pathLst>
              <a:path extrusionOk="0" h="10657" w="10653">
                <a:moveTo>
                  <a:pt x="6254" y="823"/>
                </a:moveTo>
                <a:cubicBezTo>
                  <a:pt x="6352" y="823"/>
                  <a:pt x="6452" y="841"/>
                  <a:pt x="6549" y="879"/>
                </a:cubicBezTo>
                <a:cubicBezTo>
                  <a:pt x="6959" y="1040"/>
                  <a:pt x="7155" y="1504"/>
                  <a:pt x="6977" y="1914"/>
                </a:cubicBezTo>
                <a:cubicBezTo>
                  <a:pt x="6867" y="2217"/>
                  <a:pt x="6554" y="2414"/>
                  <a:pt x="6237" y="2414"/>
                </a:cubicBezTo>
                <a:cubicBezTo>
                  <a:pt x="6143" y="2414"/>
                  <a:pt x="6049" y="2397"/>
                  <a:pt x="5960" y="2360"/>
                </a:cubicBezTo>
                <a:cubicBezTo>
                  <a:pt x="5532" y="2200"/>
                  <a:pt x="5353" y="1736"/>
                  <a:pt x="5514" y="1325"/>
                </a:cubicBezTo>
                <a:cubicBezTo>
                  <a:pt x="5636" y="1012"/>
                  <a:pt x="5936" y="823"/>
                  <a:pt x="6254" y="823"/>
                </a:cubicBezTo>
                <a:close/>
                <a:moveTo>
                  <a:pt x="9047" y="3609"/>
                </a:moveTo>
                <a:cubicBezTo>
                  <a:pt x="9493" y="3609"/>
                  <a:pt x="9849" y="3966"/>
                  <a:pt x="9849" y="4394"/>
                </a:cubicBezTo>
                <a:cubicBezTo>
                  <a:pt x="9849" y="4840"/>
                  <a:pt x="9493" y="5197"/>
                  <a:pt x="9047" y="5197"/>
                </a:cubicBezTo>
                <a:cubicBezTo>
                  <a:pt x="8618" y="5197"/>
                  <a:pt x="8244" y="4840"/>
                  <a:pt x="8244" y="4394"/>
                </a:cubicBezTo>
                <a:cubicBezTo>
                  <a:pt x="8244" y="3966"/>
                  <a:pt x="8618" y="3609"/>
                  <a:pt x="9047" y="3609"/>
                </a:cubicBezTo>
                <a:close/>
                <a:moveTo>
                  <a:pt x="5585" y="4662"/>
                </a:moveTo>
                <a:cubicBezTo>
                  <a:pt x="5817" y="4662"/>
                  <a:pt x="5978" y="4840"/>
                  <a:pt x="5978" y="5072"/>
                </a:cubicBezTo>
                <a:cubicBezTo>
                  <a:pt x="5978" y="5304"/>
                  <a:pt x="5817" y="5465"/>
                  <a:pt x="5585" y="5465"/>
                </a:cubicBezTo>
                <a:cubicBezTo>
                  <a:pt x="5371" y="5465"/>
                  <a:pt x="5193" y="5304"/>
                  <a:pt x="5193" y="5072"/>
                </a:cubicBezTo>
                <a:cubicBezTo>
                  <a:pt x="5193" y="4840"/>
                  <a:pt x="5371" y="4662"/>
                  <a:pt x="5585" y="4662"/>
                </a:cubicBezTo>
                <a:close/>
                <a:moveTo>
                  <a:pt x="6272" y="0"/>
                </a:moveTo>
                <a:cubicBezTo>
                  <a:pt x="5644" y="0"/>
                  <a:pt x="5041" y="377"/>
                  <a:pt x="4782" y="1004"/>
                </a:cubicBezTo>
                <a:cubicBezTo>
                  <a:pt x="4443" y="1807"/>
                  <a:pt x="4853" y="2735"/>
                  <a:pt x="5656" y="3074"/>
                </a:cubicBezTo>
                <a:cubicBezTo>
                  <a:pt x="5817" y="3145"/>
                  <a:pt x="5978" y="3163"/>
                  <a:pt x="6138" y="3181"/>
                </a:cubicBezTo>
                <a:lnTo>
                  <a:pt x="4943" y="4376"/>
                </a:lnTo>
                <a:lnTo>
                  <a:pt x="4639" y="5036"/>
                </a:lnTo>
                <a:lnTo>
                  <a:pt x="803" y="7195"/>
                </a:lnTo>
                <a:lnTo>
                  <a:pt x="0" y="8534"/>
                </a:lnTo>
                <a:lnTo>
                  <a:pt x="3854" y="6803"/>
                </a:lnTo>
                <a:lnTo>
                  <a:pt x="2124" y="10657"/>
                </a:lnTo>
                <a:lnTo>
                  <a:pt x="2124" y="10657"/>
                </a:lnTo>
                <a:lnTo>
                  <a:pt x="3462" y="9854"/>
                </a:lnTo>
                <a:lnTo>
                  <a:pt x="5603" y="6036"/>
                </a:lnTo>
                <a:lnTo>
                  <a:pt x="6245" y="5732"/>
                </a:lnTo>
                <a:lnTo>
                  <a:pt x="7459" y="4537"/>
                </a:lnTo>
                <a:cubicBezTo>
                  <a:pt x="7512" y="5376"/>
                  <a:pt x="8208" y="6000"/>
                  <a:pt x="9047" y="6000"/>
                </a:cubicBezTo>
                <a:cubicBezTo>
                  <a:pt x="9939" y="6000"/>
                  <a:pt x="10652" y="5286"/>
                  <a:pt x="10652" y="4394"/>
                </a:cubicBezTo>
                <a:cubicBezTo>
                  <a:pt x="10652" y="3520"/>
                  <a:pt x="9939" y="2806"/>
                  <a:pt x="9047" y="2806"/>
                </a:cubicBezTo>
                <a:cubicBezTo>
                  <a:pt x="8708" y="2806"/>
                  <a:pt x="8386" y="2913"/>
                  <a:pt x="8119" y="3109"/>
                </a:cubicBezTo>
                <a:lnTo>
                  <a:pt x="6834" y="3823"/>
                </a:lnTo>
                <a:lnTo>
                  <a:pt x="7548" y="2539"/>
                </a:lnTo>
                <a:cubicBezTo>
                  <a:pt x="7619" y="2431"/>
                  <a:pt x="7690" y="2307"/>
                  <a:pt x="7726" y="2200"/>
                </a:cubicBezTo>
                <a:cubicBezTo>
                  <a:pt x="8065" y="1379"/>
                  <a:pt x="7673" y="451"/>
                  <a:pt x="6852" y="112"/>
                </a:cubicBezTo>
                <a:cubicBezTo>
                  <a:pt x="6662" y="36"/>
                  <a:pt x="6466" y="0"/>
                  <a:pt x="6272" y="0"/>
                </a:cubicBez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1" name="Google Shape;501;p45"/>
          <p:cNvGrpSpPr/>
          <p:nvPr/>
        </p:nvGrpSpPr>
        <p:grpSpPr>
          <a:xfrm>
            <a:off x="687823" y="4565081"/>
            <a:ext cx="1674478" cy="1644327"/>
            <a:chOff x="5684575" y="4038000"/>
            <a:chExt cx="252950" cy="252950"/>
          </a:xfrm>
        </p:grpSpPr>
        <p:sp>
          <p:nvSpPr>
            <p:cNvPr id="502" name="Google Shape;502;p45"/>
            <p:cNvSpPr/>
            <p:nvPr/>
          </p:nvSpPr>
          <p:spPr>
            <a:xfrm>
              <a:off x="5684575" y="4038000"/>
              <a:ext cx="252950" cy="252950"/>
            </a:xfrm>
            <a:custGeom>
              <a:rect b="b" l="l" r="r" t="t"/>
              <a:pathLst>
                <a:path extrusionOk="0" h="10118" w="10118">
                  <a:moveTo>
                    <a:pt x="5068" y="803"/>
                  </a:moveTo>
                  <a:cubicBezTo>
                    <a:pt x="7405" y="803"/>
                    <a:pt x="9332" y="2730"/>
                    <a:pt x="9332" y="5068"/>
                  </a:cubicBezTo>
                  <a:cubicBezTo>
                    <a:pt x="9332" y="7405"/>
                    <a:pt x="7405" y="9314"/>
                    <a:pt x="5068" y="9314"/>
                  </a:cubicBezTo>
                  <a:cubicBezTo>
                    <a:pt x="2731" y="9314"/>
                    <a:pt x="804" y="7405"/>
                    <a:pt x="804" y="5068"/>
                  </a:cubicBezTo>
                  <a:cubicBezTo>
                    <a:pt x="804" y="2730"/>
                    <a:pt x="2731" y="803"/>
                    <a:pt x="5068" y="803"/>
                  </a:cubicBezTo>
                  <a:close/>
                  <a:moveTo>
                    <a:pt x="5068" y="1"/>
                  </a:moveTo>
                  <a:cubicBezTo>
                    <a:pt x="2267" y="1"/>
                    <a:pt x="1" y="2267"/>
                    <a:pt x="1" y="5068"/>
                  </a:cubicBezTo>
                  <a:cubicBezTo>
                    <a:pt x="1" y="7851"/>
                    <a:pt x="2267" y="10117"/>
                    <a:pt x="5068" y="10117"/>
                  </a:cubicBezTo>
                  <a:cubicBezTo>
                    <a:pt x="7851" y="10117"/>
                    <a:pt x="10118" y="7851"/>
                    <a:pt x="10118" y="5068"/>
                  </a:cubicBezTo>
                  <a:cubicBezTo>
                    <a:pt x="10118" y="2267"/>
                    <a:pt x="7851" y="1"/>
                    <a:pt x="5068" y="1"/>
                  </a:cubicBezTo>
                  <a:close/>
                </a:path>
              </a:pathLst>
            </a:custGeom>
            <a:solidFill>
              <a:srgbClr val="CFE2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5"/>
            <p:cNvSpPr/>
            <p:nvPr/>
          </p:nvSpPr>
          <p:spPr>
            <a:xfrm>
              <a:off x="5804575" y="4097775"/>
              <a:ext cx="58000" cy="118225"/>
            </a:xfrm>
            <a:custGeom>
              <a:rect b="b" l="l" r="r" t="t"/>
              <a:pathLst>
                <a:path extrusionOk="0" h="4729" w="2320">
                  <a:moveTo>
                    <a:pt x="0" y="0"/>
                  </a:moveTo>
                  <a:lnTo>
                    <a:pt x="0" y="2677"/>
                  </a:lnTo>
                  <a:cubicBezTo>
                    <a:pt x="0" y="2748"/>
                    <a:pt x="36" y="2820"/>
                    <a:pt x="90" y="2855"/>
                  </a:cubicBezTo>
                  <a:lnTo>
                    <a:pt x="1963" y="4729"/>
                  </a:lnTo>
                  <a:lnTo>
                    <a:pt x="2320" y="4372"/>
                  </a:lnTo>
                  <a:lnTo>
                    <a:pt x="536" y="257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CFE2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45"/>
            <p:cNvSpPr/>
            <p:nvPr/>
          </p:nvSpPr>
          <p:spPr>
            <a:xfrm>
              <a:off x="5804575" y="4071450"/>
              <a:ext cx="13400" cy="13400"/>
            </a:xfrm>
            <a:custGeom>
              <a:rect b="b" l="l" r="r" t="t"/>
              <a:pathLst>
                <a:path extrusionOk="0" h="536" w="536">
                  <a:moveTo>
                    <a:pt x="268" y="1"/>
                  </a:moveTo>
                  <a:cubicBezTo>
                    <a:pt x="125" y="1"/>
                    <a:pt x="0" y="126"/>
                    <a:pt x="0" y="268"/>
                  </a:cubicBezTo>
                  <a:cubicBezTo>
                    <a:pt x="0" y="411"/>
                    <a:pt x="125" y="536"/>
                    <a:pt x="268" y="536"/>
                  </a:cubicBezTo>
                  <a:cubicBezTo>
                    <a:pt x="411" y="536"/>
                    <a:pt x="536" y="411"/>
                    <a:pt x="536" y="268"/>
                  </a:cubicBezTo>
                  <a:cubicBezTo>
                    <a:pt x="536" y="126"/>
                    <a:pt x="411" y="1"/>
                    <a:pt x="268" y="1"/>
                  </a:cubicBezTo>
                  <a:close/>
                </a:path>
              </a:pathLst>
            </a:custGeom>
            <a:solidFill>
              <a:srgbClr val="CFE2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5"/>
            <p:cNvSpPr/>
            <p:nvPr/>
          </p:nvSpPr>
          <p:spPr>
            <a:xfrm>
              <a:off x="5804575" y="4244525"/>
              <a:ext cx="13400" cy="12975"/>
            </a:xfrm>
            <a:custGeom>
              <a:rect b="b" l="l" r="r" t="t"/>
              <a:pathLst>
                <a:path extrusionOk="0" h="519" w="536">
                  <a:moveTo>
                    <a:pt x="268" y="1"/>
                  </a:moveTo>
                  <a:cubicBezTo>
                    <a:pt x="125" y="1"/>
                    <a:pt x="0" y="126"/>
                    <a:pt x="0" y="268"/>
                  </a:cubicBezTo>
                  <a:cubicBezTo>
                    <a:pt x="0" y="411"/>
                    <a:pt x="125" y="518"/>
                    <a:pt x="268" y="518"/>
                  </a:cubicBezTo>
                  <a:cubicBezTo>
                    <a:pt x="411" y="518"/>
                    <a:pt x="536" y="411"/>
                    <a:pt x="536" y="268"/>
                  </a:cubicBezTo>
                  <a:cubicBezTo>
                    <a:pt x="536" y="126"/>
                    <a:pt x="411" y="1"/>
                    <a:pt x="268" y="1"/>
                  </a:cubicBezTo>
                  <a:close/>
                </a:path>
              </a:pathLst>
            </a:custGeom>
            <a:solidFill>
              <a:srgbClr val="CFE2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5"/>
            <p:cNvSpPr/>
            <p:nvPr/>
          </p:nvSpPr>
          <p:spPr>
            <a:xfrm>
              <a:off x="5718025" y="4158000"/>
              <a:ext cx="13425" cy="13400"/>
            </a:xfrm>
            <a:custGeom>
              <a:rect b="b" l="l" r="r" t="t"/>
              <a:pathLst>
                <a:path extrusionOk="0" h="536" w="537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35"/>
                    <a:pt x="269" y="535"/>
                  </a:cubicBezTo>
                  <a:cubicBezTo>
                    <a:pt x="411" y="535"/>
                    <a:pt x="536" y="411"/>
                    <a:pt x="536" y="268"/>
                  </a:cubicBezTo>
                  <a:cubicBezTo>
                    <a:pt x="536" y="125"/>
                    <a:pt x="411" y="0"/>
                    <a:pt x="269" y="0"/>
                  </a:cubicBezTo>
                  <a:close/>
                </a:path>
              </a:pathLst>
            </a:custGeom>
            <a:solidFill>
              <a:srgbClr val="CFE2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5"/>
            <p:cNvSpPr/>
            <p:nvPr/>
          </p:nvSpPr>
          <p:spPr>
            <a:xfrm>
              <a:off x="5891100" y="4158000"/>
              <a:ext cx="13425" cy="13400"/>
            </a:xfrm>
            <a:custGeom>
              <a:rect b="b" l="l" r="r" t="t"/>
              <a:pathLst>
                <a:path extrusionOk="0" h="536" w="537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35"/>
                    <a:pt x="269" y="535"/>
                  </a:cubicBezTo>
                  <a:cubicBezTo>
                    <a:pt x="411" y="535"/>
                    <a:pt x="536" y="411"/>
                    <a:pt x="536" y="268"/>
                  </a:cubicBezTo>
                  <a:cubicBezTo>
                    <a:pt x="536" y="125"/>
                    <a:pt x="411" y="0"/>
                    <a:pt x="269" y="0"/>
                  </a:cubicBezTo>
                  <a:close/>
                </a:path>
              </a:pathLst>
            </a:custGeom>
            <a:solidFill>
              <a:srgbClr val="CFE2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0045_Jefferson_Template_SlidesMani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