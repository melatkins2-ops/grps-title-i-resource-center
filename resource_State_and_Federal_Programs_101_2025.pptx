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Instrument Serif"/>
      <p:regular r:id="rId26"/>
      <p:italic r:id="rId27"/>
    </p:embeddedFont>
    <p:embeddedFont>
      <p:font typeface="Manrope"/>
      <p:regular r:id="rId28"/>
      <p:bold r:id="rId29"/>
    </p:embeddedFont>
    <p:embeddedFont>
      <p:font typeface="Quicksand"/>
      <p:regular r:id="rId30"/>
      <p:bold r:id="rId31"/>
    </p:embeddedFont>
    <p:embeddedFont>
      <p:font typeface="Sen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49BF76-2140-46FA-85B3-DD7F5AB9CFDC}">
  <a:tblStyle styleId="{9649BF76-2140-46FA-85B3-DD7F5AB9CF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strumentSerif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Manrope-regular.fntdata"/><Relationship Id="rId27" Type="http://schemas.openxmlformats.org/officeDocument/2006/relationships/font" Target="fonts/InstrumentSerif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nrop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icksand-bold.fntdata"/><Relationship Id="rId30" Type="http://schemas.openxmlformats.org/officeDocument/2006/relationships/font" Target="fonts/Quicksand-regular.fntdata"/><Relationship Id="rId11" Type="http://schemas.openxmlformats.org/officeDocument/2006/relationships/slide" Target="slides/slide6.xml"/><Relationship Id="rId33" Type="http://schemas.openxmlformats.org/officeDocument/2006/relationships/font" Target="fonts/Sen-bold.fntdata"/><Relationship Id="rId10" Type="http://schemas.openxmlformats.org/officeDocument/2006/relationships/slide" Target="slides/slide5.xml"/><Relationship Id="rId32" Type="http://schemas.openxmlformats.org/officeDocument/2006/relationships/font" Target="fonts/Sen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e1d838b6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e1d838b6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b2fed134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b2fed134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e378cf9b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e378cf9b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eebe354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eebe354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e378cf9b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e378cf9b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e378cf9b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e378cf9b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e378cf9b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e378cf9b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e378cf9b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e378cf9b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e378cf9b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e378cf9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e378cf9b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e378cf9b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e378cf9b6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e378cf9b6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b2fed134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2b2fed134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e378cf9b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e378cf9b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e378cf9b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e378cf9b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996025" y="721900"/>
            <a:ext cx="5287200" cy="25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39850" y="3461100"/>
            <a:ext cx="52872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077625" y="1112325"/>
            <a:ext cx="3990300" cy="181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274150" y="1006478"/>
            <a:ext cx="1529400" cy="1530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3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955925" y="4129700"/>
            <a:ext cx="51120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Char char="■"/>
              <a:defRPr sz="1200"/>
            </a:lvl9pPr>
          </a:lstStyle>
          <a:p/>
        </p:txBody>
      </p:sp>
      <p:sp>
        <p:nvSpPr>
          <p:cNvPr id="18" name="Google Shape;18;p4"/>
          <p:cNvSpPr/>
          <p:nvPr/>
        </p:nvSpPr>
        <p:spPr>
          <a:xfrm rot="-4042349">
            <a:off x="8202716" y="-419900"/>
            <a:ext cx="1383277" cy="138327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9" name="Google Shape;19;p4"/>
          <p:cNvSpPr/>
          <p:nvPr/>
        </p:nvSpPr>
        <p:spPr>
          <a:xfrm rot="-4042349">
            <a:off x="8424966" y="-578425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31525" y="3264550"/>
            <a:ext cx="63054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subTitle"/>
          </p:nvPr>
        </p:nvSpPr>
        <p:spPr>
          <a:xfrm>
            <a:off x="1931525" y="1743050"/>
            <a:ext cx="63054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3" type="subTitle"/>
          </p:nvPr>
        </p:nvSpPr>
        <p:spPr>
          <a:xfrm>
            <a:off x="1931525" y="3614050"/>
            <a:ext cx="63054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4" type="subTitle"/>
          </p:nvPr>
        </p:nvSpPr>
        <p:spPr>
          <a:xfrm>
            <a:off x="1931525" y="2092550"/>
            <a:ext cx="63054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1491175" y="445025"/>
            <a:ext cx="69327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 rot="6541086">
            <a:off x="-613861" y="202292"/>
            <a:ext cx="1491407" cy="1491407"/>
          </a:xfrm>
          <a:prstGeom prst="arc">
            <a:avLst>
              <a:gd fmla="val 16200000" name="adj1"/>
              <a:gd fmla="val 8755670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27" name="Google Shape;27;p5"/>
          <p:cNvSpPr/>
          <p:nvPr/>
        </p:nvSpPr>
        <p:spPr>
          <a:xfrm rot="6541086">
            <a:off x="-443454" y="-313863"/>
            <a:ext cx="1491407" cy="149140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 rot="-4042349">
            <a:off x="8202716" y="-419900"/>
            <a:ext cx="1383277" cy="138327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31" name="Google Shape;31;p6"/>
          <p:cNvSpPr/>
          <p:nvPr/>
        </p:nvSpPr>
        <p:spPr>
          <a:xfrm rot="-4042349">
            <a:off x="8424966" y="-578425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713225" y="1820075"/>
            <a:ext cx="43947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/>
          <p:nvPr>
            <p:ph idx="2" type="pic"/>
          </p:nvPr>
        </p:nvSpPr>
        <p:spPr>
          <a:xfrm>
            <a:off x="5685975" y="1294701"/>
            <a:ext cx="2938500" cy="2934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" name="Google Shape;36;p7"/>
          <p:cNvSpPr/>
          <p:nvPr/>
        </p:nvSpPr>
        <p:spPr>
          <a:xfrm rot="7140017">
            <a:off x="-436990" y="4299702"/>
            <a:ext cx="1383005" cy="1383005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/>
          <p:nvPr/>
        </p:nvSpPr>
        <p:spPr>
          <a:xfrm rot="-4042349">
            <a:off x="8039316" y="4264000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44" name="Google Shape;44;p9"/>
          <p:cNvSpPr/>
          <p:nvPr/>
        </p:nvSpPr>
        <p:spPr>
          <a:xfrm rot="7140017">
            <a:off x="-468715" y="-867498"/>
            <a:ext cx="1383005" cy="1383005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4835675" y="948300"/>
            <a:ext cx="3531600" cy="130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713354" y="2228699"/>
            <a:ext cx="323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593350" y="2228700"/>
            <a:ext cx="323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713354" y="4051150"/>
            <a:ext cx="323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593350" y="4051150"/>
            <a:ext cx="323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713225" y="1185974"/>
            <a:ext cx="733500" cy="733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714373" y="3009348"/>
            <a:ext cx="731400" cy="73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4594351" y="1187017"/>
            <a:ext cx="731400" cy="73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8" type="title"/>
          </p:nvPr>
        </p:nvSpPr>
        <p:spPr>
          <a:xfrm>
            <a:off x="4594351" y="3009350"/>
            <a:ext cx="731400" cy="731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idx="9" type="subTitle"/>
          </p:nvPr>
        </p:nvSpPr>
        <p:spPr>
          <a:xfrm>
            <a:off x="713225" y="1852050"/>
            <a:ext cx="3233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3" type="subTitle"/>
          </p:nvPr>
        </p:nvSpPr>
        <p:spPr>
          <a:xfrm>
            <a:off x="713225" y="3674627"/>
            <a:ext cx="3233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4" type="subTitle"/>
          </p:nvPr>
        </p:nvSpPr>
        <p:spPr>
          <a:xfrm>
            <a:off x="4593350" y="1852050"/>
            <a:ext cx="3233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5" type="subTitle"/>
          </p:nvPr>
        </p:nvSpPr>
        <p:spPr>
          <a:xfrm>
            <a:off x="4593350" y="3674624"/>
            <a:ext cx="32331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6" name="Google Shape;66;p13"/>
          <p:cNvSpPr/>
          <p:nvPr/>
        </p:nvSpPr>
        <p:spPr>
          <a:xfrm rot="-4042349">
            <a:off x="8039316" y="4264000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67" name="Google Shape;67;p13"/>
          <p:cNvSpPr/>
          <p:nvPr/>
        </p:nvSpPr>
        <p:spPr>
          <a:xfrm rot="7140017">
            <a:off x="6537435" y="-740498"/>
            <a:ext cx="1383005" cy="1383005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Google Shape;70;p14"/>
          <p:cNvSpPr/>
          <p:nvPr/>
        </p:nvSpPr>
        <p:spPr>
          <a:xfrm rot="-4042349">
            <a:off x="8181591" y="4183850"/>
            <a:ext cx="1383277" cy="138327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1" name="Google Shape;71;p14"/>
          <p:cNvSpPr/>
          <p:nvPr/>
        </p:nvSpPr>
        <p:spPr>
          <a:xfrm rot="-4042349">
            <a:off x="8118041" y="4658100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4" name="Google Shape;74;p15"/>
          <p:cNvSpPr/>
          <p:nvPr/>
        </p:nvSpPr>
        <p:spPr>
          <a:xfrm rot="-4042349">
            <a:off x="-475609" y="4384950"/>
            <a:ext cx="1383277" cy="138327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75" name="Google Shape;75;p15"/>
          <p:cNvSpPr/>
          <p:nvPr/>
        </p:nvSpPr>
        <p:spPr>
          <a:xfrm rot="-4042349">
            <a:off x="7908041" y="-961150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720000" y="2383416"/>
            <a:ext cx="1818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2" type="subTitle"/>
          </p:nvPr>
        </p:nvSpPr>
        <p:spPr>
          <a:xfrm>
            <a:off x="3665938" y="2382125"/>
            <a:ext cx="1818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3" type="subTitle"/>
          </p:nvPr>
        </p:nvSpPr>
        <p:spPr>
          <a:xfrm>
            <a:off x="6611875" y="2383416"/>
            <a:ext cx="1818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subTitle"/>
          </p:nvPr>
        </p:nvSpPr>
        <p:spPr>
          <a:xfrm>
            <a:off x="720000" y="1898225"/>
            <a:ext cx="1818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5" type="subTitle"/>
          </p:nvPr>
        </p:nvSpPr>
        <p:spPr>
          <a:xfrm>
            <a:off x="6611875" y="1898225"/>
            <a:ext cx="1818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6" type="subTitle"/>
          </p:nvPr>
        </p:nvSpPr>
        <p:spPr>
          <a:xfrm>
            <a:off x="3665938" y="1898225"/>
            <a:ext cx="1818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 rot="-4042349">
            <a:off x="7833616" y="-298950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85" name="Google Shape;85;p16"/>
          <p:cNvSpPr/>
          <p:nvPr/>
        </p:nvSpPr>
        <p:spPr>
          <a:xfrm rot="-5228405">
            <a:off x="5449314" y="4445332"/>
            <a:ext cx="1382922" cy="1382922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709100" y="207265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2" type="subTitle"/>
          </p:nvPr>
        </p:nvSpPr>
        <p:spPr>
          <a:xfrm>
            <a:off x="3619900" y="207265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3" type="subTitle"/>
          </p:nvPr>
        </p:nvSpPr>
        <p:spPr>
          <a:xfrm>
            <a:off x="709100" y="370500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4" type="subTitle"/>
          </p:nvPr>
        </p:nvSpPr>
        <p:spPr>
          <a:xfrm>
            <a:off x="3619900" y="370500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5" type="subTitle"/>
          </p:nvPr>
        </p:nvSpPr>
        <p:spPr>
          <a:xfrm>
            <a:off x="6530700" y="207265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6" type="subTitle"/>
          </p:nvPr>
        </p:nvSpPr>
        <p:spPr>
          <a:xfrm>
            <a:off x="6530700" y="3705000"/>
            <a:ext cx="18933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7" type="subTitle"/>
          </p:nvPr>
        </p:nvSpPr>
        <p:spPr>
          <a:xfrm>
            <a:off x="709100" y="15761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95" name="Google Shape;95;p17"/>
          <p:cNvSpPr txBox="1"/>
          <p:nvPr>
            <p:ph idx="8" type="subTitle"/>
          </p:nvPr>
        </p:nvSpPr>
        <p:spPr>
          <a:xfrm>
            <a:off x="3619900" y="15761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9" type="subTitle"/>
          </p:nvPr>
        </p:nvSpPr>
        <p:spPr>
          <a:xfrm>
            <a:off x="6530700" y="15761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3" type="subTitle"/>
          </p:nvPr>
        </p:nvSpPr>
        <p:spPr>
          <a:xfrm>
            <a:off x="709100" y="32085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4" type="subTitle"/>
          </p:nvPr>
        </p:nvSpPr>
        <p:spPr>
          <a:xfrm>
            <a:off x="3619903" y="32085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5" type="subTitle"/>
          </p:nvPr>
        </p:nvSpPr>
        <p:spPr>
          <a:xfrm>
            <a:off x="6530701" y="3208550"/>
            <a:ext cx="1893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nstrument Serif"/>
              <a:buNone/>
              <a:defRPr sz="2800"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100" name="Google Shape;100;p17"/>
          <p:cNvSpPr/>
          <p:nvPr/>
        </p:nvSpPr>
        <p:spPr>
          <a:xfrm rot="-4043068">
            <a:off x="7012665" y="-792632"/>
            <a:ext cx="1223262" cy="1223262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01" name="Google Shape;101;p17"/>
          <p:cNvSpPr/>
          <p:nvPr/>
        </p:nvSpPr>
        <p:spPr>
          <a:xfrm rot="-5228123">
            <a:off x="6588222" y="-578331"/>
            <a:ext cx="1164555" cy="122311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hasCustomPrompt="1" type="title"/>
          </p:nvPr>
        </p:nvSpPr>
        <p:spPr>
          <a:xfrm>
            <a:off x="757925" y="1438350"/>
            <a:ext cx="25959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5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8"/>
          <p:cNvSpPr txBox="1"/>
          <p:nvPr>
            <p:ph idx="1" type="subTitle"/>
          </p:nvPr>
        </p:nvSpPr>
        <p:spPr>
          <a:xfrm>
            <a:off x="757925" y="2193232"/>
            <a:ext cx="25959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hasCustomPrompt="1" idx="2" type="title"/>
          </p:nvPr>
        </p:nvSpPr>
        <p:spPr>
          <a:xfrm>
            <a:off x="757925" y="3371296"/>
            <a:ext cx="25959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5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8"/>
          <p:cNvSpPr txBox="1"/>
          <p:nvPr>
            <p:ph idx="3" type="subTitle"/>
          </p:nvPr>
        </p:nvSpPr>
        <p:spPr>
          <a:xfrm>
            <a:off x="757925" y="4126100"/>
            <a:ext cx="25959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hasCustomPrompt="1" idx="4" type="title"/>
          </p:nvPr>
        </p:nvSpPr>
        <p:spPr>
          <a:xfrm>
            <a:off x="4038775" y="1438350"/>
            <a:ext cx="25959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5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8"/>
          <p:cNvSpPr txBox="1"/>
          <p:nvPr>
            <p:ph idx="5" type="subTitle"/>
          </p:nvPr>
        </p:nvSpPr>
        <p:spPr>
          <a:xfrm>
            <a:off x="4038775" y="2193232"/>
            <a:ext cx="25959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hasCustomPrompt="1" idx="6" type="title"/>
          </p:nvPr>
        </p:nvSpPr>
        <p:spPr>
          <a:xfrm>
            <a:off x="4038775" y="3371296"/>
            <a:ext cx="25959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5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200"/>
              <a:buNone/>
              <a:defRPr sz="6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8"/>
          <p:cNvSpPr txBox="1"/>
          <p:nvPr>
            <p:ph idx="7" type="subTitle"/>
          </p:nvPr>
        </p:nvSpPr>
        <p:spPr>
          <a:xfrm>
            <a:off x="4038775" y="4126100"/>
            <a:ext cx="25959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1014429" y="931050"/>
            <a:ext cx="3397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69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1014400" y="1858400"/>
            <a:ext cx="3397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/>
        </p:nvSpPr>
        <p:spPr>
          <a:xfrm>
            <a:off x="3484975" y="39083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CREDITS:</a:t>
            </a:r>
            <a:r>
              <a:rPr lang="en" sz="1200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 This presentation template was created by </a:t>
            </a:r>
            <a:r>
              <a:rPr b="1" lang="en" sz="1200">
                <a:solidFill>
                  <a:schemeClr val="lt2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, and includes icons, infographics &amp; images by </a:t>
            </a:r>
            <a:r>
              <a:rPr b="1" lang="en" sz="1200">
                <a:solidFill>
                  <a:schemeClr val="lt2"/>
                </a:solidFill>
                <a:uFill>
                  <a:noFill/>
                </a:uFill>
                <a:latin typeface="Manrope"/>
                <a:ea typeface="Manrope"/>
                <a:cs typeface="Manrope"/>
                <a:sym typeface="Manrop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b="1" sz="1200" u="sng"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" name="Google Shape;115;p19"/>
          <p:cNvSpPr/>
          <p:nvPr/>
        </p:nvSpPr>
        <p:spPr>
          <a:xfrm rot="-1799721">
            <a:off x="61910" y="4690341"/>
            <a:ext cx="876723" cy="876723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6" name="Google Shape;116;p19"/>
          <p:cNvSpPr/>
          <p:nvPr/>
        </p:nvSpPr>
        <p:spPr>
          <a:xfrm rot="2877878">
            <a:off x="500904" y="4645567"/>
            <a:ext cx="849028" cy="849028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 rot="822598">
            <a:off x="-913730" y="3878134"/>
            <a:ext cx="2580936" cy="2580936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19" name="Google Shape;119;p20"/>
          <p:cNvSpPr/>
          <p:nvPr/>
        </p:nvSpPr>
        <p:spPr>
          <a:xfrm rot="-4042347">
            <a:off x="-1670643" y="3597304"/>
            <a:ext cx="2580969" cy="2580969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 rot="-4042349">
            <a:off x="8202716" y="-419900"/>
            <a:ext cx="1383277" cy="1383277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22" name="Google Shape;122;p21"/>
          <p:cNvSpPr/>
          <p:nvPr/>
        </p:nvSpPr>
        <p:spPr>
          <a:xfrm rot="-4042349">
            <a:off x="8424966" y="-578425"/>
            <a:ext cx="1383277" cy="1383277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strument Serif"/>
              <a:buNone/>
              <a:defRPr i="1" sz="4000">
                <a:solidFill>
                  <a:schemeClr val="lt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○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■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○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■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○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■"/>
              <a:defRPr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4jDOO8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michigan.gov/mde/services/school-performance-supports/educational-supports/programs/title-i-part-a-improving-basic-programs" TargetMode="External"/><Relationship Id="rId4" Type="http://schemas.openxmlformats.org/officeDocument/2006/relationships/hyperlink" Target="https://www.michigan.gov/mde/services/school-performance-supports/educational-supports/programs/title-ii-part-a-supporting-effective-instruction" TargetMode="External"/><Relationship Id="rId5" Type="http://schemas.openxmlformats.org/officeDocument/2006/relationships/hyperlink" Target="https://www.michigan.gov/mde/services/school-performance-supports/educational-supports/programs/title-iii---english-learner-and-immigrant-and-section-41-bilingual-educati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michigan.gov/mde/services/school-performance-supports/educational-supports/programs/title-iii---english-learner-and-immigrant-and-section-41-bilingual-education" TargetMode="External"/><Relationship Id="rId4" Type="http://schemas.openxmlformats.org/officeDocument/2006/relationships/hyperlink" Target="https://www.michigan.gov/mde/services/school-performance-supports/educational-supports/programs/title-iv-part-a-student-support-academic-enrichmen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michigan.gov/mde/services/school-performance-supports/educational-supports/programs/section-31a-at-risk" TargetMode="External"/><Relationship Id="rId4" Type="http://schemas.openxmlformats.org/officeDocument/2006/relationships/hyperlink" Target="https://www.michigan.gov/mde/resources/accelerated-learning/mi-kids-back-on-track/23g-frequently-asked-questions" TargetMode="External"/><Relationship Id="rId5" Type="http://schemas.openxmlformats.org/officeDocument/2006/relationships/hyperlink" Target="https://www.michigan.gov/mde/services/financial-management/grants/literacy-additional-instructional-time" TargetMode="External"/><Relationship Id="rId6" Type="http://schemas.openxmlformats.org/officeDocument/2006/relationships/hyperlink" Target="https://www.michigan.gov/mde/services/financial-management/grants/literacy-additional-instructional-time" TargetMode="External"/><Relationship Id="rId7" Type="http://schemas.openxmlformats.org/officeDocument/2006/relationships/hyperlink" Target="https://www.michigan.gov/mde/services/financial-management/grants/literacy-additional-instructional-tim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michigan.gov/mde/services/school-performance-supports/micip" TargetMode="External"/><Relationship Id="rId4" Type="http://schemas.openxmlformats.org/officeDocument/2006/relationships/hyperlink" Target="https://www.michigan.gov/mde/services/school-performance-supports/micip/micip-resources" TargetMode="External"/><Relationship Id="rId5" Type="http://schemas.openxmlformats.org/officeDocument/2006/relationships/hyperlink" Target="https://docs.google.com/document/d/1dXzLQYMUeCRJB_M0aDJm6EhzPv73_1XTlAm4exURDbo/view?tab=t.0#heading=h.vv9oq5rgdb6x" TargetMode="External"/><Relationship Id="rId6" Type="http://schemas.openxmlformats.org/officeDocument/2006/relationships/hyperlink" Target="https://docs.google.com/document/d/1Oq3DniWRULkiIYPAcFirLB8Xw6utCqS87ZmUVQf283s/view?tab=t.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__tuR1D4wcnrmaWYGYlIOq_TDXEXY0Sk/view?usp=sharing" TargetMode="External"/><Relationship Id="rId4" Type="http://schemas.openxmlformats.org/officeDocument/2006/relationships/hyperlink" Target="https://drive.google.com/file/d/1__tuR1D4wcnrmaWYGYlIOq_TDXEXY0Sk/view?usp=sharing" TargetMode="External"/><Relationship Id="rId5" Type="http://schemas.openxmlformats.org/officeDocument/2006/relationships/hyperlink" Target="https://docs.google.com/document/d/15arNa1HwN-81GsKrdcqfbO9LBw-vRkZAL_7A0vo_DOI/view?tab=t.0" TargetMode="External"/><Relationship Id="rId6" Type="http://schemas.openxmlformats.org/officeDocument/2006/relationships/hyperlink" Target="https://docs.google.com/document/d/1W5Cv-WyXtOwM28rpnAlz_KMPO99qwxvjGXBev5ig9dQ/view?tab=t.0" TargetMode="External"/><Relationship Id="rId7" Type="http://schemas.openxmlformats.org/officeDocument/2006/relationships/hyperlink" Target="https://docs.google.com/document/d/1ZnaQAd8pp2MsiiGhKbk5Gu02Hfn1r24Q/edit?usp=sharing&amp;ouid=101746990943310369386&amp;rtpof=true&amp;sd=tru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ilogintp.michigan.gov/eai/tplogin/authenticate?URL=/uisecure/tpselfservice" TargetMode="External"/><Relationship Id="rId4" Type="http://schemas.openxmlformats.org/officeDocument/2006/relationships/hyperlink" Target="https://milogintp.michigan.gov/eai/tplogin/authenticate?URL=/uisecure/tpselfservice" TargetMode="External"/><Relationship Id="rId5" Type="http://schemas.openxmlformats.org/officeDocument/2006/relationships/hyperlink" Target="https://mdoe.state.mi.us/MEGSPlus/Login2.aspx?APPTHEME=MIMDE_MEGSPLUS&amp;ReturnURL=/MEGSPlus/Menu_Person2.aspx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3GkBpU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pp.sli.do/event/6BjnAi2ictgZYrqcizJQ3T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ctrTitle"/>
          </p:nvPr>
        </p:nvSpPr>
        <p:spPr>
          <a:xfrm>
            <a:off x="0" y="1162450"/>
            <a:ext cx="9144000" cy="502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43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4800">
                <a:latin typeface="Quicksand"/>
                <a:ea typeface="Quicksand"/>
                <a:cs typeface="Quicksand"/>
                <a:sym typeface="Quicksand"/>
              </a:rPr>
              <a:t>State &amp; Federal Programs 101</a:t>
            </a:r>
            <a:br>
              <a:rPr i="0" lang="en" sz="4800">
                <a:latin typeface="Quicksand"/>
                <a:ea typeface="Quicksand"/>
                <a:cs typeface="Quicksand"/>
                <a:sym typeface="Quicksand"/>
              </a:rPr>
            </a:br>
            <a:r>
              <a:rPr i="0" lang="en" sz="3500">
                <a:latin typeface="Quicksand"/>
                <a:ea typeface="Quicksand"/>
                <a:cs typeface="Quicksand"/>
                <a:sym typeface="Quicksand"/>
              </a:rPr>
              <a:t>MASFPS Spring Conference</a:t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500">
                <a:latin typeface="Quicksand"/>
                <a:ea typeface="Quicksand"/>
                <a:cs typeface="Quicksand"/>
                <a:sym typeface="Quicksand"/>
              </a:rPr>
              <a:t>April 25, 2025</a:t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35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Link to Slide Deck</a:t>
            </a:r>
            <a:endParaRPr i="0" sz="2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>
                <a:latin typeface="Quicksand"/>
                <a:ea typeface="Quicksand"/>
                <a:cs typeface="Quicksand"/>
                <a:sym typeface="Quicksand"/>
              </a:rPr>
              <a:t>https://bit.ly/4jDOO8y</a:t>
            </a:r>
            <a:endParaRPr i="0" sz="28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8" name="Google Shape;128;p22"/>
          <p:cNvSpPr/>
          <p:nvPr/>
        </p:nvSpPr>
        <p:spPr>
          <a:xfrm rot="-1799871">
            <a:off x="-836585" y="2718914"/>
            <a:ext cx="2932991" cy="2932991"/>
          </a:xfrm>
          <a:prstGeom prst="arc">
            <a:avLst>
              <a:gd fmla="val 16200000" name="adj1"/>
              <a:gd fmla="val 14338539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sp>
        <p:nvSpPr>
          <p:cNvPr id="129" name="Google Shape;129;p22"/>
          <p:cNvSpPr/>
          <p:nvPr/>
        </p:nvSpPr>
        <p:spPr>
          <a:xfrm rot="-1799519">
            <a:off x="-727996" y="2830400"/>
            <a:ext cx="2933511" cy="2933511"/>
          </a:xfrm>
          <a:prstGeom prst="ellipse">
            <a:avLst/>
          </a:prstGeom>
          <a:solidFill>
            <a:srgbClr val="DAD5CE">
              <a:alpha val="35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99875" y="496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Lindsey Bolhouse, M.Ed.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135" name="Google Shape;135;p23"/>
          <p:cNvGraphicFramePr/>
          <p:nvPr/>
        </p:nvGraphicFramePr>
        <p:xfrm>
          <a:off x="499875" y="128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{9649BF76-2140-46FA-85B3-DD7F5AB9CFDC}</a:tableStyleId>
              </a:tblPr>
              <a:tblGrid>
                <a:gridCol w="4929375"/>
              </a:tblGrid>
              <a:tr h="29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Professional</a:t>
                      </a:r>
                      <a:endParaRPr b="1"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Pre-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Kindergarten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&amp; Kindergarten teacher, Zeeland Public Schools - 10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4th grade teacher, Zeeland Public Schools - 5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State &amp; Federal Program Coordinator, Hudsonville Public Schools - 2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Personal</a:t>
                      </a:r>
                      <a:endParaRPr b="1"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Married for 20 years to Cliff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17 year old twins (Claire and Carter)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300"/>
                        <a:buFont typeface="Quicksand"/>
                        <a:buChar char="●"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1 precious dog named Teddy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775" y="1107950"/>
            <a:ext cx="3388625" cy="338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77675" y="423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Sam Ewing, MS Mathematics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142" name="Google Shape;142;p24"/>
          <p:cNvGraphicFramePr/>
          <p:nvPr/>
        </p:nvGraphicFramePr>
        <p:xfrm>
          <a:off x="377675" y="128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{9649BF76-2140-46FA-85B3-DD7F5AB9CFDC}</a:tableStyleId>
              </a:tblPr>
              <a:tblGrid>
                <a:gridCol w="4479275"/>
              </a:tblGrid>
              <a:tr h="29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Professional</a:t>
                      </a:r>
                      <a:endParaRPr b="1"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K-12 Teacher - 26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College Instructor - 15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Director of Federal Programs -17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MASFPS Treasurer - 37 years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Assisted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over 300 schools  to 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become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Schoolwide Title I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Personal</a:t>
                      </a:r>
                      <a:endParaRPr b="1"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Married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58 years to Dianne (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quilter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)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 kids Teacher, 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Doctor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and 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Rocket</a:t>
                      </a:r>
                      <a:r>
                        <a:rPr lang="en" sz="1300">
                          <a:solidFill>
                            <a:schemeClr val="lt2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 Scientist</a:t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2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2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indent="0" lvl="0" marL="0" rtl="0" algn="l"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2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410900" y="423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Stand Up If….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410900" y="1262025"/>
            <a:ext cx="8518800" cy="3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you’ve ever had to complete the CROSSACT Report 🙃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you’ve ever had to explain the difference between state and federal funding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your inbox has more than 20 unread emails 📧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 support Title programs in your building or district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you’ve ever had to explain your job to a </a:t>
            </a: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colleague</a:t>
            </a: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/friend/community member/school board, etc. 🤷‍♀️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 up if you’ve worked in education for longer than 10 years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Stand</a:t>
            </a: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 up if </a:t>
            </a:r>
            <a:r>
              <a:rPr lang="en">
                <a:solidFill>
                  <a:schemeClr val="lt2"/>
                </a:solidFill>
                <a:latin typeface="Manrope"/>
                <a:ea typeface="Manrope"/>
                <a:cs typeface="Manrope"/>
                <a:sym typeface="Manrope"/>
              </a:rPr>
              <a:t>you feel proud of the impact your work has, even if it behind the scenes 🥇</a:t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117400" y="107500"/>
            <a:ext cx="90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Today’s Agenda: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Purpose of S &amp; F Programs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Types of State and Federal Grants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District and School Improvement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Program Evaluation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Platforms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Resources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MASFPS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Quicksand"/>
              <a:buChar char="❏"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Q &amp; A</a:t>
            </a:r>
            <a:endParaRPr i="0" sz="27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2017775" y="4255675"/>
            <a:ext cx="11445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117400" y="107500"/>
            <a:ext cx="909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700">
                <a:latin typeface="Quicksand"/>
                <a:ea typeface="Quicksand"/>
                <a:cs typeface="Quicksand"/>
                <a:sym typeface="Quicksand"/>
              </a:rPr>
              <a:t>What is the purpose of State and Federal Programs?</a:t>
            </a:r>
            <a:br>
              <a:rPr i="0" lang="en" sz="2700">
                <a:latin typeface="Quicksand"/>
                <a:ea typeface="Quicksand"/>
                <a:cs typeface="Quicksand"/>
                <a:sym typeface="Quicksand"/>
              </a:rPr>
            </a:br>
            <a:endParaRPr i="0" sz="25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●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Promote Equity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○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Ensure all students — especially those who are disadvantaged — have access to high-quality education.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●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Supplement Local Funding (not supplant!)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○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Provide </a:t>
            </a:r>
            <a:r>
              <a:rPr b="1" lang="en" sz="1100">
                <a:latin typeface="Quicksand"/>
                <a:ea typeface="Quicksand"/>
                <a:cs typeface="Quicksand"/>
                <a:sym typeface="Quicksand"/>
              </a:rPr>
              <a:t>additional</a:t>
            </a: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 resources to meet student needs beyond what local funding can cover.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●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Support Targeted Interventions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○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Address academic achievement gaps and support student groups such as English learners, students in poverty, and students with disabilities.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●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Ensure Compliance &amp; Accountability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○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Align district practices with state and federal education laws and expectations (e.g., ESSA, Title funding).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●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Foster Continuous Improvement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Quicksand"/>
              <a:buChar char="○"/>
            </a:pPr>
            <a:r>
              <a:rPr b="1" i="0" lang="en" sz="1100">
                <a:latin typeface="Quicksand"/>
                <a:ea typeface="Quicksand"/>
                <a:cs typeface="Quicksand"/>
                <a:sym typeface="Quicksand"/>
              </a:rPr>
              <a:t>Encourage data-driven planning, monitoring, and support for school and district goals.</a:t>
            </a:r>
            <a:endParaRPr b="1" i="0" sz="11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>
                <a:latin typeface="Quicksand"/>
                <a:ea typeface="Quicksand"/>
                <a:cs typeface="Quicksand"/>
                <a:sym typeface="Quicksand"/>
              </a:rPr>
              <a:t>Local + State + Federal = Whole Child</a:t>
            </a:r>
            <a:endParaRPr b="1" i="0" sz="19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2017775" y="4255675"/>
            <a:ext cx="11445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525" y="4098225"/>
            <a:ext cx="616500" cy="6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0348" y="4098225"/>
            <a:ext cx="5339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925" y="4098225"/>
            <a:ext cx="84744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6525" y="4098222"/>
            <a:ext cx="738000" cy="69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155025" y="100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Types of Grants/Funds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256800" y="1034575"/>
            <a:ext cx="84600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State Funds/Grants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Start with ‘Section’ followed by a number and a 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lower case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 letter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EXA. Section 31a (At Risk Funding)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anrope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Federal Funds/Grants/Programs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Start with ‘Title’ followed by a numeral and capital letter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EXA. Title IA (Improving Basic Programs)</a:t>
            </a:r>
            <a:b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Designated Grants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Only available to 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specify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 entities</a:t>
            </a:r>
            <a:b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Formula Grants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EXA. Section 31a (At Risk)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Legislation dictates the formula for how the funding is calculated</a:t>
            </a:r>
            <a:b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Competitive Grants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Based on a review of applications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111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Federal Programs Overview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0" y="770425"/>
            <a:ext cx="9054300" cy="3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Title IA: Improving Basic Programs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Supports students at risk of failing or in poverty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Funds can be used for additional staff, intervention programs, parent engagement, and professional development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Schools are either Targeted Assistance or Schoolwide based on poverty thresholds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Requires a schoolwide plan and stakeholder involvement</a:t>
            </a:r>
            <a:b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Title II, A: Supporting Effective Instruction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Professional development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Mentoring and coaching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Recruitment and retention of qualified staff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Reducing class size in targeted areas</a:t>
            </a:r>
            <a:b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Title III (EL): Language Instruction for English Learners</a:t>
            </a:r>
            <a:r>
              <a:rPr b="1" lang="en" sz="1200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Focuses on English language development and academic achievement of EL students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Provides: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Language instruction programs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Professional learning for teachers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Family and community engagement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Districts must meet annual EL progress indicators (e.g., WIDA scores)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111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Federal Programs Overview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0" y="748775"/>
            <a:ext cx="89589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Title III (IM): Support for Immigrant Students</a:t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Separate from Title III, EL — targets recent immigrant students, regardless of English proficiency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Funds are allocated based on a significant increase in immigrant enrollment (compared to previous two years)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Supports supplemental services specifically for immigrant students and their families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Common uses include: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Newcomer programs or welcome centers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Family engagement and translation/interpretation services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Academic tutoring and orientation to U.S. school systems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Professional learning for staff on cultural responsiveness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Funds must be used in addition to core district responsibilities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May be directly allocated to districts or retained at the consortium/ISD level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Title IV, A: Student Support and Academic Enrichment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Flexible block grant with three focus areas: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Well-rounded education (e.g., arts, STEM, civics)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Safe and healthy schools (e.g., mental health, drug prevention)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Effective use of technology (e.g., digital tools, tech integration)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Must complete needs assessment for funding decisions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111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Michigan Programs Overview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0" y="748775"/>
            <a:ext cx="89589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Section 31a (At Risk)</a:t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Supports students identified as academically at risk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Commonly used for: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Intervention staff (academic or behavioral)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Social-emotional learning supports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Instructional materials and extended learning time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Requires a targeted plan based on data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■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Must align with a comprehensive needs assessment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Section 23g: MI Kids Back on Track</a:t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Tutoring Intervention and Support</a:t>
            </a:r>
            <a:b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●"/>
            </a:pP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Section 35a - </a:t>
            </a: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Early</a:t>
            </a:r>
            <a:r>
              <a:rPr b="1" lang="en" sz="12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7"/>
              </a:rPr>
              <a:t> Literacy Support</a:t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Funds targeted reading interventions in grades K–3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Quicksand"/>
              <a:buChar char="○"/>
            </a:pPr>
            <a:r>
              <a:rPr lang="en" sz="12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Supports literacy coaches, assessment tools, and professional development</a:t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6450" y="217575"/>
            <a:ext cx="859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District and School Improvement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58700" y="1137300"/>
            <a:ext cx="9003000" cy="2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Purpose</a:t>
            </a:r>
            <a:endParaRPr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Drive continuous improvement in teaching, learning, and student outcomes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Align programs, funding, and strategies to identified student needs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MICIP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Resources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Agenda Examples from Hudsonville</a:t>
            </a:r>
            <a:endParaRPr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District Continuous Improvement Team Meeting Agendas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School Improvement (Guiding Coalition) Agenda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58700" y="-6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Program Evaluation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58700" y="579675"/>
            <a:ext cx="5847900" cy="2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Purpose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Ensure funds are making an impact on student achievement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Support ongoing improvement of programs and services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Meet state and federal compliance requirements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Connection to MICIP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Program evaluation is a key part of the MICIP Continuous Improvement Cycle: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Identify Needs (through CNA)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Plan strategies and align resources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Implement programs with fidelity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Monitor &amp; Evaluate progress and impact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■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Adjust strategies and plans as needed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What to Evaluate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Student outcome data (achievement, growth, SEL, etc.)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Participation and implementation fidelity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Staff and stakeholder feedback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Alignment to district goals and strategy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5730500" y="799775"/>
            <a:ext cx="34134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Resources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Meaningful</a:t>
            </a: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 Program Evaluation- Bjorkman 2024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Hudsonville 1 Pager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6"/>
              </a:rPr>
              <a:t>Hudsonville Program Evaluation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7"/>
              </a:rPr>
              <a:t>Lakeview Example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58700" y="78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Platforms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-36700" y="719075"/>
            <a:ext cx="7506000" cy="2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GEMS/MARS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Grant Electronic System/Michigan Administrative Review System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Access via MiLogin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NexSys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Next Generation Grant, Application, and Cash </a:t>
            </a: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Management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Access via MiLogin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●"/>
            </a:pPr>
            <a:r>
              <a:rPr b="1" lang="en" u="sng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MEGS+</a:t>
            </a:r>
            <a:endParaRPr b="1" u="sng"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Michigan Electronic Grants System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Quicksand"/>
              <a:buChar char="○"/>
            </a:pPr>
            <a:r>
              <a:rPr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Login Page</a:t>
            </a:r>
            <a:endParaRPr>
              <a:solidFill>
                <a:schemeClr val="lt2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720000" y="430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Resources from today’s presentation can be found in the Folder linked in the Bitly below or by clicking </a:t>
            </a:r>
            <a:r>
              <a:rPr i="0"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here</a:t>
            </a: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n">
                <a:latin typeface="Quicksand"/>
                <a:ea typeface="Quicksand"/>
                <a:cs typeface="Quicksand"/>
                <a:sym typeface="Quicksand"/>
              </a:rPr>
            </a:br>
            <a:r>
              <a:rPr i="0" lang="en" sz="3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https://bit.ly/3GkBpUt</a:t>
            </a:r>
            <a:endParaRPr i="0" sz="32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720000" y="4303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>
                <a:latin typeface="Quicksand"/>
                <a:ea typeface="Quicksand"/>
                <a:cs typeface="Quicksand"/>
                <a:sym typeface="Quicksand"/>
              </a:rPr>
              <a:t>MASFPS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653950" y="6284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What questions do you have?</a:t>
            </a:r>
            <a:endParaRPr i="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7225" y="1773500"/>
            <a:ext cx="1926225" cy="19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tyle Design by Slidesgo">
  <a:themeElements>
    <a:clrScheme name="Simple Light">
      <a:dk1>
        <a:srgbClr val="555D4D"/>
      </a:dk1>
      <a:lt1>
        <a:srgbClr val="DAD5CE"/>
      </a:lt1>
      <a:dk2>
        <a:srgbClr val="343F31"/>
      </a:dk2>
      <a:lt2>
        <a:srgbClr val="EEECE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EEC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