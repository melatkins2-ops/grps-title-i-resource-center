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6" r:id="rId4"/>
    <p:sldMasterId id="214748370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DM Sans Ligh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Forum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Light-regular.fntdata"/><Relationship Id="rId22" Type="http://schemas.openxmlformats.org/officeDocument/2006/relationships/font" Target="fonts/DMSansLight-italic.fntdata"/><Relationship Id="rId21" Type="http://schemas.openxmlformats.org/officeDocument/2006/relationships/font" Target="fonts/DMSansLigh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Forum-regular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816bbbd6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816bbbd6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816bbbd633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816bbbd633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8e62d008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8e62d008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16bbbd633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816bbbd633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816bbbd633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816bbbd633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816bbbd633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816bbbd633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816bbbd633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816bbbd633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16bbbd633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816bbbd633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816bbbd63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816bbbd63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56" name="Google Shape;5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4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0" name="Google Shape;60;p14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1" name="Google Shape;61;p14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2" name="Google Shape;62;p14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" name="Google Shape;63;p14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64" name="Google Shape;64;p14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65" name="Google Shape;65;p14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5" name="Google Shape;75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8" name="Google Shape;88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1" name="Google Shape;91;p19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2" name="Google Shape;92;p19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3" name="Google Shape;93;p19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19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5" name="Google Shape;95;p19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5" name="Google Shape;115;p20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16" name="Google Shape;116;p20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8" name="Google Shape;118;p20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19" name="Google Shape;119;p20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0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20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24" name="Google Shape;124;p20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0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2" name="Google Shape;132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7" name="Google Shape;137;p21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1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39" name="Google Shape;139;p21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2" name="Google Shape;142;p21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43" name="Google Shape;143;p21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1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1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51" name="Google Shape;151;p21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22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3" name="Google Shape;163;p22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6" name="Google Shape;166;p22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7" name="Google Shape;167;p22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8" name="Google Shape;168;p22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9" name="Google Shape;169;p22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0" name="Google Shape;170;p22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1" name="Google Shape;171;p22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2" name="Google Shape;172;p22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3" name="Google Shape;173;p22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4" name="Google Shape;174;p22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7" name="Google Shape;177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22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9" name="Google Shape;189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23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23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3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23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5" name="Google Shape;215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5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19" name="Google Shape;219;p25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3" name="Google Shape;223;p25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5" name="Google Shape;225;p25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5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8" name="Google Shape;228;p25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9" name="Google Shape;229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6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34" name="Google Shape;234;p26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6" name="Google Shape;236;p26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7" name="Google Shape;237;p26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40" name="Google Shape;240;p26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3" name="Google Shape;243;p26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4" name="Google Shape;254;p26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5" name="Google Shape;255;p26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6" name="Google Shape;256;p26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57" name="Google Shape;257;p26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0" name="Google Shape;260;p27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1" name="Google Shape;261;p27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2" name="Google Shape;262;p27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63" name="Google Shape;263;p2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69" name="Google Shape;269;p2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27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8" name="Google Shape;288;p27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9" name="Google Shape;289;p27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27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3" name="Google Shape;293;p27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2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9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02" name="Google Shape;302;p29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3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7" name="Google Shape;307;p30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8" name="Google Shape;308;p30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09" name="Google Shape;309;p30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0" name="Google Shape;310;p30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30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13" name="Google Shape;313;p30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8" name="Google Shape;318;p31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319" name="Google Shape;319;p31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0" name="Google Shape;320;p31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1" name="Google Shape;321;p31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2" name="Google Shape;322;p31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5" name="Google Shape;325;p31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26" name="Google Shape;326;p31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27" name="Google Shape;327;p31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3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32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3" name="Google Shape;333;p32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3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38" name="Google Shape;338;p33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339" name="Google Shape;339;p33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3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4" name="Google Shape;344;p3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45" name="Google Shape;345;p3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6" name="Google Shape;346;p3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7" name="Google Shape;347;p3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3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49" name="Google Shape;349;p3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50" name="Google Shape;350;p3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1" name="Google Shape;351;p3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54" name="Google Shape;354;p3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55" name="Google Shape;355;p35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58" name="Google Shape;358;p35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59" name="Google Shape;359;p35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60" name="Google Shape;360;p35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1" name="Google Shape;361;p3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64" name="Google Shape;364;p3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65" name="Google Shape;365;p36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6" name="Google Shape;366;p36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7" name="Google Shape;367;p36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8" name="Google Shape;368;p36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69" name="Google Shape;369;p36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70" name="Google Shape;370;p36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1" name="Google Shape;371;p3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4" name="Google Shape;374;p37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75" name="Google Shape;375;p37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6" name="Google Shape;376;p37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7" name="Google Shape;377;p37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8" name="Google Shape;378;p3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1" name="Google Shape;381;p3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2" name="Google Shape;382;p38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3" name="Google Shape;383;p38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4" name="Google Shape;384;p38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6" name="Google Shape;386;p38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7" name="Google Shape;387;p38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88" name="Google Shape;388;p38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0" name="Google Shape;390;p38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93" name="Google Shape;393;p39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94" name="Google Shape;394;p39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6" name="Google Shape;406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7" name="Google Shape;417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2" name="Google Shape;422;p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5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5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5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5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5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5" name="Google Shape;43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8" name="Google Shape;438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6" name="Google Shape;446;p5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7" name="Google Shape;447;p5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5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5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2" name="Google Shape;452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3" name="Google Shape;453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7" name="Google Shape;457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8" name="Google Shape;46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0" name="Google Shape;470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0" name="Google Shape;480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48" Type="http://schemas.openxmlformats.org/officeDocument/2006/relationships/theme" Target="../theme/theme3.xml"/><Relationship Id="rId25" Type="http://schemas.openxmlformats.org/officeDocument/2006/relationships/slideLayout" Target="../slideLayouts/slideLayout36.xml"/><Relationship Id="rId47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8.jpg"/><Relationship Id="rId9" Type="http://schemas.openxmlformats.org/officeDocument/2006/relationships/image" Target="../media/image3.jpg"/><Relationship Id="rId5" Type="http://schemas.openxmlformats.org/officeDocument/2006/relationships/image" Target="../media/image2.jpg"/><Relationship Id="rId6" Type="http://schemas.openxmlformats.org/officeDocument/2006/relationships/image" Target="../media/image1.jpg"/><Relationship Id="rId7" Type="http://schemas.openxmlformats.org/officeDocument/2006/relationships/image" Target="../media/image7.jpg"/><Relationship Id="rId8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Understanding Parent &amp; Family Engagement …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From the Parent’s Point of View</a:t>
            </a:r>
            <a:endParaRPr sz="5000"/>
          </a:p>
        </p:txBody>
      </p:sp>
      <p:sp>
        <p:nvSpPr>
          <p:cNvPr descr="A light blue rectangle." id="500" name="Google Shape;500;p61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501" name="Google Shape;501;p61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502" name="Google Shape;502;p61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ortrait of a woman posing over pink background. " id="503" name="Google Shape;503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468" l="0" r="0" t="19554"/>
          <a:stretch/>
        </p:blipFill>
        <p:spPr>
          <a:xfrm>
            <a:off x="228575" y="3005550"/>
            <a:ext cx="16362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Delivery man holding pizza boxes." id="504" name="Google Shape;504;p61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494" l="32980" r="5533" t="45150"/>
          <a:stretch/>
        </p:blipFill>
        <p:spPr>
          <a:xfrm>
            <a:off x="1149025" y="3909225"/>
            <a:ext cx="15435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Male hand using mobile smart phone at desk workspace." id="505" name="Google Shape;505;p61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6922" l="0" r="4388" t="3618"/>
          <a:stretch/>
        </p:blipFill>
        <p:spPr>
          <a:xfrm>
            <a:off x="3525075" y="3005550"/>
            <a:ext cx="15999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Studio portrait of man laughing." id="506" name="Google Shape;506;p61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119" r="119" t="0"/>
          <a:stretch/>
        </p:blipFill>
        <p:spPr>
          <a:xfrm>
            <a:off x="5271025" y="3005450"/>
            <a:ext cx="1118400" cy="1682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woman wearing headphones looking at her phone." id="507" name="Google Shape;507;p61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10383" r="45088" t="0"/>
          <a:stretch/>
        </p:blipFill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508" name="Google Shape;508;p61"/>
          <p:cNvPicPr preferRelativeResize="0"/>
          <p:nvPr>
            <p:ph idx="7" type="pic"/>
          </p:nvPr>
        </p:nvPicPr>
        <p:blipFill rotWithShape="1">
          <a:blip r:embed="rId8">
            <a:alphaModFix/>
          </a:blip>
          <a:srcRect b="16910" l="0" r="0" t="16903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brown-purple texture, as of a tree trunk. " id="509" name="Google Shape;509;p61"/>
          <p:cNvPicPr preferRelativeResize="0"/>
          <p:nvPr>
            <p:ph idx="8" type="pic"/>
          </p:nvPr>
        </p:nvPicPr>
        <p:blipFill rotWithShape="1">
          <a:blip r:embed="rId9">
            <a:alphaModFix/>
          </a:blip>
          <a:srcRect b="7511" l="0" r="0" t="7519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rugged red texture, as of a rock face. " id="510" name="Google Shape;510;p61"/>
          <p:cNvPicPr preferRelativeResize="0"/>
          <p:nvPr>
            <p:ph idx="9" type="pic"/>
          </p:nvPr>
        </p:nvPicPr>
        <p:blipFill rotWithShape="1">
          <a:blip r:embed="rId8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2"/>
          <p:cNvSpPr txBox="1"/>
          <p:nvPr>
            <p:ph type="title"/>
          </p:nvPr>
        </p:nvSpPr>
        <p:spPr>
          <a:xfrm>
            <a:off x="228600" y="457200"/>
            <a:ext cx="8686800" cy="3701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Parents from a local district came together to review &amp; respond to questions to give educators a better insight into the parent lens of family engagement.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focus of the questions was to learn how parents view themselves as partners in their child’s education &amp; what schools can do to be more effective &amp; engaging for families.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in &amp; let’s talk about these truths.</a:t>
            </a:r>
            <a:endParaRPr sz="6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/>
          <p:nvPr>
            <p:ph type="title"/>
          </p:nvPr>
        </p:nvSpPr>
        <p:spPr>
          <a:xfrm>
            <a:off x="228600" y="457200"/>
            <a:ext cx="8686800" cy="4365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Participants should should grab a copy of the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 Sheet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provided by the presenter in today’s session.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presenter will give a little background leading up to the parent panel session recording. Questions were created based on the school’s need for information. Each parent responded to the same set of questions.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presenter will use the recorded session to prompt listening, learning, &amp; actionable steps for 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participants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you listen to the parents, principal, &amp; facilitator, please list things that you learn from parents, things that parents need from schools, &amp; actionable steps you can take back with you to try with your own parents/guardians.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4"/>
          <p:cNvSpPr txBox="1"/>
          <p:nvPr>
            <p:ph type="title"/>
          </p:nvPr>
        </p:nvSpPr>
        <p:spPr>
          <a:xfrm>
            <a:off x="228600" y="457200"/>
            <a:ext cx="8686800" cy="24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How do you learn about parent &amp; family engagement activities at your child’s school?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What is your preferred way of learning about these events?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recording.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responses on the Response Form.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at your table.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5"/>
          <p:cNvSpPr txBox="1"/>
          <p:nvPr>
            <p:ph type="title"/>
          </p:nvPr>
        </p:nvSpPr>
        <p:spPr>
          <a:xfrm>
            <a:off x="228600" y="457200"/>
            <a:ext cx="8686800" cy="24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What kind of opportunities does your school offer for parent &amp; family engagement?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What kind would you like them to offer?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recording.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responses on the Response Form.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at your table.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6"/>
          <p:cNvSpPr txBox="1"/>
          <p:nvPr>
            <p:ph type="title"/>
          </p:nvPr>
        </p:nvSpPr>
        <p:spPr>
          <a:xfrm>
            <a:off x="228600" y="457200"/>
            <a:ext cx="8686800" cy="24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motivates you to participate in parent &amp; family engagement activities at your child’s school? </a:t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may prohibit you from participating in parent events at your child’s school?</a:t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recording.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responses on the Response Form.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at your table.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7"/>
          <p:cNvSpPr txBox="1"/>
          <p:nvPr>
            <p:ph type="title"/>
          </p:nvPr>
        </p:nvSpPr>
        <p:spPr>
          <a:xfrm>
            <a:off x="228600" y="457200"/>
            <a:ext cx="8686800" cy="24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How can schools entice parents to </a:t>
            </a: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participate</a:t>
            </a: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on school teams such as school improvement</a:t>
            </a: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Why would you say no to an invitation to be on a school team?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recording.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responses on the Response Form.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at your table.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"/>
          <p:cNvSpPr txBox="1"/>
          <p:nvPr>
            <p:ph type="title"/>
          </p:nvPr>
        </p:nvSpPr>
        <p:spPr>
          <a:xfrm>
            <a:off x="228600" y="457200"/>
            <a:ext cx="8686800" cy="24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How does your child’s school equip you to help support your child’s learning at home? </a:t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else could your child’s school do to make it easier for you to help your child at home?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 to recording.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responses on the Response Form.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at your table.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9"/>
          <p:cNvSpPr txBox="1"/>
          <p:nvPr>
            <p:ph type="title"/>
          </p:nvPr>
        </p:nvSpPr>
        <p:spPr>
          <a:xfrm>
            <a:off x="228600" y="457200"/>
            <a:ext cx="8686800" cy="2413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one thing will you do to make your parent &amp; family engagement more effective &amp; engaging in your school?</a:t>
            </a:r>
            <a:endParaRPr sz="3000"/>
          </a:p>
        </p:txBody>
      </p:sp>
      <p:sp>
        <p:nvSpPr>
          <p:cNvPr id="551" name="Google Shape;551;p69"/>
          <p:cNvSpPr txBox="1"/>
          <p:nvPr/>
        </p:nvSpPr>
        <p:spPr>
          <a:xfrm>
            <a:off x="2691300" y="4114325"/>
            <a:ext cx="38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9"/>
          <p:cNvSpPr txBox="1"/>
          <p:nvPr/>
        </p:nvSpPr>
        <p:spPr>
          <a:xfrm>
            <a:off x="45675" y="3175325"/>
            <a:ext cx="8734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/>
              <a:t>Listen to recording.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/>
              <a:t>List responses on the Response Form.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" sz="2500"/>
              <a:t>Discuss at your table.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